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nton" charset="1" panose="00000500000000000000"/>
      <p:regular r:id="rId21"/>
    </p:embeddedFont>
    <p:embeddedFont>
      <p:font typeface="Glacial Indifference" charset="1" panose="00000000000000000000"/>
      <p:regular r:id="rId22"/>
    </p:embeddedFont>
    <p:embeddedFont>
      <p:font typeface="Glacial Indifference Bold"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2 panduan. Jelaskan bahwa replika meniru fungsi backend dan Firebase Realtime Database, bukan salinan identik infrastruktur cloud. OS backend asli dikelola Google; Ubuntu adalah pilihan lab. Flutter diganti web sederhana dan HTTPS asli belum direplikasi (lab masih HTTP). Simulator Python menghasilkan data dummy setiap sekitar 5 detik. Namespace demo-melon-lab, cabang /lab_dummy/sensor. Tidak ada pengujian sistem mitra. Sumber: tech_stack_declaration.md dan ../design/ip_plan.md.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3 panduan. Topologi digambar ulang agar sesuai IP plan terbaru; topology.png lama memakai label Kali, sedangkan implementasi attacker adalah CyberOps. Panah dari CyberOps menunjukkan koneksi ke Target. Security Onion adalah pemantau pasif pada segmen yang sama, bukan inline. eth0 tanpa IPv4 dan promiscuous Allow All; eth1 IP manajemen .200. UFW mengizinkan port 22/80 dari .100 dan .1. Emulator 9000 hanya loopback. NAT hanya untuk pemasangan paket, lalu nonaktifkan sebelum pengujian. Verifikasi visibilitas dengan ping/curl sebelum menilai deteksi. Sumber: ../design/ip_plan.md. Diagram lama tetap dipertahankan di repository.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4, slide pertama. Minimum panduan: 8 kontrol dan minimal 2 pada setiap kategori A/B/C. Checklist saat ini: 8 Done, 0 Partial, 9 Not Yet (17 total). Semua delapan kontrol awal selesai sesuai lingkup verifikasi, bukan berarti seluruh bukti atau keamanan produksi lengkap. A1 before adalah demonstrasi terkontrol dengan root sempat diaktifkan, bukan kondisi default Ubuntu. A2 maxretry=5, findtime=600, bantime=120, backend systemd; password akun biasa masih aktif. Nama folder A2 lama menyebut key-based tetapi buktinya Fail2ban. C1 akses dummy belum berautentikasi dan pemeriksaan dibuktikan untuk payload valid serta humidity 150. C2 backup manual pada VM sama, belum off-VM; perintah/log impor belum terlampir. C3 membatasi baca pemilik vs nobody, bukan enkripsi. Prioritas berikutnya sinkronisasi jam dan pemeriksaan ulang port 9000 yang masih open di salah satu bukti baseline. Semua screenshot terhubung pada ../blueteam/hardening_checklist.md; klik tautan sumber slide untuk membukanya.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4, slide kedua. Baseline diambil dari screenshot terdokumentasi, bukan capture kontinu. B01 so-status menunjukkan komponen yang ditampilkan OK. B02 GET sensor HTTP 200, JSON, header nginx tanpa versi. B03/B04 event ping dari .100 ke .5 dan event curl ke port 80. B05 ping balasan. B06 tcpdump GET /api/sensor dan /api/history serta HTTP/1.1 200 OK. B07 self-ping Target tidak membuktikan komunikasi antar-VM. Jangan mengklaim seluruh trafik terdeteksi atau alert serangan nyata. Dashboard dirancang polling sekitar 5 detik namun bukti tidak cukup untuk statistik interval/volume/durasi. Salah satu bukti baseline masih memperlihatkan port 9000 open, berbeda dari hardening terbaru; tampilkan sebagai kebutuhan verifikasi ulang, jangan samakan dengan hasil setelah hardening. Cropping gambar hanya membuang area desktop untuk keterbacaan, isi bukti tidak diubah. Sumber dan bukti utuh: ../blueteam/baseline_traffic.md.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 5: tampilkan VM, jangan hanya membacakan slide. Runbook live (belum dijalankan oleh penyusun slide):</a:t>
            </a:r>
          </a:p>
          <a:p>
            <a:r>
              <a:t>1. Pastikan VM CyberOps .100, Ubuntu .5, Security Onion manajemen .200 hidup pada Host-Only. NAT nonaktif, sensor eth0 promiscuous Allow All. Bandingkan waktu ketiga VM; zona waktu sama tidak berarti jam tersinkron.</a:t>
            </a:r>
          </a:p>
          <a:p>
            <a:r>
              <a:t>2. Ubuntu: verifikasi listener memakai sudo ss -lntp 'sport = :9000' (harus loopback). Jika perlu dari CyberOps verifikasi terbatas nmap -sT -p 22,80,9000 192.168.10.5 sebelum demo, bukan serangan ke produksi. Bukti baseline lama masih menunjukkan 9000 open.</a:t>
            </a:r>
          </a:p>
          <a:p>
            <a:r>
              <a:t>3. Security Onion: jalankan sudo so-status, tunjukkan status layanan; buka Sguil &gt; RealTime Events, sensor yang sesuai.</a:t>
            </a:r>
          </a:p>
          <a:p>
            <a:r>
              <a:t>4. CyberOps: ping -c 4 192.168.10.5 lalu curl -i http://192.168.10.5/api/sensor. Hasil yang diharapkan: ping reply dan HTTP 200 dengan JSON dummy.</a:t>
            </a:r>
          </a:p>
          <a:p>
            <a:r>
              <a:t>5. Security Onion: cari waktu sekarang, sumber .100, tujuan .5. Event ICMP/policy curl hanya muncul jika rule aktif; screenshot historis tidak menjamin rule saat demo.</a:t>
            </a:r>
          </a:p>
          <a:p>
            <a:r>
              <a:t>6. Bila event tak muncul, periksa capture dengan sudo tcpdump -ni eth0 -c 20 'host 192.168.10.100 and host 192.168.10.5 and (icmp or tcp port 80)' sambil ulangi ping/curl. Gunakan nama antarmuka sensor aktual jika berbeda. Bedakan paket terlihat dari event IDS terbentuk. Catat jika event tidak muncul.</a:t>
            </a:r>
          </a:p>
          <a:p>
            <a:r>
              <a:t>7. Simpan screenshot status, terminal client, dan event/capture untuk hasil aktual. Bila VM/demo gagal, gunakan screenshot B01/B03/B06 sebagai bukti pendukung historis dengan menyatakan itu bukan live. Presentasi ini tidak melakukan koneksi atau perubahan VM.</a:t>
            </a:r>
          </a:p>
          <a:p>
            <a:r>
              <a:t>Sumber: ../blueteam/baseline_traffic.md dan ../design/ip_plan.md.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png"/><Relationship Id="rId5" Type="http://schemas.openxmlformats.org/officeDocument/2006/relationships/image" Target="../media/image4.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5.png"/><Relationship Id="rId5" Type="http://schemas.openxmlformats.org/officeDocument/2006/relationships/image" Target="../media/image6.svg"/><Relationship Id="rId6" Type="http://schemas.openxmlformats.org/officeDocument/2006/relationships/image" Target="../media/image7.png"/><Relationship Id="rId7" Type="http://schemas.openxmlformats.org/officeDocument/2006/relationships/image" Target="../media/image8.svg"/><Relationship Id="rId8" Type="http://schemas.openxmlformats.org/officeDocument/2006/relationships/hyperlink" Target="tech_stack_declaration.md" TargetMode="External"/><Relationship Id="rId9"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9.png"/><Relationship Id="rId5" Type="http://schemas.openxmlformats.org/officeDocument/2006/relationships/image" Target="../media/image10.sv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hyperlink" Target="../design/ip_plan.md" TargetMode="External"/><Relationship Id="rId9"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3.png"/><Relationship Id="rId5" Type="http://schemas.openxmlformats.org/officeDocument/2006/relationships/image" Target="../media/image14.svg"/><Relationship Id="rId6" Type="http://schemas.openxmlformats.org/officeDocument/2006/relationships/image" Target="../media/image15.png"/><Relationship Id="rId7" Type="http://schemas.openxmlformats.org/officeDocument/2006/relationships/image" Target="../media/image16.svg"/><Relationship Id="rId8" Type="http://schemas.openxmlformats.org/officeDocument/2006/relationships/image" Target="../media/image17.png"/><Relationship Id="rId9" Type="http://schemas.openxmlformats.org/officeDocument/2006/relationships/image" Target="../media/image18.svg"/><Relationship Id="rId10" Type="http://schemas.openxmlformats.org/officeDocument/2006/relationships/image" Target="../media/image19.png"/><Relationship Id="rId11" Type="http://schemas.openxmlformats.org/officeDocument/2006/relationships/image" Target="../media/image20.svg"/><Relationship Id="rId12" Type="http://schemas.openxmlformats.org/officeDocument/2006/relationships/hyperlink" Target="../blueteam/hardening_checklist.md" TargetMode="External"/><Relationship Id="rId1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image" Target="../media/image23.png"/><Relationship Id="rId7" Type="http://schemas.openxmlformats.org/officeDocument/2006/relationships/image" Target="../media/image24.svg"/><Relationship Id="rId8" Type="http://schemas.openxmlformats.org/officeDocument/2006/relationships/image" Target="../media/image25.png"/><Relationship Id="rId9" Type="http://schemas.openxmlformats.org/officeDocument/2006/relationships/image" Target="../media/image26.svg"/><Relationship Id="rId10" Type="http://schemas.openxmlformats.org/officeDocument/2006/relationships/image" Target="../media/image27.png"/><Relationship Id="rId11" Type="http://schemas.openxmlformats.org/officeDocument/2006/relationships/image" Target="../media/image28.svg"/><Relationship Id="rId12" Type="http://schemas.openxmlformats.org/officeDocument/2006/relationships/image" Target="../media/image29.png"/><Relationship Id="rId13" Type="http://schemas.openxmlformats.org/officeDocument/2006/relationships/image" Target="../media/image30.svg"/><Relationship Id="rId14" Type="http://schemas.openxmlformats.org/officeDocument/2006/relationships/image" Target="../media/image58.png"/><Relationship Id="rId15" Type="http://schemas.openxmlformats.org/officeDocument/2006/relationships/hyperlink" Target="../blueteam/evidence/baseline/baseline-03-sguil-realtime-ping-and-curl-events.png" TargetMode="External"/><Relationship Id="rId16" Type="http://schemas.openxmlformats.org/officeDocument/2006/relationships/image" Target="../media/image59.png"/><Relationship Id="rId17" Type="http://schemas.openxmlformats.org/officeDocument/2006/relationships/hyperlink" Target="../blueteam/evidence/baseline/baseline-06-tcpdump-http-sensor-history-200.png" TargetMode="External"/><Relationship Id="rId18" Type="http://schemas.openxmlformats.org/officeDocument/2006/relationships/hyperlink" Target="../blueteam/baseline_traffic.md" TargetMode="External"/><Relationship Id="rId19"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1.png"/><Relationship Id="rId5" Type="http://schemas.openxmlformats.org/officeDocument/2006/relationships/image" Target="../media/image22.svg"/><Relationship Id="rId6" Type="http://schemas.openxmlformats.org/officeDocument/2006/relationships/image" Target="../media/image58.png"/><Relationship Id="rId7" Type="http://schemas.openxmlformats.org/officeDocument/2006/relationships/hyperlink" Target="../blueteam/evidence/baseline/baseline-03-sguil-realtime-ping-and-curl-events.png" TargetMode="External"/><Relationship Id="rId8" Type="http://schemas.openxmlformats.org/officeDocument/2006/relationships/hyperlink" Target="../blueteam/baseline_traffic.md" TargetMode="External"/><Relationship Id="rId9"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3.png"/><Relationship Id="rId5" Type="http://schemas.openxmlformats.org/officeDocument/2006/relationships/image" Target="../media/image24.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25.png"/><Relationship Id="rId5" Type="http://schemas.openxmlformats.org/officeDocument/2006/relationships/image" Target="../media/image26.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image" Target="../media/image35.png"/><Relationship Id="rId9" Type="http://schemas.openxmlformats.org/officeDocument/2006/relationships/image" Target="../media/image36.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7.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8.png"/><Relationship Id="rId5" Type="http://schemas.openxmlformats.org/officeDocument/2006/relationships/image" Target="../media/image39.svg"/><Relationship Id="rId6" Type="http://schemas.openxmlformats.org/officeDocument/2006/relationships/image" Target="../media/image11.png"/><Relationship Id="rId7" Type="http://schemas.openxmlformats.org/officeDocument/2006/relationships/image" Target="../media/image12.svg"/><Relationship Id="rId8" Type="http://schemas.openxmlformats.org/officeDocument/2006/relationships/image" Target="../media/image40.png"/><Relationship Id="rId9" Type="http://schemas.openxmlformats.org/officeDocument/2006/relationships/image" Target="../media/image41.sv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2.png"/><Relationship Id="rId5" Type="http://schemas.openxmlformats.org/officeDocument/2006/relationships/image" Target="../media/image43.svg"/><Relationship Id="rId6" Type="http://schemas.openxmlformats.org/officeDocument/2006/relationships/image" Target="../media/image44.png"/><Relationship Id="rId7" Type="http://schemas.openxmlformats.org/officeDocument/2006/relationships/image" Target="../media/image45.svg"/><Relationship Id="rId8" Type="http://schemas.openxmlformats.org/officeDocument/2006/relationships/image" Target="../media/image46.png"/><Relationship Id="rId9" Type="http://schemas.openxmlformats.org/officeDocument/2006/relationships/image" Target="../media/image47.sv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8.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11.png"/><Relationship Id="rId5" Type="http://schemas.openxmlformats.org/officeDocument/2006/relationships/image" Target="../media/image12.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49.jpeg"/><Relationship Id="rId5" Type="http://schemas.openxmlformats.org/officeDocument/2006/relationships/image" Target="../media/image50.png"/><Relationship Id="rId6" Type="http://schemas.openxmlformats.org/officeDocument/2006/relationships/image" Target="../media/image51.svg"/><Relationship Id="rId7" Type="http://schemas.openxmlformats.org/officeDocument/2006/relationships/image" Target="../media/image52.png"/><Relationship Id="rId8" Type="http://schemas.openxmlformats.org/officeDocument/2006/relationships/image" Target="../media/image53.svg"/><Relationship Id="rId9" Type="http://schemas.openxmlformats.org/officeDocument/2006/relationships/image" Target="../media/image54.png"/><Relationship Id="rId10" Type="http://schemas.openxmlformats.org/officeDocument/2006/relationships/image" Target="../media/image55.svg"/><Relationship Id="rId11" Type="http://schemas.openxmlformats.org/officeDocument/2006/relationships/image" Target="../media/image56.png"/><Relationship Id="rId12" Type="http://schemas.openxmlformats.org/officeDocument/2006/relationships/image" Target="../media/image57.svg"/></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391973" y="2454606"/>
            <a:ext cx="4867327" cy="6089659"/>
          </a:xfrm>
          <a:custGeom>
            <a:avLst/>
            <a:gdLst/>
            <a:ahLst/>
            <a:cxnLst/>
            <a:rect r="r" b="b" t="t" l="l"/>
            <a:pathLst>
              <a:path h="6089659" w="4867327">
                <a:moveTo>
                  <a:pt x="0" y="0"/>
                </a:moveTo>
                <a:lnTo>
                  <a:pt x="4867327" y="0"/>
                </a:lnTo>
                <a:lnTo>
                  <a:pt x="4867327" y="6089659"/>
                </a:lnTo>
                <a:lnTo>
                  <a:pt x="0" y="608965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1772699"/>
            <a:ext cx="12208474" cy="2123427"/>
          </a:xfrm>
          <a:prstGeom prst="rect">
            <a:avLst/>
          </a:prstGeom>
        </p:spPr>
        <p:txBody>
          <a:bodyPr anchor="t" rtlCol="false" tIns="0" lIns="0" bIns="0" rIns="0">
            <a:spAutoFit/>
          </a:bodyPr>
          <a:lstStyle/>
          <a:p>
            <a:pPr algn="l">
              <a:lnSpc>
                <a:spcPts val="17360"/>
              </a:lnSpc>
              <a:spcBef>
                <a:spcPct val="0"/>
              </a:spcBef>
            </a:pPr>
            <a:r>
              <a:rPr lang="en-US" sz="12400">
                <a:solidFill>
                  <a:srgbClr val="2D5986"/>
                </a:solidFill>
                <a:latin typeface="Anton"/>
                <a:ea typeface="Anton"/>
                <a:cs typeface="Anton"/>
                <a:sym typeface="Anton"/>
              </a:rPr>
              <a:t>Kelompok 10 Cyber</a:t>
            </a:r>
          </a:p>
        </p:txBody>
      </p:sp>
      <p:sp>
        <p:nvSpPr>
          <p:cNvPr name="TextBox 5" id="5"/>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6" id="6"/>
          <p:cNvSpPr txBox="true"/>
          <p:nvPr/>
        </p:nvSpPr>
        <p:spPr>
          <a:xfrm rot="0">
            <a:off x="1028700" y="4264021"/>
            <a:ext cx="12208474" cy="490855"/>
          </a:xfrm>
          <a:prstGeom prst="rect">
            <a:avLst/>
          </a:prstGeom>
        </p:spPr>
        <p:txBody>
          <a:bodyPr anchor="t" rtlCol="false" tIns="0" lIns="0" bIns="0" rIns="0">
            <a:spAutoFit/>
          </a:bodyPr>
          <a:lstStyle/>
          <a:p>
            <a:pPr algn="l">
              <a:lnSpc>
                <a:spcPts val="3919"/>
              </a:lnSpc>
              <a:spcBef>
                <a:spcPct val="0"/>
              </a:spcBef>
            </a:pPr>
            <a:r>
              <a:rPr lang="en-US" sz="2799" spc="1119">
                <a:solidFill>
                  <a:srgbClr val="2D5986"/>
                </a:solidFill>
                <a:latin typeface="Glacial Indifference"/>
                <a:ea typeface="Glacial Indifference"/>
                <a:cs typeface="Glacial Indifference"/>
                <a:sym typeface="Glacial Indifference"/>
              </a:rPr>
              <a:t>Nama</a:t>
            </a:r>
          </a:p>
        </p:txBody>
      </p:sp>
      <p:sp>
        <p:nvSpPr>
          <p:cNvPr name="TextBox 7" id="7"/>
          <p:cNvSpPr txBox="true"/>
          <p:nvPr/>
        </p:nvSpPr>
        <p:spPr>
          <a:xfrm rot="0">
            <a:off x="1028700" y="6381611"/>
            <a:ext cx="10368870" cy="1481455"/>
          </a:xfrm>
          <a:prstGeom prst="rect">
            <a:avLst/>
          </a:prstGeom>
        </p:spPr>
        <p:txBody>
          <a:bodyPr anchor="t" rtlCol="false" tIns="0" lIns="0" bIns="0" rIns="0">
            <a:spAutoFit/>
          </a:bodyPr>
          <a:lstStyle/>
          <a:p>
            <a:pPr algn="just">
              <a:lnSpc>
                <a:spcPts val="3919"/>
              </a:lnSpc>
            </a:pPr>
            <a:r>
              <a:rPr lang="en-US" sz="2799">
                <a:solidFill>
                  <a:srgbClr val="2D5986"/>
                </a:solidFill>
                <a:latin typeface="Glacial Indifference"/>
                <a:ea typeface="Glacial Indifference"/>
                <a:cs typeface="Glacial Indifference"/>
                <a:sym typeface="Glacial Indifference"/>
              </a:rPr>
              <a:t>Lorem Ipsum elit elit aliqua mollit eiusmod commodo do cillum eu occaecat do pariatur eiusmod proident consectetur nisi nostrud tempor elit ea sit non</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1737360" y="1033271"/>
            <a:ext cx="8229600" cy="457200"/>
          </a:xfrm>
          <a:prstGeom prst="rect">
            <a:avLst/>
          </a:prstGeom>
          <a:noFill/>
        </p:spPr>
        <p:txBody>
          <a:bodyPr wrap="square" lIns="0" rIns="0" tIns="0" bIns="0">
            <a:spAutoFit/>
          </a:bodyPr>
          <a:lstStyle/>
          <a:p>
            <a:pPr>
              <a:lnSpc>
                <a:spcPct val="112000"/>
              </a:lnSpc>
              <a:spcAft>
                <a:spcPts val="700"/>
              </a:spcAft>
              <a:defRPr sz="2300" b="1">
                <a:solidFill>
                  <a:srgbClr val="2D5986"/>
                </a:solidFill>
                <a:latin typeface="Aptos"/>
              </a:defRPr>
            </a:pPr>
            <a:r>
              <a:t>KELOMPOK 10  /  TEK1314 · KEAMANAN SIBER</a:t>
            </a:r>
          </a:p>
        </p:txBody>
      </p:sp>
      <p:sp>
        <p:nvSpPr>
          <p:cNvPr id="4" name="TextBox 3"/>
          <p:cNvSpPr txBox="1"/>
          <p:nvPr/>
        </p:nvSpPr>
        <p:spPr>
          <a:xfrm>
            <a:off x="13761720" y="1060704"/>
            <a:ext cx="3474720" cy="365760"/>
          </a:xfrm>
          <a:prstGeom prst="rect">
            <a:avLst/>
          </a:prstGeom>
          <a:noFill/>
        </p:spPr>
        <p:txBody>
          <a:bodyPr wrap="square" lIns="0" rIns="0" tIns="0" bIns="0">
            <a:spAutoFit/>
          </a:bodyPr>
          <a:lstStyle/>
          <a:p>
            <a:pPr algn="r">
              <a:lnSpc>
                <a:spcPct val="112000"/>
              </a:lnSpc>
              <a:spcAft>
                <a:spcPts val="700"/>
              </a:spcAft>
              <a:defRPr sz="2000" b="0">
                <a:solidFill>
                  <a:srgbClr val="2D5986"/>
                </a:solidFill>
                <a:latin typeface="Aptos"/>
              </a:defRPr>
            </a:pPr>
            <a:r>
              <a:t>MINGGU 09  ·  POIN 2</a:t>
            </a:r>
          </a:p>
        </p:txBody>
      </p:sp>
      <p:sp>
        <p:nvSpPr>
          <p:cNvPr id="5" name="TextBox 4"/>
          <p:cNvSpPr txBox="1"/>
          <p:nvPr/>
        </p:nvSpPr>
        <p:spPr>
          <a:xfrm>
            <a:off x="1024128" y="1828800"/>
            <a:ext cx="16230600" cy="914400"/>
          </a:xfrm>
          <a:prstGeom prst="rect">
            <a:avLst/>
          </a:prstGeom>
          <a:noFill/>
        </p:spPr>
        <p:txBody>
          <a:bodyPr wrap="square" lIns="0" rIns="0" tIns="0" bIns="0">
            <a:spAutoFit/>
          </a:bodyPr>
          <a:lstStyle/>
          <a:p>
            <a:pPr>
              <a:lnSpc>
                <a:spcPct val="112000"/>
              </a:lnSpc>
              <a:spcAft>
                <a:spcPts val="700"/>
              </a:spcAft>
              <a:defRPr sz="5500" b="0">
                <a:solidFill>
                  <a:srgbClr val="2D5986"/>
                </a:solidFill>
                <a:latin typeface="Anton"/>
              </a:defRPr>
            </a:pPr>
            <a:r>
              <a:t>Deklarasi Tech Stack &amp; Replikasi</a:t>
            </a:r>
          </a:p>
        </p:txBody>
      </p:sp>
      <p:sp>
        <p:nvSpPr>
          <p:cNvPr id="6" name="TextBox 5"/>
          <p:cNvSpPr txBox="1"/>
          <p:nvPr/>
        </p:nvSpPr>
        <p:spPr>
          <a:xfrm>
            <a:off x="1024128" y="2761488"/>
            <a:ext cx="16230600" cy="502920"/>
          </a:xfrm>
          <a:prstGeom prst="rect">
            <a:avLst/>
          </a:prstGeom>
          <a:noFill/>
        </p:spPr>
        <p:txBody>
          <a:bodyPr wrap="square" lIns="0" rIns="0" tIns="0" bIns="0">
            <a:spAutoFit/>
          </a:bodyPr>
          <a:lstStyle/>
          <a:p>
            <a:pPr>
              <a:lnSpc>
                <a:spcPct val="112000"/>
              </a:lnSpc>
              <a:spcAft>
                <a:spcPts val="700"/>
              </a:spcAft>
              <a:defRPr sz="2400" b="0">
                <a:solidFill>
                  <a:srgbClr val="536B80"/>
                </a:solidFill>
                <a:latin typeface="Aptos"/>
              </a:defRPr>
            </a:pPr>
            <a:r>
              <a:t>Backend autodosing nutrisi AB Mix melon — teknologi asli dipetakan ke replika lab.</a:t>
            </a:r>
          </a:p>
        </p:txBody>
      </p:sp>
      <p:sp>
        <p:nvSpPr>
          <p:cNvPr id="7" name="Rectangle 6"/>
          <p:cNvSpPr/>
          <p:nvPr/>
        </p:nvSpPr>
        <p:spPr>
          <a:xfrm>
            <a:off x="1024128" y="9637776"/>
            <a:ext cx="16230600" cy="16459"/>
          </a:xfrm>
          <a:prstGeom prst="rect">
            <a:avLst/>
          </a:prstGeom>
          <a:solidFill>
            <a:srgbClr val="CB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550640" y="9774936"/>
            <a:ext cx="685800" cy="274320"/>
          </a:xfrm>
          <a:prstGeom prst="rect">
            <a:avLst/>
          </a:prstGeom>
          <a:noFill/>
        </p:spPr>
        <p:txBody>
          <a:bodyPr wrap="square" lIns="0" rIns="0" tIns="0" bIns="0">
            <a:spAutoFit/>
          </a:bodyPr>
          <a:lstStyle/>
          <a:p>
            <a:pPr algn="r">
              <a:lnSpc>
                <a:spcPct val="112000"/>
              </a:lnSpc>
              <a:spcAft>
                <a:spcPts val="700"/>
              </a:spcAft>
              <a:defRPr sz="1700" b="0">
                <a:solidFill>
                  <a:srgbClr val="536B80"/>
                </a:solidFill>
                <a:latin typeface="Aptos"/>
              </a:defRPr>
            </a:pPr>
            <a:r>
              <a:t>02</a:t>
            </a:r>
          </a:p>
        </p:txBody>
      </p:sp>
      <p:graphicFrame>
        <p:nvGraphicFramePr>
          <p:cNvPr id="9" name="Table 8"/>
          <p:cNvGraphicFramePr>
            <a:graphicFrameLocks noGrp="1"/>
          </p:cNvGraphicFramePr>
          <p:nvPr/>
        </p:nvGraphicFramePr>
        <p:xfrm>
          <a:off x="1024128" y="3611880"/>
          <a:ext cx="16230600" cy="4507992"/>
        </p:xfrm>
        <a:graphic>
          <a:graphicData uri="http://schemas.openxmlformats.org/drawingml/2006/table">
            <a:tbl>
              <a:tblPr firstRow="1" bandRow="1">
                <a:tableStyleId>{5C22544A-7EE6-4342-B048-85BDC9FD1C3A}</a:tableStyleId>
              </a:tblPr>
              <a:tblGrid>
                <a:gridCol w="3154680"/>
                <a:gridCol w="6309360"/>
                <a:gridCol w="6766560"/>
              </a:tblGrid>
              <a:tr h="594360">
                <a:tc>
                  <a:txBody>
                    <a:bodyPr/>
                    <a:lstStyle/>
                    <a:p>
                      <a:pPr>
                        <a:spcAft>
                          <a:spcPts val="0"/>
                        </a:spcAft>
                        <a:defRPr sz="2500" b="1">
                          <a:solidFill>
                            <a:srgbClr val="FFFFFF"/>
                          </a:solidFill>
                          <a:latin typeface="Aptos"/>
                        </a:defRPr>
                      </a:pPr>
                      <a:r>
                        <a:t>Komponen</a:t>
                      </a:r>
                    </a:p>
                  </a:txBody>
                  <a:tcPr marL="155448" marR="155448" marT="82296" marB="82296" anchor="ctr">
                    <a:solidFill>
                      <a:srgbClr val="2D5986"/>
                    </a:solidFill>
                  </a:tcPr>
                </a:tc>
                <a:tc>
                  <a:txBody>
                    <a:bodyPr/>
                    <a:lstStyle/>
                    <a:p>
                      <a:pPr>
                        <a:spcAft>
                          <a:spcPts val="0"/>
                        </a:spcAft>
                        <a:defRPr sz="2500" b="1">
                          <a:solidFill>
                            <a:srgbClr val="FFFFFF"/>
                          </a:solidFill>
                          <a:latin typeface="Aptos"/>
                        </a:defRPr>
                      </a:pPr>
                      <a:r>
                        <a:t>Proyek IoT asli</a:t>
                      </a:r>
                    </a:p>
                  </a:txBody>
                  <a:tcPr marL="155448" marR="155448" marT="82296" marB="82296" anchor="ctr">
                    <a:solidFill>
                      <a:srgbClr val="2D5986"/>
                    </a:solidFill>
                  </a:tcPr>
                </a:tc>
                <a:tc>
                  <a:txBody>
                    <a:bodyPr/>
                    <a:lstStyle/>
                    <a:p>
                      <a:pPr>
                        <a:spcAft>
                          <a:spcPts val="0"/>
                        </a:spcAft>
                        <a:defRPr sz="2500" b="1">
                          <a:solidFill>
                            <a:srgbClr val="FFFFFF"/>
                          </a:solidFill>
                          <a:latin typeface="Aptos"/>
                        </a:defRPr>
                      </a:pPr>
                      <a:r>
                        <a:t>Target Node replika</a:t>
                      </a:r>
                    </a:p>
                  </a:txBody>
                  <a:tcPr marL="155448" marR="155448" marT="82296" marB="82296" anchor="ctr">
                    <a:solidFill>
                      <a:srgbClr val="2D5986"/>
                    </a:solidFill>
                  </a:tcPr>
                </a:tc>
              </a:tr>
              <a:tr h="1005840">
                <a:tc>
                  <a:txBody>
                    <a:bodyPr/>
                    <a:lstStyle/>
                    <a:p>
                      <a:pPr>
                        <a:spcAft>
                          <a:spcPts val="0"/>
                        </a:spcAft>
                        <a:defRPr sz="2500" b="1">
                          <a:solidFill>
                            <a:srgbClr val="183A5A"/>
                          </a:solidFill>
                          <a:latin typeface="Aptos"/>
                        </a:defRPr>
                      </a:pPr>
                      <a:r>
                        <a:t>Sistem operasi</a:t>
                      </a:r>
                    </a:p>
                  </a:txBody>
                  <a:tcPr marL="155448" marR="155448" marT="82296" marB="82296" anchor="ctr">
                    <a:solidFill>
                      <a:srgbClr val="FFFFFF"/>
                    </a:solidFill>
                  </a:tcPr>
                </a:tc>
                <a:tc>
                  <a:txBody>
                    <a:bodyPr/>
                    <a:lstStyle/>
                    <a:p>
                      <a:pPr>
                        <a:spcAft>
                          <a:spcPts val="0"/>
                        </a:spcAft>
                        <a:defRPr sz="2500" b="0">
                          <a:solidFill>
                            <a:srgbClr val="183A5A"/>
                          </a:solidFill>
                          <a:latin typeface="Aptos"/>
                        </a:defRPr>
                      </a:pPr>
                      <a:r>
                        <a:t>Firebase cloud terkelola Google;</a:t>
                      </a:r>
                    </a:p>
                    <a:p>
                      <a:pPr>
                        <a:spcAft>
                          <a:spcPts val="0"/>
                        </a:spcAft>
                        <a:defRPr sz="2500" b="0">
                          <a:solidFill>
                            <a:srgbClr val="183A5A"/>
                          </a:solidFill>
                          <a:latin typeface="Aptos"/>
                        </a:defRPr>
                      </a:pPr>
                      <a:r>
                        <a:t>OS tidak dikelola kelompok</a:t>
                      </a:r>
                    </a:p>
                  </a:txBody>
                  <a:tcPr marL="155448" marR="155448" marT="82296" marB="82296" anchor="ctr">
                    <a:solidFill>
                      <a:srgbClr val="FFFFFF"/>
                    </a:solidFill>
                  </a:tcPr>
                </a:tc>
                <a:tc>
                  <a:txBody>
                    <a:bodyPr/>
                    <a:lstStyle/>
                    <a:p>
                      <a:pPr>
                        <a:spcAft>
                          <a:spcPts val="0"/>
                        </a:spcAft>
                        <a:defRPr sz="2500" b="0">
                          <a:solidFill>
                            <a:srgbClr val="183A5A"/>
                          </a:solidFill>
                          <a:latin typeface="Aptos"/>
                        </a:defRPr>
                      </a:pPr>
                      <a:r>
                        <a:t>Ubuntu Server</a:t>
                      </a:r>
                    </a:p>
                    <a:p>
                      <a:pPr>
                        <a:spcAft>
                          <a:spcPts val="0"/>
                        </a:spcAft>
                        <a:defRPr sz="2500" b="0">
                          <a:solidFill>
                            <a:srgbClr val="183A5A"/>
                          </a:solidFill>
                          <a:latin typeface="Aptos"/>
                        </a:defRPr>
                      </a:pPr>
                      <a:r>
                        <a:t>SRV-IOT-KEL10 · 192.168.10.5</a:t>
                      </a:r>
                    </a:p>
                  </a:txBody>
                  <a:tcPr marL="155448" marR="155448" marT="82296" marB="82296" anchor="ctr">
                    <a:solidFill>
                      <a:srgbClr val="FFFFFF"/>
                    </a:solidFill>
                  </a:tcPr>
                </a:tc>
              </a:tr>
              <a:tr h="868680">
                <a:tc>
                  <a:txBody>
                    <a:bodyPr/>
                    <a:lstStyle/>
                    <a:p>
                      <a:pPr>
                        <a:spcAft>
                          <a:spcPts val="0"/>
                        </a:spcAft>
                        <a:defRPr sz="2500" b="1">
                          <a:solidFill>
                            <a:srgbClr val="183A5A"/>
                          </a:solidFill>
                          <a:latin typeface="Aptos"/>
                        </a:defRPr>
                      </a:pPr>
                      <a:r>
                        <a:t>Penyimpanan data</a:t>
                      </a:r>
                    </a:p>
                  </a:txBody>
                  <a:tcPr marL="155448" marR="155448" marT="82296" marB="82296" anchor="ctr">
                    <a:solidFill>
                      <a:srgbClr val="E7EDF3"/>
                    </a:solidFill>
                  </a:tcPr>
                </a:tc>
                <a:tc>
                  <a:txBody>
                    <a:bodyPr/>
                    <a:lstStyle/>
                    <a:p>
                      <a:pPr>
                        <a:spcAft>
                          <a:spcPts val="0"/>
                        </a:spcAft>
                        <a:defRPr sz="2500" b="0">
                          <a:solidFill>
                            <a:srgbClr val="183A5A"/>
                          </a:solidFill>
                          <a:latin typeface="Aptos"/>
                        </a:defRPr>
                      </a:pPr>
                      <a:r>
                        <a:t>Firebase Realtime Database</a:t>
                      </a:r>
                    </a:p>
                  </a:txBody>
                  <a:tcPr marL="155448" marR="155448" marT="82296" marB="82296" anchor="ctr">
                    <a:solidFill>
                      <a:srgbClr val="E7EDF3"/>
                    </a:solidFill>
                  </a:tcPr>
                </a:tc>
                <a:tc>
                  <a:txBody>
                    <a:bodyPr/>
                    <a:lstStyle/>
                    <a:p>
                      <a:pPr>
                        <a:spcAft>
                          <a:spcPts val="0"/>
                        </a:spcAft>
                        <a:defRPr sz="2500" b="0">
                          <a:solidFill>
                            <a:srgbClr val="183A5A"/>
                          </a:solidFill>
                          <a:latin typeface="Aptos"/>
                        </a:defRPr>
                      </a:pPr>
                      <a:r>
                        <a:t>Firebase Realtime Database Emulator</a:t>
                      </a:r>
                    </a:p>
                    <a:p>
                      <a:pPr>
                        <a:spcAft>
                          <a:spcPts val="0"/>
                        </a:spcAft>
                        <a:defRPr sz="2500" b="0">
                          <a:solidFill>
                            <a:srgbClr val="183A5A"/>
                          </a:solidFill>
                          <a:latin typeface="Aptos"/>
                        </a:defRPr>
                      </a:pPr>
                      <a:r>
                        <a:t>127.0.0.1:9000</a:t>
                      </a:r>
                    </a:p>
                  </a:txBody>
                  <a:tcPr marL="155448" marR="155448" marT="82296" marB="82296" anchor="ctr">
                    <a:solidFill>
                      <a:srgbClr val="E7EDF3"/>
                    </a:solidFill>
                  </a:tcPr>
                </a:tc>
              </a:tr>
              <a:tr h="1051560">
                <a:tc>
                  <a:txBody>
                    <a:bodyPr/>
                    <a:lstStyle/>
                    <a:p>
                      <a:pPr>
                        <a:spcAft>
                          <a:spcPts val="0"/>
                        </a:spcAft>
                        <a:defRPr sz="2500" b="1">
                          <a:solidFill>
                            <a:srgbClr val="183A5A"/>
                          </a:solidFill>
                          <a:latin typeface="Aptos"/>
                        </a:defRPr>
                      </a:pPr>
                      <a:r>
                        <a:t>Komunikasi</a:t>
                      </a:r>
                    </a:p>
                  </a:txBody>
                  <a:tcPr marL="155448" marR="155448" marT="82296" marB="82296" anchor="ctr">
                    <a:solidFill>
                      <a:srgbClr val="FFFFFF"/>
                    </a:solidFill>
                  </a:tcPr>
                </a:tc>
                <a:tc>
                  <a:txBody>
                    <a:bodyPr/>
                    <a:lstStyle/>
                    <a:p>
                      <a:pPr>
                        <a:spcAft>
                          <a:spcPts val="0"/>
                        </a:spcAft>
                        <a:defRPr sz="2500" b="0">
                          <a:solidFill>
                            <a:srgbClr val="183A5A"/>
                          </a:solidFill>
                          <a:latin typeface="Aptos"/>
                        </a:defRPr>
                      </a:pPr>
                      <a:r>
                        <a:t>HTTPS REST API · JSON</a:t>
                      </a:r>
                    </a:p>
                  </a:txBody>
                  <a:tcPr marL="155448" marR="155448" marT="82296" marB="82296" anchor="ctr">
                    <a:solidFill>
                      <a:srgbClr val="FFFFFF"/>
                    </a:solidFill>
                  </a:tcPr>
                </a:tc>
                <a:tc>
                  <a:txBody>
                    <a:bodyPr/>
                    <a:lstStyle/>
                    <a:p>
                      <a:pPr>
                        <a:spcAft>
                          <a:spcPts val="0"/>
                        </a:spcAft>
                        <a:defRPr sz="2500" b="0">
                          <a:solidFill>
                            <a:srgbClr val="183A5A"/>
                          </a:solidFill>
                          <a:latin typeface="Aptos"/>
                        </a:defRPr>
                      </a:pPr>
                      <a:r>
                        <a:t>HTTP REST API · JSON (belum TLS)</a:t>
                      </a:r>
                    </a:p>
                    <a:p>
                      <a:pPr>
                        <a:spcAft>
                          <a:spcPts val="0"/>
                        </a:spcAft>
                        <a:defRPr sz="2500" b="0">
                          <a:solidFill>
                            <a:srgbClr val="183A5A"/>
                          </a:solidFill>
                          <a:latin typeface="Aptos"/>
                        </a:defRPr>
                      </a:pPr>
                      <a:r>
                        <a:t>Simulator Python → data dummy</a:t>
                      </a:r>
                    </a:p>
                  </a:txBody>
                  <a:tcPr marL="155448" marR="155448" marT="82296" marB="82296" anchor="ctr">
                    <a:solidFill>
                      <a:srgbClr val="FFFFFF"/>
                    </a:solidFill>
                  </a:tcPr>
                </a:tc>
              </a:tr>
              <a:tr h="987552">
                <a:tc>
                  <a:txBody>
                    <a:bodyPr/>
                    <a:lstStyle/>
                    <a:p>
                      <a:pPr>
                        <a:spcAft>
                          <a:spcPts val="0"/>
                        </a:spcAft>
                        <a:defRPr sz="2500" b="1">
                          <a:solidFill>
                            <a:srgbClr val="183A5A"/>
                          </a:solidFill>
                          <a:latin typeface="Aptos"/>
                        </a:defRPr>
                      </a:pPr>
                      <a:r>
                        <a:t>Dashboard</a:t>
                      </a:r>
                    </a:p>
                  </a:txBody>
                  <a:tcPr marL="155448" marR="155448" marT="82296" marB="82296" anchor="ctr">
                    <a:solidFill>
                      <a:srgbClr val="E7EDF3"/>
                    </a:solidFill>
                  </a:tcPr>
                </a:tc>
                <a:tc>
                  <a:txBody>
                    <a:bodyPr/>
                    <a:lstStyle/>
                    <a:p>
                      <a:pPr>
                        <a:spcAft>
                          <a:spcPts val="0"/>
                        </a:spcAft>
                        <a:defRPr sz="2500" b="0">
                          <a:solidFill>
                            <a:srgbClr val="183A5A"/>
                          </a:solidFill>
                          <a:latin typeface="Aptos"/>
                        </a:defRPr>
                      </a:pPr>
                      <a:r>
                        <a:t>Aplikasi mobile Flutter</a:t>
                      </a:r>
                    </a:p>
                    <a:p>
                      <a:pPr>
                        <a:spcAft>
                          <a:spcPts val="0"/>
                        </a:spcAft>
                        <a:defRPr sz="2500" b="0">
                          <a:solidFill>
                            <a:srgbClr val="183A5A"/>
                          </a:solidFill>
                          <a:latin typeface="Aptos"/>
                        </a:defRPr>
                      </a:pPr>
                      <a:r>
                        <a:t>terhubung ke Firebase</a:t>
                      </a:r>
                    </a:p>
                  </a:txBody>
                  <a:tcPr marL="155448" marR="155448" marT="82296" marB="82296" anchor="ctr">
                    <a:solidFill>
                      <a:srgbClr val="E7EDF3"/>
                    </a:solidFill>
                  </a:tcPr>
                </a:tc>
                <a:tc>
                  <a:txBody>
                    <a:bodyPr/>
                    <a:lstStyle/>
                    <a:p>
                      <a:pPr>
                        <a:spcAft>
                          <a:spcPts val="0"/>
                        </a:spcAft>
                        <a:defRPr sz="2500" b="0">
                          <a:solidFill>
                            <a:srgbClr val="183A5A"/>
                          </a:solidFill>
                          <a:latin typeface="Aptos"/>
                        </a:defRPr>
                      </a:pPr>
                      <a:r>
                        <a:t>Web HTML/JavaScript melalui Nginx</a:t>
                      </a:r>
                    </a:p>
                    <a:p>
                      <a:pPr>
                        <a:spcAft>
                          <a:spcPts val="0"/>
                        </a:spcAft>
                        <a:defRPr sz="2500" b="0">
                          <a:solidFill>
                            <a:srgbClr val="183A5A"/>
                          </a:solidFill>
                          <a:latin typeface="Aptos"/>
                        </a:defRPr>
                      </a:pPr>
                      <a:r>
                        <a:t>/dashboard.html dan /api/sensor</a:t>
                      </a:r>
                    </a:p>
                  </a:txBody>
                  <a:tcPr marL="155448" marR="155448" marT="82296" marB="82296" anchor="ctr">
                    <a:solidFill>
                      <a:srgbClr val="E7EDF3"/>
                    </a:solidFill>
                  </a:tcPr>
                </a:tc>
              </a:tr>
            </a:tbl>
          </a:graphicData>
        </a:graphic>
      </p:graphicFrame>
      <p:sp>
        <p:nvSpPr>
          <p:cNvPr id="10" name="Rounded Rectangle 9"/>
          <p:cNvSpPr/>
          <p:nvPr/>
        </p:nvSpPr>
        <p:spPr>
          <a:xfrm>
            <a:off x="1024128" y="8458200"/>
            <a:ext cx="16230600" cy="822960"/>
          </a:xfrm>
          <a:prstGeom prst="roundRect">
            <a:avLst>
              <a:gd name="adj" fmla="val 6000"/>
            </a:avLst>
          </a:prstGeom>
          <a:solidFill>
            <a:srgbClr val="E7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80160" y="8622792"/>
            <a:ext cx="15681959" cy="502920"/>
          </a:xfrm>
          <a:prstGeom prst="rect">
            <a:avLst/>
          </a:prstGeom>
          <a:noFill/>
        </p:spPr>
        <p:txBody>
          <a:bodyPr wrap="square" lIns="0" rIns="0" tIns="0" bIns="0">
            <a:spAutoFit/>
          </a:bodyPr>
          <a:lstStyle/>
          <a:p>
            <a:pPr>
              <a:lnSpc>
                <a:spcPct val="112000"/>
              </a:lnSpc>
              <a:spcAft>
                <a:spcPts val="700"/>
              </a:spcAft>
              <a:defRPr sz="2500" b="1">
                <a:solidFill>
                  <a:srgbClr val="2D5986"/>
                </a:solidFill>
                <a:latin typeface="Aptos"/>
              </a:defRPr>
            </a:pPr>
            <a:r>
              <a:t>BATAS SIMULASI  Data sintetis saja; tidak menguji Firebase produksi, sensor fisik, atau pompa.</a:t>
            </a:r>
          </a:p>
        </p:txBody>
      </p:sp>
      <p:sp>
        <p:nvSpPr>
          <p:cNvPr id="12" name="TextBox 11"/>
          <p:cNvSpPr txBox="1"/>
          <p:nvPr/>
        </p:nvSpPr>
        <p:spPr>
          <a:xfrm>
            <a:off x="1024128" y="9765792"/>
            <a:ext cx="15087600" cy="292608"/>
          </a:xfrm>
          <a:prstGeom prst="rect">
            <a:avLst/>
          </a:prstGeom>
          <a:noFill/>
        </p:spPr>
        <p:txBody>
          <a:bodyPr wrap="square" lIns="0" rIns="0" tIns="0" bIns="0">
            <a:spAutoFit/>
          </a:bodyPr>
          <a:lstStyle/>
          <a:p>
            <a:pPr>
              <a:lnSpc>
                <a:spcPct val="112000"/>
              </a:lnSpc>
              <a:spcAft>
                <a:spcPts val="700"/>
              </a:spcAft>
              <a:defRPr sz="1600" b="0">
                <a:solidFill>
                  <a:srgbClr val="536B80"/>
                </a:solidFill>
                <a:latin typeface="Aptos"/>
              </a:defRPr>
            </a:pPr>
            <a:r>
              <a:rPr>
                <a:hlinkClick r:id="rId8"/>
              </a:rPr>
              <a:t>SUMBER  tech_stack_declaration.md · Panduan PBL Minggu 9, Bagian III–IV</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1737360" y="1033271"/>
            <a:ext cx="8229600" cy="457200"/>
          </a:xfrm>
          <a:prstGeom prst="rect">
            <a:avLst/>
          </a:prstGeom>
          <a:noFill/>
        </p:spPr>
        <p:txBody>
          <a:bodyPr wrap="square" lIns="0" rIns="0" tIns="0" bIns="0">
            <a:spAutoFit/>
          </a:bodyPr>
          <a:lstStyle/>
          <a:p>
            <a:pPr>
              <a:lnSpc>
                <a:spcPct val="112000"/>
              </a:lnSpc>
              <a:spcAft>
                <a:spcPts val="700"/>
              </a:spcAft>
              <a:defRPr sz="2300" b="1">
                <a:solidFill>
                  <a:srgbClr val="2D5986"/>
                </a:solidFill>
                <a:latin typeface="Aptos"/>
              </a:defRPr>
            </a:pPr>
            <a:r>
              <a:t>KELOMPOK 10  /  TEK1314 · KEAMANAN SIBER</a:t>
            </a:r>
          </a:p>
        </p:txBody>
      </p:sp>
      <p:sp>
        <p:nvSpPr>
          <p:cNvPr id="4" name="TextBox 3"/>
          <p:cNvSpPr txBox="1"/>
          <p:nvPr/>
        </p:nvSpPr>
        <p:spPr>
          <a:xfrm>
            <a:off x="13761720" y="1060704"/>
            <a:ext cx="3474720" cy="365760"/>
          </a:xfrm>
          <a:prstGeom prst="rect">
            <a:avLst/>
          </a:prstGeom>
          <a:noFill/>
        </p:spPr>
        <p:txBody>
          <a:bodyPr wrap="square" lIns="0" rIns="0" tIns="0" bIns="0">
            <a:spAutoFit/>
          </a:bodyPr>
          <a:lstStyle/>
          <a:p>
            <a:pPr algn="r">
              <a:lnSpc>
                <a:spcPct val="112000"/>
              </a:lnSpc>
              <a:spcAft>
                <a:spcPts val="700"/>
              </a:spcAft>
              <a:defRPr sz="2000" b="0">
                <a:solidFill>
                  <a:srgbClr val="2D5986"/>
                </a:solidFill>
                <a:latin typeface="Aptos"/>
              </a:defRPr>
            </a:pPr>
            <a:r>
              <a:t>MINGGU 09  ·  POIN 3</a:t>
            </a:r>
          </a:p>
        </p:txBody>
      </p:sp>
      <p:sp>
        <p:nvSpPr>
          <p:cNvPr id="5" name="TextBox 4"/>
          <p:cNvSpPr txBox="1"/>
          <p:nvPr/>
        </p:nvSpPr>
        <p:spPr>
          <a:xfrm>
            <a:off x="1024128" y="1828800"/>
            <a:ext cx="16230600" cy="914400"/>
          </a:xfrm>
          <a:prstGeom prst="rect">
            <a:avLst/>
          </a:prstGeom>
          <a:noFill/>
        </p:spPr>
        <p:txBody>
          <a:bodyPr wrap="square" lIns="0" rIns="0" tIns="0" bIns="0">
            <a:spAutoFit/>
          </a:bodyPr>
          <a:lstStyle/>
          <a:p>
            <a:pPr>
              <a:lnSpc>
                <a:spcPct val="112000"/>
              </a:lnSpc>
              <a:spcAft>
                <a:spcPts val="700"/>
              </a:spcAft>
              <a:defRPr sz="5500" b="0">
                <a:solidFill>
                  <a:srgbClr val="2D5986"/>
                </a:solidFill>
                <a:latin typeface="Anton"/>
              </a:defRPr>
            </a:pPr>
            <a:r>
              <a:t>Arsitektur Simulasi &amp; Skema IP</a:t>
            </a:r>
          </a:p>
        </p:txBody>
      </p:sp>
      <p:sp>
        <p:nvSpPr>
          <p:cNvPr id="6" name="TextBox 5"/>
          <p:cNvSpPr txBox="1"/>
          <p:nvPr/>
        </p:nvSpPr>
        <p:spPr>
          <a:xfrm>
            <a:off x="1024128" y="2761488"/>
            <a:ext cx="16230600" cy="502920"/>
          </a:xfrm>
          <a:prstGeom prst="rect">
            <a:avLst/>
          </a:prstGeom>
          <a:noFill/>
        </p:spPr>
        <p:txBody>
          <a:bodyPr wrap="square" lIns="0" rIns="0" tIns="0" bIns="0">
            <a:spAutoFit/>
          </a:bodyPr>
          <a:lstStyle/>
          <a:p>
            <a:pPr>
              <a:lnSpc>
                <a:spcPct val="112000"/>
              </a:lnSpc>
              <a:spcAft>
                <a:spcPts val="700"/>
              </a:spcAft>
              <a:defRPr sz="2400" b="0">
                <a:solidFill>
                  <a:srgbClr val="536B80"/>
                </a:solidFill>
                <a:latin typeface="Aptos"/>
              </a:defRPr>
            </a:pPr>
            <a:r>
              <a:t>VirtualBox Host-Only · 192.168.10.0/24 · alamat statis · pengujian hanya antar-VM lab.</a:t>
            </a:r>
          </a:p>
        </p:txBody>
      </p:sp>
      <p:sp>
        <p:nvSpPr>
          <p:cNvPr id="7" name="Rectangle 6"/>
          <p:cNvSpPr/>
          <p:nvPr/>
        </p:nvSpPr>
        <p:spPr>
          <a:xfrm>
            <a:off x="1024128" y="9637776"/>
            <a:ext cx="16230600" cy="16459"/>
          </a:xfrm>
          <a:prstGeom prst="rect">
            <a:avLst/>
          </a:prstGeom>
          <a:solidFill>
            <a:srgbClr val="CB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550640" y="9774936"/>
            <a:ext cx="685800" cy="274320"/>
          </a:xfrm>
          <a:prstGeom prst="rect">
            <a:avLst/>
          </a:prstGeom>
          <a:noFill/>
        </p:spPr>
        <p:txBody>
          <a:bodyPr wrap="square" lIns="0" rIns="0" tIns="0" bIns="0">
            <a:spAutoFit/>
          </a:bodyPr>
          <a:lstStyle/>
          <a:p>
            <a:pPr algn="r">
              <a:lnSpc>
                <a:spcPct val="112000"/>
              </a:lnSpc>
              <a:spcAft>
                <a:spcPts val="700"/>
              </a:spcAft>
              <a:defRPr sz="1700" b="0">
                <a:solidFill>
                  <a:srgbClr val="536B80"/>
                </a:solidFill>
                <a:latin typeface="Aptos"/>
              </a:defRPr>
            </a:pPr>
            <a:r>
              <a:t>03</a:t>
            </a:r>
          </a:p>
        </p:txBody>
      </p:sp>
      <p:sp>
        <p:nvSpPr>
          <p:cNvPr id="9" name="Rounded Rectangle 8"/>
          <p:cNvSpPr/>
          <p:nvPr/>
        </p:nvSpPr>
        <p:spPr>
          <a:xfrm>
            <a:off x="1024128" y="3730752"/>
            <a:ext cx="4160520" cy="2240280"/>
          </a:xfrm>
          <a:prstGeom prst="roundRect">
            <a:avLst>
              <a:gd name="adj" fmla="val 6000"/>
            </a:avLst>
          </a:prstGeom>
          <a:solidFill>
            <a:srgbClr val="E7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931920"/>
            <a:ext cx="3657600" cy="365760"/>
          </a:xfrm>
          <a:prstGeom prst="rect">
            <a:avLst/>
          </a:prstGeom>
          <a:noFill/>
        </p:spPr>
        <p:txBody>
          <a:bodyPr wrap="square" lIns="0" rIns="0" tIns="0" bIns="0">
            <a:spAutoFit/>
          </a:bodyPr>
          <a:lstStyle/>
          <a:p>
            <a:pPr>
              <a:lnSpc>
                <a:spcPct val="112000"/>
              </a:lnSpc>
              <a:spcAft>
                <a:spcPts val="700"/>
              </a:spcAft>
              <a:defRPr sz="2300" b="1">
                <a:solidFill>
                  <a:srgbClr val="2D5986"/>
                </a:solidFill>
                <a:latin typeface="Aptos"/>
              </a:defRPr>
            </a:pPr>
            <a:r>
              <a:t>ATTACKER / CLIENT</a:t>
            </a:r>
          </a:p>
        </p:txBody>
      </p:sp>
      <p:sp>
        <p:nvSpPr>
          <p:cNvPr id="11" name="TextBox 10"/>
          <p:cNvSpPr txBox="1"/>
          <p:nvPr/>
        </p:nvSpPr>
        <p:spPr>
          <a:xfrm>
            <a:off x="1280160" y="4498848"/>
            <a:ext cx="3657600" cy="457200"/>
          </a:xfrm>
          <a:prstGeom prst="rect">
            <a:avLst/>
          </a:prstGeom>
          <a:noFill/>
        </p:spPr>
        <p:txBody>
          <a:bodyPr wrap="square" lIns="0" rIns="0" tIns="0" bIns="0">
            <a:spAutoFit/>
          </a:bodyPr>
          <a:lstStyle/>
          <a:p>
            <a:pPr>
              <a:lnSpc>
                <a:spcPct val="112000"/>
              </a:lnSpc>
              <a:spcAft>
                <a:spcPts val="700"/>
              </a:spcAft>
              <a:defRPr sz="2700" b="1">
                <a:solidFill>
                  <a:srgbClr val="2D5986"/>
                </a:solidFill>
                <a:latin typeface="Aptos"/>
              </a:defRPr>
            </a:pPr>
            <a:r>
              <a:t>CyberOps Workstation</a:t>
            </a:r>
          </a:p>
        </p:txBody>
      </p:sp>
      <p:sp>
        <p:nvSpPr>
          <p:cNvPr id="12" name="TextBox 11"/>
          <p:cNvSpPr txBox="1"/>
          <p:nvPr/>
        </p:nvSpPr>
        <p:spPr>
          <a:xfrm>
            <a:off x="1280160" y="5102352"/>
            <a:ext cx="3657600" cy="548640"/>
          </a:xfrm>
          <a:prstGeom prst="rect">
            <a:avLst/>
          </a:prstGeom>
          <a:noFill/>
        </p:spPr>
        <p:txBody>
          <a:bodyPr wrap="square" lIns="0" rIns="0" tIns="0" bIns="0">
            <a:spAutoFit/>
          </a:bodyPr>
          <a:lstStyle/>
          <a:p>
            <a:pPr>
              <a:lnSpc>
                <a:spcPct val="112000"/>
              </a:lnSpc>
              <a:spcAft>
                <a:spcPts val="700"/>
              </a:spcAft>
              <a:defRPr sz="2800" b="0">
                <a:solidFill>
                  <a:srgbClr val="2D5986"/>
                </a:solidFill>
                <a:latin typeface="Consolas"/>
              </a:defRPr>
            </a:pPr>
            <a:r>
              <a:t>192.168.10.100/24</a:t>
            </a:r>
          </a:p>
        </p:txBody>
      </p:sp>
      <p:sp>
        <p:nvSpPr>
          <p:cNvPr id="13" name="Right Arrow 12"/>
          <p:cNvSpPr/>
          <p:nvPr/>
        </p:nvSpPr>
        <p:spPr>
          <a:xfrm>
            <a:off x="5422392" y="4544568"/>
            <a:ext cx="1508760" cy="512064"/>
          </a:xfrm>
          <a:prstGeom prst="rightArrow">
            <a:avLst/>
          </a:prstGeom>
          <a:solidFill>
            <a:srgbClr val="2D59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340096" y="3785615"/>
            <a:ext cx="1737360" cy="914400"/>
          </a:xfrm>
          <a:prstGeom prst="rect">
            <a:avLst/>
          </a:prstGeom>
          <a:noFill/>
        </p:spPr>
        <p:txBody>
          <a:bodyPr wrap="square" lIns="0" rIns="0" tIns="0" bIns="0">
            <a:spAutoFit/>
          </a:bodyPr>
          <a:lstStyle/>
          <a:p>
            <a:pPr algn="ctr">
              <a:lnSpc>
                <a:spcPct val="112000"/>
              </a:lnSpc>
              <a:spcAft>
                <a:spcPts val="700"/>
              </a:spcAft>
              <a:defRPr sz="2100" b="0">
                <a:solidFill>
                  <a:srgbClr val="2D5986"/>
                </a:solidFill>
                <a:latin typeface="Aptos"/>
              </a:defRPr>
            </a:pPr>
            <a:r>
              <a:t>SSH :22</a:t>
            </a:r>
          </a:p>
          <a:p>
            <a:pPr algn="ctr">
              <a:lnSpc>
                <a:spcPct val="112000"/>
              </a:lnSpc>
              <a:spcAft>
                <a:spcPts val="700"/>
              </a:spcAft>
              <a:defRPr sz="2100" b="0">
                <a:solidFill>
                  <a:srgbClr val="2D5986"/>
                </a:solidFill>
                <a:latin typeface="Aptos"/>
              </a:defRPr>
            </a:pPr>
            <a:r>
              <a:t>HTTP :80</a:t>
            </a:r>
          </a:p>
        </p:txBody>
      </p:sp>
      <p:sp>
        <p:nvSpPr>
          <p:cNvPr id="15" name="Rounded Rectangle 14"/>
          <p:cNvSpPr/>
          <p:nvPr/>
        </p:nvSpPr>
        <p:spPr>
          <a:xfrm>
            <a:off x="7223760" y="3639312"/>
            <a:ext cx="5650992" cy="3730752"/>
          </a:xfrm>
          <a:prstGeom prst="roundRect">
            <a:avLst>
              <a:gd name="adj" fmla="val 6000"/>
            </a:avLst>
          </a:prstGeom>
          <a:solidFill>
            <a:srgbClr val="2D598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25512" y="3840480"/>
            <a:ext cx="5029200" cy="384048"/>
          </a:xfrm>
          <a:prstGeom prst="rect">
            <a:avLst/>
          </a:prstGeom>
          <a:noFill/>
        </p:spPr>
        <p:txBody>
          <a:bodyPr wrap="square" lIns="0" rIns="0" tIns="0" bIns="0">
            <a:spAutoFit/>
          </a:bodyPr>
          <a:lstStyle/>
          <a:p>
            <a:pPr>
              <a:lnSpc>
                <a:spcPct val="112000"/>
              </a:lnSpc>
              <a:spcAft>
                <a:spcPts val="700"/>
              </a:spcAft>
              <a:defRPr sz="2500" b="1">
                <a:solidFill>
                  <a:srgbClr val="FFFFFF"/>
                </a:solidFill>
                <a:latin typeface="Aptos"/>
              </a:defRPr>
            </a:pPr>
            <a:r>
              <a:t>TARGET  ·  Ubuntu Server</a:t>
            </a:r>
          </a:p>
        </p:txBody>
      </p:sp>
      <p:sp>
        <p:nvSpPr>
          <p:cNvPr id="17" name="TextBox 16"/>
          <p:cNvSpPr txBox="1"/>
          <p:nvPr/>
        </p:nvSpPr>
        <p:spPr>
          <a:xfrm>
            <a:off x="7525512" y="4407408"/>
            <a:ext cx="5029200" cy="457200"/>
          </a:xfrm>
          <a:prstGeom prst="rect">
            <a:avLst/>
          </a:prstGeom>
          <a:noFill/>
        </p:spPr>
        <p:txBody>
          <a:bodyPr wrap="square" lIns="0" rIns="0" tIns="0" bIns="0">
            <a:spAutoFit/>
          </a:bodyPr>
          <a:lstStyle/>
          <a:p>
            <a:pPr>
              <a:lnSpc>
                <a:spcPct val="112000"/>
              </a:lnSpc>
              <a:spcAft>
                <a:spcPts val="700"/>
              </a:spcAft>
              <a:defRPr sz="2900" b="0">
                <a:solidFill>
                  <a:srgbClr val="FFFFFF"/>
                </a:solidFill>
                <a:latin typeface="Consolas"/>
              </a:defRPr>
            </a:pPr>
            <a:r>
              <a:t>192.168.10.5/24</a:t>
            </a:r>
          </a:p>
        </p:txBody>
      </p:sp>
      <p:sp>
        <p:nvSpPr>
          <p:cNvPr id="18" name="TextBox 17"/>
          <p:cNvSpPr txBox="1"/>
          <p:nvPr/>
        </p:nvSpPr>
        <p:spPr>
          <a:xfrm>
            <a:off x="7525512" y="5038344"/>
            <a:ext cx="5029200" cy="502920"/>
          </a:xfrm>
          <a:prstGeom prst="rect">
            <a:avLst/>
          </a:prstGeom>
          <a:noFill/>
        </p:spPr>
        <p:txBody>
          <a:bodyPr wrap="square" lIns="0" rIns="0" tIns="0" bIns="0">
            <a:spAutoFit/>
          </a:bodyPr>
          <a:lstStyle/>
          <a:p>
            <a:pPr>
              <a:lnSpc>
                <a:spcPct val="112000"/>
              </a:lnSpc>
              <a:spcAft>
                <a:spcPts val="700"/>
              </a:spcAft>
              <a:defRPr sz="2300" b="0">
                <a:solidFill>
                  <a:srgbClr val="FFFFFF"/>
                </a:solidFill>
                <a:latin typeface="Aptos"/>
              </a:defRPr>
            </a:pPr>
            <a:r>
              <a:t>Nginx :80 → dashboard + API baca</a:t>
            </a:r>
          </a:p>
        </p:txBody>
      </p:sp>
      <p:sp>
        <p:nvSpPr>
          <p:cNvPr id="19" name="TextBox 18"/>
          <p:cNvSpPr txBox="1"/>
          <p:nvPr/>
        </p:nvSpPr>
        <p:spPr>
          <a:xfrm>
            <a:off x="7525512" y="5705856"/>
            <a:ext cx="5029200" cy="502920"/>
          </a:xfrm>
          <a:prstGeom prst="rect">
            <a:avLst/>
          </a:prstGeom>
          <a:noFill/>
        </p:spPr>
        <p:txBody>
          <a:bodyPr wrap="square" lIns="0" rIns="0" tIns="0" bIns="0">
            <a:spAutoFit/>
          </a:bodyPr>
          <a:lstStyle/>
          <a:p>
            <a:pPr>
              <a:lnSpc>
                <a:spcPct val="112000"/>
              </a:lnSpc>
              <a:spcAft>
                <a:spcPts val="700"/>
              </a:spcAft>
              <a:defRPr sz="2200" b="0">
                <a:solidFill>
                  <a:srgbClr val="FFFFFF"/>
                </a:solidFill>
                <a:latin typeface="Consolas"/>
              </a:defRPr>
            </a:pPr>
            <a:r>
              <a:t>Firebase Emulator 127.0.0.1:9000</a:t>
            </a:r>
          </a:p>
        </p:txBody>
      </p:sp>
      <p:sp>
        <p:nvSpPr>
          <p:cNvPr id="20" name="TextBox 19"/>
          <p:cNvSpPr txBox="1"/>
          <p:nvPr/>
        </p:nvSpPr>
        <p:spPr>
          <a:xfrm>
            <a:off x="7525512" y="6400800"/>
            <a:ext cx="5029200" cy="868680"/>
          </a:xfrm>
          <a:prstGeom prst="rect">
            <a:avLst/>
          </a:prstGeom>
          <a:noFill/>
        </p:spPr>
        <p:txBody>
          <a:bodyPr wrap="square" lIns="0" rIns="0" tIns="0" bIns="0">
            <a:spAutoFit/>
          </a:bodyPr>
          <a:lstStyle/>
          <a:p>
            <a:pPr>
              <a:lnSpc>
                <a:spcPct val="112000"/>
              </a:lnSpc>
              <a:spcAft>
                <a:spcPts val="700"/>
              </a:spcAft>
              <a:defRPr sz="2200" b="0">
                <a:solidFill>
                  <a:srgbClr val="FFFFFF"/>
                </a:solidFill>
                <a:latin typeface="Aptos"/>
              </a:defRPr>
            </a:pPr>
            <a:r>
              <a:t>Simulator Python → REST lokal</a:t>
            </a:r>
          </a:p>
          <a:p>
            <a:pPr>
              <a:lnSpc>
                <a:spcPct val="112000"/>
              </a:lnSpc>
              <a:spcAft>
                <a:spcPts val="700"/>
              </a:spcAft>
              <a:defRPr sz="2200" b="0">
                <a:solidFill>
                  <a:srgbClr val="FFFFFF"/>
                </a:solidFill>
                <a:latin typeface="Aptos"/>
              </a:defRPr>
            </a:pPr>
            <a:r>
              <a:t>Port database tidak dibuka ke jaringan.</a:t>
            </a:r>
          </a:p>
        </p:txBody>
      </p:sp>
      <p:sp>
        <p:nvSpPr>
          <p:cNvPr id="21" name="Rounded Rectangle 20"/>
          <p:cNvSpPr/>
          <p:nvPr/>
        </p:nvSpPr>
        <p:spPr>
          <a:xfrm>
            <a:off x="13304520" y="3730752"/>
            <a:ext cx="3950208" cy="2240280"/>
          </a:xfrm>
          <a:prstGeom prst="roundRect">
            <a:avLst>
              <a:gd name="adj" fmla="val 6000"/>
            </a:avLst>
          </a:prstGeom>
          <a:solidFill>
            <a:srgbClr val="E7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569696" y="3931920"/>
            <a:ext cx="3429000" cy="365760"/>
          </a:xfrm>
          <a:prstGeom prst="rect">
            <a:avLst/>
          </a:prstGeom>
          <a:noFill/>
        </p:spPr>
        <p:txBody>
          <a:bodyPr wrap="square" lIns="0" rIns="0" tIns="0" bIns="0">
            <a:spAutoFit/>
          </a:bodyPr>
          <a:lstStyle/>
          <a:p>
            <a:pPr>
              <a:lnSpc>
                <a:spcPct val="112000"/>
              </a:lnSpc>
              <a:spcAft>
                <a:spcPts val="700"/>
              </a:spcAft>
              <a:defRPr sz="2300" b="1">
                <a:solidFill>
                  <a:srgbClr val="2D5986"/>
                </a:solidFill>
                <a:latin typeface="Aptos"/>
              </a:defRPr>
            </a:pPr>
            <a:r>
              <a:t>HOST / ADMIN</a:t>
            </a:r>
          </a:p>
        </p:txBody>
      </p:sp>
      <p:sp>
        <p:nvSpPr>
          <p:cNvPr id="23" name="TextBox 22"/>
          <p:cNvSpPr txBox="1"/>
          <p:nvPr/>
        </p:nvSpPr>
        <p:spPr>
          <a:xfrm>
            <a:off x="13569696" y="4498848"/>
            <a:ext cx="3429000" cy="457200"/>
          </a:xfrm>
          <a:prstGeom prst="rect">
            <a:avLst/>
          </a:prstGeom>
          <a:noFill/>
        </p:spPr>
        <p:txBody>
          <a:bodyPr wrap="square" lIns="0" rIns="0" tIns="0" bIns="0">
            <a:spAutoFit/>
          </a:bodyPr>
          <a:lstStyle/>
          <a:p>
            <a:pPr>
              <a:lnSpc>
                <a:spcPct val="112000"/>
              </a:lnSpc>
              <a:spcAft>
                <a:spcPts val="700"/>
              </a:spcAft>
              <a:defRPr sz="2700" b="1">
                <a:solidFill>
                  <a:srgbClr val="2D5986"/>
                </a:solidFill>
                <a:latin typeface="Aptos"/>
              </a:defRPr>
            </a:pPr>
            <a:r>
              <a:t>Laptop pengguna</a:t>
            </a:r>
          </a:p>
        </p:txBody>
      </p:sp>
      <p:sp>
        <p:nvSpPr>
          <p:cNvPr id="24" name="TextBox 23"/>
          <p:cNvSpPr txBox="1"/>
          <p:nvPr/>
        </p:nvSpPr>
        <p:spPr>
          <a:xfrm>
            <a:off x="13569696" y="5102352"/>
            <a:ext cx="3429000" cy="502920"/>
          </a:xfrm>
          <a:prstGeom prst="rect">
            <a:avLst/>
          </a:prstGeom>
          <a:noFill/>
        </p:spPr>
        <p:txBody>
          <a:bodyPr wrap="square" lIns="0" rIns="0" tIns="0" bIns="0">
            <a:spAutoFit/>
          </a:bodyPr>
          <a:lstStyle/>
          <a:p>
            <a:pPr>
              <a:lnSpc>
                <a:spcPct val="112000"/>
              </a:lnSpc>
              <a:spcAft>
                <a:spcPts val="700"/>
              </a:spcAft>
              <a:defRPr sz="2600" b="0">
                <a:solidFill>
                  <a:srgbClr val="2D5986"/>
                </a:solidFill>
                <a:latin typeface="Consolas"/>
              </a:defRPr>
            </a:pPr>
            <a:r>
              <a:t>192.168.10.1/24</a:t>
            </a:r>
          </a:p>
        </p:txBody>
      </p:sp>
      <p:sp>
        <p:nvSpPr>
          <p:cNvPr id="25" name="Rounded Rectangle 24"/>
          <p:cNvSpPr/>
          <p:nvPr/>
        </p:nvSpPr>
        <p:spPr>
          <a:xfrm>
            <a:off x="1024128" y="6519672"/>
            <a:ext cx="5532120" cy="2350008"/>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298448" y="6711696"/>
            <a:ext cx="4983480" cy="393192"/>
          </a:xfrm>
          <a:prstGeom prst="rect">
            <a:avLst/>
          </a:prstGeom>
          <a:noFill/>
        </p:spPr>
        <p:txBody>
          <a:bodyPr wrap="square" lIns="0" rIns="0" tIns="0" bIns="0">
            <a:spAutoFit/>
          </a:bodyPr>
          <a:lstStyle/>
          <a:p>
            <a:pPr>
              <a:lnSpc>
                <a:spcPct val="112000"/>
              </a:lnSpc>
              <a:spcAft>
                <a:spcPts val="700"/>
              </a:spcAft>
              <a:defRPr sz="2500" b="1">
                <a:solidFill>
                  <a:srgbClr val="2D5986"/>
                </a:solidFill>
                <a:latin typeface="Aptos"/>
              </a:defRPr>
            </a:pPr>
            <a:r>
              <a:t>MONITORING  ·  Security Onion</a:t>
            </a:r>
          </a:p>
        </p:txBody>
      </p:sp>
      <p:sp>
        <p:nvSpPr>
          <p:cNvPr id="27" name="TextBox 26"/>
          <p:cNvSpPr txBox="1"/>
          <p:nvPr/>
        </p:nvSpPr>
        <p:spPr>
          <a:xfrm>
            <a:off x="1298448" y="7333488"/>
            <a:ext cx="4983480" cy="1508760"/>
          </a:xfrm>
          <a:prstGeom prst="rect">
            <a:avLst/>
          </a:prstGeom>
          <a:noFill/>
        </p:spPr>
        <p:txBody>
          <a:bodyPr wrap="square" lIns="0" rIns="0" tIns="0" bIns="0">
            <a:spAutoFit/>
          </a:bodyPr>
          <a:lstStyle/>
          <a:p>
            <a:pPr>
              <a:lnSpc>
                <a:spcPct val="112000"/>
              </a:lnSpc>
              <a:spcAft>
                <a:spcPts val="700"/>
              </a:spcAft>
              <a:defRPr sz="2300" b="0">
                <a:solidFill>
                  <a:srgbClr val="2D5986"/>
                </a:solidFill>
                <a:latin typeface="Aptos"/>
              </a:defRPr>
            </a:pPr>
            <a:r>
              <a:t>eth1: 192.168.10.200/24 (manajemen)</a:t>
            </a:r>
          </a:p>
          <a:p>
            <a:pPr>
              <a:lnSpc>
                <a:spcPct val="112000"/>
              </a:lnSpc>
              <a:spcAft>
                <a:spcPts val="700"/>
              </a:spcAft>
              <a:defRPr sz="2300" b="0">
                <a:solidFill>
                  <a:srgbClr val="2D5986"/>
                </a:solidFill>
                <a:latin typeface="Aptos"/>
              </a:defRPr>
            </a:pPr>
            <a:r>
              <a:t>eth0: sensor tanpa IPv4; Allow All</a:t>
            </a:r>
          </a:p>
          <a:p>
            <a:pPr>
              <a:lnSpc>
                <a:spcPct val="112000"/>
              </a:lnSpc>
              <a:spcAft>
                <a:spcPts val="700"/>
              </a:spcAft>
              <a:defRPr sz="2300" b="0">
                <a:solidFill>
                  <a:srgbClr val="2D5986"/>
                </a:solidFill>
                <a:latin typeface="Aptos"/>
              </a:defRPr>
            </a:pPr>
            <a:r>
              <a:t>Sguil / tcpdump mengamati trafik lab.</a:t>
            </a:r>
          </a:p>
        </p:txBody>
      </p:sp>
      <p:sp>
        <p:nvSpPr>
          <p:cNvPr id="28" name="TextBox 27"/>
          <p:cNvSpPr txBox="1"/>
          <p:nvPr/>
        </p:nvSpPr>
        <p:spPr>
          <a:xfrm>
            <a:off x="7223760" y="7708392"/>
            <a:ext cx="10012680" cy="1600200"/>
          </a:xfrm>
          <a:prstGeom prst="rect">
            <a:avLst/>
          </a:prstGeom>
          <a:noFill/>
        </p:spPr>
        <p:txBody>
          <a:bodyPr wrap="square" lIns="0" rIns="0" tIns="0" bIns="0">
            <a:spAutoFit/>
          </a:bodyPr>
          <a:lstStyle/>
          <a:p>
            <a:pPr>
              <a:lnSpc>
                <a:spcPct val="112000"/>
              </a:lnSpc>
              <a:spcAft>
                <a:spcPts val="700"/>
              </a:spcAft>
              <a:defRPr sz="2300" b="0">
                <a:solidFill>
                  <a:srgbClr val="536B80"/>
                </a:solidFill>
                <a:latin typeface="Aptos"/>
              </a:defRPr>
            </a:pPr>
            <a:r>
              <a:t>Sensor mengamati trafik Host-Only, bukan jalur proxy.</a:t>
            </a:r>
          </a:p>
          <a:p>
            <a:pPr>
              <a:lnSpc>
                <a:spcPct val="112000"/>
              </a:lnSpc>
              <a:spcAft>
                <a:spcPts val="700"/>
              </a:spcAft>
              <a:defRPr sz="2300" b="0">
                <a:solidFill>
                  <a:srgbClr val="536B80"/>
                </a:solidFill>
                <a:latin typeface="Aptos"/>
              </a:defRPr>
            </a:pPr>
            <a:r>
              <a:t>NAT dinonaktifkan setelah instalasi; UFW bukan isolasi internet.</a:t>
            </a:r>
          </a:p>
          <a:p>
            <a:pPr>
              <a:lnSpc>
                <a:spcPct val="112000"/>
              </a:lnSpc>
              <a:spcAft>
                <a:spcPts val="700"/>
              </a:spcAft>
              <a:defRPr sz="2300" b="0">
                <a:solidFill>
                  <a:srgbClr val="536B80"/>
                </a:solidFill>
                <a:latin typeface="Aptos"/>
              </a:defRPr>
            </a:pPr>
            <a:r>
              <a:t>Trafik loopback :9000 tidak terlihat oleh sensor jaringan.</a:t>
            </a:r>
          </a:p>
        </p:txBody>
      </p:sp>
      <p:sp>
        <p:nvSpPr>
          <p:cNvPr id="29" name="TextBox 28"/>
          <p:cNvSpPr txBox="1"/>
          <p:nvPr/>
        </p:nvSpPr>
        <p:spPr>
          <a:xfrm>
            <a:off x="1024128" y="9765792"/>
            <a:ext cx="15087600" cy="292608"/>
          </a:xfrm>
          <a:prstGeom prst="rect">
            <a:avLst/>
          </a:prstGeom>
          <a:noFill/>
        </p:spPr>
        <p:txBody>
          <a:bodyPr wrap="square" lIns="0" rIns="0" tIns="0" bIns="0">
            <a:spAutoFit/>
          </a:bodyPr>
          <a:lstStyle/>
          <a:p>
            <a:pPr>
              <a:lnSpc>
                <a:spcPct val="112000"/>
              </a:lnSpc>
              <a:spcAft>
                <a:spcPts val="700"/>
              </a:spcAft>
              <a:defRPr sz="1600" b="0">
                <a:solidFill>
                  <a:srgbClr val="536B80"/>
                </a:solidFill>
                <a:latin typeface="Aptos"/>
              </a:defRPr>
            </a:pPr>
            <a:r>
              <a:rPr>
                <a:hlinkClick r:id="rId8"/>
              </a:rPr>
              <a:t>SUMBER  ../design/ip_plan.md · diagram diperbarui mengikuti konfigurasi terdokumentasi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1737360" y="1033271"/>
            <a:ext cx="8229600" cy="457200"/>
          </a:xfrm>
          <a:prstGeom prst="rect">
            <a:avLst/>
          </a:prstGeom>
          <a:noFill/>
        </p:spPr>
        <p:txBody>
          <a:bodyPr wrap="square" lIns="0" rIns="0" tIns="0" bIns="0">
            <a:spAutoFit/>
          </a:bodyPr>
          <a:lstStyle/>
          <a:p>
            <a:pPr>
              <a:lnSpc>
                <a:spcPct val="112000"/>
              </a:lnSpc>
              <a:spcAft>
                <a:spcPts val="700"/>
              </a:spcAft>
              <a:defRPr sz="2300" b="1">
                <a:solidFill>
                  <a:srgbClr val="2D5986"/>
                </a:solidFill>
                <a:latin typeface="Aptos"/>
              </a:defRPr>
            </a:pPr>
            <a:r>
              <a:t>KELOMPOK 10  /  TEK1314 · KEAMANAN SIBER</a:t>
            </a:r>
          </a:p>
        </p:txBody>
      </p:sp>
      <p:sp>
        <p:nvSpPr>
          <p:cNvPr id="4" name="TextBox 3"/>
          <p:cNvSpPr txBox="1"/>
          <p:nvPr/>
        </p:nvSpPr>
        <p:spPr>
          <a:xfrm>
            <a:off x="13761720" y="1060704"/>
            <a:ext cx="3474720" cy="365760"/>
          </a:xfrm>
          <a:prstGeom prst="rect">
            <a:avLst/>
          </a:prstGeom>
          <a:noFill/>
        </p:spPr>
        <p:txBody>
          <a:bodyPr wrap="square" lIns="0" rIns="0" tIns="0" bIns="0">
            <a:spAutoFit/>
          </a:bodyPr>
          <a:lstStyle/>
          <a:p>
            <a:pPr algn="r">
              <a:lnSpc>
                <a:spcPct val="112000"/>
              </a:lnSpc>
              <a:spcAft>
                <a:spcPts val="700"/>
              </a:spcAft>
              <a:defRPr sz="2000" b="0">
                <a:solidFill>
                  <a:srgbClr val="2D5986"/>
                </a:solidFill>
                <a:latin typeface="Aptos"/>
              </a:defRPr>
            </a:pPr>
            <a:r>
              <a:t>MINGGU 09  ·  POIN 4 · 1/2</a:t>
            </a:r>
          </a:p>
        </p:txBody>
      </p:sp>
      <p:sp>
        <p:nvSpPr>
          <p:cNvPr id="5" name="TextBox 4"/>
          <p:cNvSpPr txBox="1"/>
          <p:nvPr/>
        </p:nvSpPr>
        <p:spPr>
          <a:xfrm>
            <a:off x="1024128" y="1828800"/>
            <a:ext cx="16230600" cy="914400"/>
          </a:xfrm>
          <a:prstGeom prst="rect">
            <a:avLst/>
          </a:prstGeom>
          <a:noFill/>
        </p:spPr>
        <p:txBody>
          <a:bodyPr wrap="square" lIns="0" rIns="0" tIns="0" bIns="0">
            <a:spAutoFit/>
          </a:bodyPr>
          <a:lstStyle/>
          <a:p>
            <a:pPr>
              <a:lnSpc>
                <a:spcPct val="112000"/>
              </a:lnSpc>
              <a:spcAft>
                <a:spcPts val="700"/>
              </a:spcAft>
              <a:defRPr sz="5500" b="0">
                <a:solidFill>
                  <a:srgbClr val="2D5986"/>
                </a:solidFill>
                <a:latin typeface="Anton"/>
              </a:defRPr>
            </a:pPr>
            <a:r>
              <a:t>Progres Hardening: Selesai &amp; Belum</a:t>
            </a:r>
          </a:p>
        </p:txBody>
      </p:sp>
      <p:sp>
        <p:nvSpPr>
          <p:cNvPr id="6" name="TextBox 5"/>
          <p:cNvSpPr txBox="1"/>
          <p:nvPr/>
        </p:nvSpPr>
        <p:spPr>
          <a:xfrm>
            <a:off x="1024128" y="2761488"/>
            <a:ext cx="16230600" cy="502920"/>
          </a:xfrm>
          <a:prstGeom prst="rect">
            <a:avLst/>
          </a:prstGeom>
          <a:noFill/>
        </p:spPr>
        <p:txBody>
          <a:bodyPr wrap="square" lIns="0" rIns="0" tIns="0" bIns="0">
            <a:spAutoFit/>
          </a:bodyPr>
          <a:lstStyle/>
          <a:p>
            <a:pPr>
              <a:lnSpc>
                <a:spcPct val="112000"/>
              </a:lnSpc>
              <a:spcAft>
                <a:spcPts val="700"/>
              </a:spcAft>
              <a:defRPr sz="2400" b="0">
                <a:solidFill>
                  <a:srgbClr val="536B80"/>
                </a:solidFill>
                <a:latin typeface="Aptos"/>
              </a:defRPr>
            </a:pPr>
            <a:r>
              <a:t>8 selesai (A:2 · B:3 · C:3) + 9 rencana belum terverifikasi · status mengikuti bukti, bukan klaim aman produksi.</a:t>
            </a:r>
          </a:p>
        </p:txBody>
      </p:sp>
      <p:sp>
        <p:nvSpPr>
          <p:cNvPr id="7" name="Rectangle 6"/>
          <p:cNvSpPr/>
          <p:nvPr/>
        </p:nvSpPr>
        <p:spPr>
          <a:xfrm>
            <a:off x="1024128" y="9637776"/>
            <a:ext cx="16230600" cy="16459"/>
          </a:xfrm>
          <a:prstGeom prst="rect">
            <a:avLst/>
          </a:prstGeom>
          <a:solidFill>
            <a:srgbClr val="CB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550640" y="9774936"/>
            <a:ext cx="685800" cy="274320"/>
          </a:xfrm>
          <a:prstGeom prst="rect">
            <a:avLst/>
          </a:prstGeom>
          <a:noFill/>
        </p:spPr>
        <p:txBody>
          <a:bodyPr wrap="square" lIns="0" rIns="0" tIns="0" bIns="0">
            <a:spAutoFit/>
          </a:bodyPr>
          <a:lstStyle/>
          <a:p>
            <a:pPr algn="r">
              <a:lnSpc>
                <a:spcPct val="112000"/>
              </a:lnSpc>
              <a:spcAft>
                <a:spcPts val="700"/>
              </a:spcAft>
              <a:defRPr sz="1700" b="0">
                <a:solidFill>
                  <a:srgbClr val="536B80"/>
                </a:solidFill>
                <a:latin typeface="Aptos"/>
              </a:defRPr>
            </a:pPr>
            <a:r>
              <a:t>04</a:t>
            </a:r>
          </a:p>
        </p:txBody>
      </p:sp>
      <p:graphicFrame>
        <p:nvGraphicFramePr>
          <p:cNvPr id="9" name="Table 8"/>
          <p:cNvGraphicFramePr>
            <a:graphicFrameLocks noGrp="1"/>
          </p:cNvGraphicFramePr>
          <p:nvPr/>
        </p:nvGraphicFramePr>
        <p:xfrm>
          <a:off x="1024128" y="3575304"/>
          <a:ext cx="11109960" cy="4608576"/>
        </p:xfrm>
        <a:graphic>
          <a:graphicData uri="http://schemas.openxmlformats.org/drawingml/2006/table">
            <a:tbl>
              <a:tblPr firstRow="1" bandRow="1">
                <a:tableStyleId>{5C22544A-7EE6-4342-B048-85BDC9FD1C3A}</a:tableStyleId>
              </a:tblPr>
              <a:tblGrid>
                <a:gridCol w="914400"/>
                <a:gridCol w="3886200"/>
                <a:gridCol w="5166360"/>
                <a:gridCol w="1143000"/>
              </a:tblGrid>
              <a:tr h="512064">
                <a:tc>
                  <a:txBody>
                    <a:bodyPr/>
                    <a:lstStyle/>
                    <a:p>
                      <a:pPr>
                        <a:spcAft>
                          <a:spcPts val="0"/>
                        </a:spcAft>
                        <a:defRPr sz="2000" b="1">
                          <a:solidFill>
                            <a:srgbClr val="FFFFFF"/>
                          </a:solidFill>
                          <a:latin typeface="Aptos"/>
                        </a:defRPr>
                      </a:pPr>
                      <a:r>
                        <a:t>ID</a:t>
                      </a:r>
                    </a:p>
                  </a:txBody>
                  <a:tcPr marL="155448" marR="155448" marT="82296" marB="82296" anchor="ctr">
                    <a:solidFill>
                      <a:srgbClr val="2D5986"/>
                    </a:solidFill>
                  </a:tcPr>
                </a:tc>
                <a:tc>
                  <a:txBody>
                    <a:bodyPr/>
                    <a:lstStyle/>
                    <a:p>
                      <a:pPr>
                        <a:spcAft>
                          <a:spcPts val="0"/>
                        </a:spcAft>
                        <a:defRPr sz="2000" b="1">
                          <a:solidFill>
                            <a:srgbClr val="FFFFFF"/>
                          </a:solidFill>
                          <a:latin typeface="Aptos"/>
                        </a:defRPr>
                      </a:pPr>
                      <a:r>
                        <a:t>Kontrol</a:t>
                      </a:r>
                    </a:p>
                  </a:txBody>
                  <a:tcPr marL="155448" marR="155448" marT="82296" marB="82296" anchor="ctr">
                    <a:solidFill>
                      <a:srgbClr val="2D5986"/>
                    </a:solidFill>
                  </a:tcPr>
                </a:tc>
                <a:tc>
                  <a:txBody>
                    <a:bodyPr/>
                    <a:lstStyle/>
                    <a:p>
                      <a:pPr>
                        <a:spcAft>
                          <a:spcPts val="0"/>
                        </a:spcAft>
                        <a:defRPr sz="2000" b="1">
                          <a:solidFill>
                            <a:srgbClr val="FFFFFF"/>
                          </a:solidFill>
                          <a:latin typeface="Aptos"/>
                        </a:defRPr>
                      </a:pPr>
                      <a:r>
                        <a:t>Verifikasi / perubahan</a:t>
                      </a:r>
                    </a:p>
                  </a:txBody>
                  <a:tcPr marL="155448" marR="155448" marT="82296" marB="82296" anchor="ctr">
                    <a:solidFill>
                      <a:srgbClr val="2D5986"/>
                    </a:solidFill>
                  </a:tcPr>
                </a:tc>
                <a:tc>
                  <a:txBody>
                    <a:bodyPr/>
                    <a:lstStyle/>
                    <a:p>
                      <a:pPr>
                        <a:spcAft>
                          <a:spcPts val="0"/>
                        </a:spcAft>
                        <a:defRPr sz="2000" b="1">
                          <a:solidFill>
                            <a:srgbClr val="FFFFFF"/>
                          </a:solidFill>
                          <a:latin typeface="Aptos"/>
                        </a:defRPr>
                      </a:pPr>
                      <a:r>
                        <a:t>Status</a:t>
                      </a:r>
                    </a:p>
                  </a:txBody>
                  <a:tcPr marL="155448" marR="155448" marT="82296" marB="82296" anchor="ctr">
                    <a:solidFill>
                      <a:srgbClr val="2D5986"/>
                    </a:solidFill>
                  </a:tcPr>
                </a:tc>
              </a:tr>
              <a:tr h="512064">
                <a:tc>
                  <a:txBody>
                    <a:bodyPr/>
                    <a:lstStyle/>
                    <a:p>
                      <a:pPr>
                        <a:spcAft>
                          <a:spcPts val="0"/>
                        </a:spcAft>
                        <a:defRPr sz="2000" b="1">
                          <a:solidFill>
                            <a:srgbClr val="183A5A"/>
                          </a:solidFill>
                          <a:latin typeface="Aptos"/>
                        </a:defRPr>
                      </a:pPr>
                      <a:r>
                        <a:t>A1</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Tolak SSH root langsung</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permitrootlogin no; login root ditolak</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Selesai</a:t>
                      </a:r>
                    </a:p>
                  </a:txBody>
                  <a:tcPr marL="155448" marR="155448" marT="82296" marB="82296" anchor="ctr">
                    <a:solidFill>
                      <a:srgbClr val="FFFFFF"/>
                    </a:solidFill>
                  </a:tcPr>
                </a:tc>
              </a:tr>
              <a:tr h="512064">
                <a:tc>
                  <a:txBody>
                    <a:bodyPr/>
                    <a:lstStyle/>
                    <a:p>
                      <a:pPr>
                        <a:spcAft>
                          <a:spcPts val="0"/>
                        </a:spcAft>
                        <a:defRPr sz="2000" b="1">
                          <a:solidFill>
                            <a:srgbClr val="183A5A"/>
                          </a:solidFill>
                          <a:latin typeface="Aptos"/>
                        </a:defRPr>
                      </a:pPr>
                      <a:r>
                        <a:t>A2</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Fail2ban untuk SSH</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IP .100 diblokir; koneksi baru ditolak</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Selesai</a:t>
                      </a:r>
                    </a:p>
                  </a:txBody>
                  <a:tcPr marL="155448" marR="155448" marT="82296" marB="82296" anchor="ctr">
                    <a:solidFill>
                      <a:srgbClr val="E7EDF3"/>
                    </a:solidFill>
                  </a:tcPr>
                </a:tc>
              </a:tr>
              <a:tr h="512064">
                <a:tc>
                  <a:txBody>
                    <a:bodyPr/>
                    <a:lstStyle/>
                    <a:p>
                      <a:pPr>
                        <a:spcAft>
                          <a:spcPts val="0"/>
                        </a:spcAft>
                        <a:defRPr sz="2000" b="1">
                          <a:solidFill>
                            <a:srgbClr val="183A5A"/>
                          </a:solidFill>
                          <a:latin typeface="Aptos"/>
                        </a:defRPr>
                      </a:pPr>
                      <a:r>
                        <a:t>B1</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UFW whitelist IP &amp; port</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:22/:80 open; :9000 open → filtered</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Selesai</a:t>
                      </a:r>
                    </a:p>
                  </a:txBody>
                  <a:tcPr marL="155448" marR="155448" marT="82296" marB="82296" anchor="ctr">
                    <a:solidFill>
                      <a:srgbClr val="FFFFFF"/>
                    </a:solidFill>
                  </a:tcPr>
                </a:tc>
              </a:tr>
              <a:tr h="512064">
                <a:tc>
                  <a:txBody>
                    <a:bodyPr/>
                    <a:lstStyle/>
                    <a:p>
                      <a:pPr>
                        <a:spcAft>
                          <a:spcPts val="0"/>
                        </a:spcAft>
                        <a:defRPr sz="2000" b="1">
                          <a:solidFill>
                            <a:srgbClr val="183A5A"/>
                          </a:solidFill>
                          <a:latin typeface="Aptos"/>
                        </a:defRPr>
                      </a:pPr>
                      <a:r>
                        <a:t>B2</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Database hanya localhost</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Listener jaringan → 127.0.0.1:9000</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Selesai</a:t>
                      </a:r>
                    </a:p>
                  </a:txBody>
                  <a:tcPr marL="155448" marR="155448" marT="82296" marB="82296" anchor="ctr">
                    <a:solidFill>
                      <a:srgbClr val="E7EDF3"/>
                    </a:solidFill>
                  </a:tcPr>
                </a:tc>
              </a:tr>
              <a:tr h="512064">
                <a:tc>
                  <a:txBody>
                    <a:bodyPr/>
                    <a:lstStyle/>
                    <a:p>
                      <a:pPr>
                        <a:spcAft>
                          <a:spcPts val="0"/>
                        </a:spcAft>
                        <a:defRPr sz="2000" b="1">
                          <a:solidFill>
                            <a:srgbClr val="183A5A"/>
                          </a:solidFill>
                          <a:latin typeface="Aptos"/>
                        </a:defRPr>
                      </a:pPr>
                      <a:r>
                        <a:t>B3</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Sembunyikan versi Nginx</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nginx/1.18.0 (Ubuntu) → nginx</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Selesai</a:t>
                      </a:r>
                    </a:p>
                  </a:txBody>
                  <a:tcPr marL="155448" marR="155448" marT="82296" marB="82296" anchor="ctr">
                    <a:solidFill>
                      <a:srgbClr val="FFFFFF"/>
                    </a:solidFill>
                  </a:tcPr>
                </a:tc>
              </a:tr>
              <a:tr h="512064">
                <a:tc>
                  <a:txBody>
                    <a:bodyPr/>
                    <a:lstStyle/>
                    <a:p>
                      <a:pPr>
                        <a:spcAft>
                          <a:spcPts val="0"/>
                        </a:spcAft>
                        <a:defRPr sz="2000" b="1">
                          <a:solidFill>
                            <a:srgbClr val="183A5A"/>
                          </a:solidFill>
                          <a:latin typeface="Aptos"/>
                        </a:defRPr>
                      </a:pPr>
                      <a:r>
                        <a:t>C1</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Rules &amp; validasi payload</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Data valid 200; humidity 150 → 401</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Selesai</a:t>
                      </a:r>
                    </a:p>
                  </a:txBody>
                  <a:tcPr marL="155448" marR="155448" marT="82296" marB="82296" anchor="ctr">
                    <a:solidFill>
                      <a:srgbClr val="E7EDF3"/>
                    </a:solidFill>
                  </a:tcPr>
                </a:tc>
              </a:tr>
              <a:tr h="512064">
                <a:tc>
                  <a:txBody>
                    <a:bodyPr/>
                    <a:lstStyle/>
                    <a:p>
                      <a:pPr>
                        <a:spcAft>
                          <a:spcPts val="0"/>
                        </a:spcAft>
                        <a:defRPr sz="2000" b="1">
                          <a:solidFill>
                            <a:srgbClr val="183A5A"/>
                          </a:solidFill>
                          <a:latin typeface="Aptos"/>
                        </a:defRPr>
                      </a:pPr>
                      <a:r>
                        <a:t>C2</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Backup &amp; uji pemulihan</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Backup 72 → diubah 80 → pulih 72</a:t>
                      </a:r>
                    </a:p>
                  </a:txBody>
                  <a:tcPr marL="155448" marR="155448" marT="82296" marB="82296" anchor="ctr">
                    <a:solidFill>
                      <a:srgbClr val="FFFFFF"/>
                    </a:solidFill>
                  </a:tcPr>
                </a:tc>
                <a:tc>
                  <a:txBody>
                    <a:bodyPr/>
                    <a:lstStyle/>
                    <a:p>
                      <a:pPr>
                        <a:spcAft>
                          <a:spcPts val="0"/>
                        </a:spcAft>
                        <a:defRPr sz="2000" b="0">
                          <a:solidFill>
                            <a:srgbClr val="183A5A"/>
                          </a:solidFill>
                          <a:latin typeface="Aptos"/>
                        </a:defRPr>
                      </a:pPr>
                      <a:r>
                        <a:t>Selesai</a:t>
                      </a:r>
                    </a:p>
                  </a:txBody>
                  <a:tcPr marL="155448" marR="155448" marT="82296" marB="82296" anchor="ctr">
                    <a:solidFill>
                      <a:srgbClr val="FFFFFF"/>
                    </a:solidFill>
                  </a:tcPr>
                </a:tc>
              </a:tr>
              <a:tr h="512064">
                <a:tc>
                  <a:txBody>
                    <a:bodyPr/>
                    <a:lstStyle/>
                    <a:p>
                      <a:pPr>
                        <a:spcAft>
                          <a:spcPts val="0"/>
                        </a:spcAft>
                        <a:defRPr sz="2000" b="1">
                          <a:solidFill>
                            <a:srgbClr val="183A5A"/>
                          </a:solidFill>
                          <a:latin typeface="Aptos"/>
                        </a:defRPr>
                      </a:pPr>
                      <a:r>
                        <a:t>C3</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Batasi permission aplikasi</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Direktori 700; file 600; nobody ditolak</a:t>
                      </a:r>
                    </a:p>
                  </a:txBody>
                  <a:tcPr marL="155448" marR="155448" marT="82296" marB="82296" anchor="ctr">
                    <a:solidFill>
                      <a:srgbClr val="E7EDF3"/>
                    </a:solidFill>
                  </a:tcPr>
                </a:tc>
                <a:tc>
                  <a:txBody>
                    <a:bodyPr/>
                    <a:lstStyle/>
                    <a:p>
                      <a:pPr>
                        <a:spcAft>
                          <a:spcPts val="0"/>
                        </a:spcAft>
                        <a:defRPr sz="2000" b="0">
                          <a:solidFill>
                            <a:srgbClr val="183A5A"/>
                          </a:solidFill>
                          <a:latin typeface="Aptos"/>
                        </a:defRPr>
                      </a:pPr>
                      <a:r>
                        <a:t>Selesai</a:t>
                      </a:r>
                    </a:p>
                  </a:txBody>
                  <a:tcPr marL="155448" marR="155448" marT="82296" marB="82296" anchor="ctr">
                    <a:solidFill>
                      <a:srgbClr val="E7EDF3"/>
                    </a:solidFill>
                  </a:tcPr>
                </a:tc>
              </a:tr>
            </a:tbl>
          </a:graphicData>
        </a:graphic>
      </p:graphicFrame>
      <p:sp>
        <p:nvSpPr>
          <p:cNvPr id="10" name="Rounded Rectangle 9"/>
          <p:cNvSpPr/>
          <p:nvPr/>
        </p:nvSpPr>
        <p:spPr>
          <a:xfrm>
            <a:off x="12490704" y="3575304"/>
            <a:ext cx="4764024" cy="5230368"/>
          </a:xfrm>
          <a:prstGeom prst="roundRect">
            <a:avLst>
              <a:gd name="adj" fmla="val 6000"/>
            </a:avLst>
          </a:prstGeom>
          <a:solidFill>
            <a:srgbClr val="E7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755880" y="3767328"/>
            <a:ext cx="4251960" cy="411480"/>
          </a:xfrm>
          <a:prstGeom prst="rect">
            <a:avLst/>
          </a:prstGeom>
          <a:noFill/>
        </p:spPr>
        <p:txBody>
          <a:bodyPr wrap="square" lIns="0" rIns="0" tIns="0" bIns="0">
            <a:spAutoFit/>
          </a:bodyPr>
          <a:lstStyle/>
          <a:p>
            <a:pPr>
              <a:lnSpc>
                <a:spcPct val="112000"/>
              </a:lnSpc>
              <a:spcAft>
                <a:spcPts val="700"/>
              </a:spcAft>
              <a:defRPr sz="2400" b="1">
                <a:solidFill>
                  <a:srgbClr val="99621C"/>
                </a:solidFill>
                <a:latin typeface="Aptos"/>
              </a:defRPr>
            </a:pPr>
            <a:r>
              <a:t>BELUM / RENCANA LANJUTAN</a:t>
            </a:r>
          </a:p>
        </p:txBody>
      </p:sp>
      <p:sp>
        <p:nvSpPr>
          <p:cNvPr id="12" name="TextBox 11"/>
          <p:cNvSpPr txBox="1"/>
          <p:nvPr/>
        </p:nvSpPr>
        <p:spPr>
          <a:xfrm>
            <a:off x="12755880" y="4453128"/>
            <a:ext cx="4251960" cy="4069080"/>
          </a:xfrm>
          <a:prstGeom prst="rect">
            <a:avLst/>
          </a:prstGeom>
          <a:noFill/>
        </p:spPr>
        <p:txBody>
          <a:bodyPr wrap="square" lIns="0" rIns="0" tIns="0" bIns="0">
            <a:spAutoFit/>
          </a:bodyPr>
          <a:lstStyle/>
          <a:p>
            <a:pPr>
              <a:lnSpc>
                <a:spcPct val="112000"/>
              </a:lnSpc>
              <a:spcAft>
                <a:spcPts val="700"/>
              </a:spcAft>
              <a:defRPr sz="2200" b="0">
                <a:solidFill>
                  <a:srgbClr val="2D5986"/>
                </a:solidFill>
                <a:latin typeface="Aptos"/>
              </a:defRPr>
            </a:pPr>
            <a:r>
              <a:t>A3  SSH key-only</a:t>
            </a:r>
          </a:p>
          <a:p>
            <a:pPr>
              <a:lnSpc>
                <a:spcPct val="112000"/>
              </a:lnSpc>
              <a:spcAft>
                <a:spcPts val="700"/>
              </a:spcAft>
              <a:defRPr sz="2200" b="0">
                <a:solidFill>
                  <a:srgbClr val="2D5986"/>
                </a:solidFill>
                <a:latin typeface="Aptos"/>
              </a:defRPr>
            </a:pPr>
            <a:r>
              <a:t>A4  Pisahkan akun admin &amp; layanan</a:t>
            </a:r>
          </a:p>
          <a:p>
            <a:pPr>
              <a:lnSpc>
                <a:spcPct val="112000"/>
              </a:lnSpc>
              <a:spcAft>
                <a:spcPts val="700"/>
              </a:spcAft>
              <a:defRPr sz="2200" b="0">
                <a:solidFill>
                  <a:srgbClr val="2D5986"/>
                </a:solidFill>
                <a:latin typeface="Aptos"/>
              </a:defRPr>
            </a:pPr>
            <a:r>
              <a:t>B4  Inventaris versi &amp; patch paket</a:t>
            </a:r>
          </a:p>
          <a:p>
            <a:pPr>
              <a:lnSpc>
                <a:spcPct val="112000"/>
              </a:lnSpc>
              <a:spcAft>
                <a:spcPts val="700"/>
              </a:spcAft>
              <a:defRPr sz="2200" b="0">
                <a:solidFill>
                  <a:srgbClr val="2D5986"/>
                </a:solidFill>
                <a:latin typeface="Aptos"/>
              </a:defRPr>
            </a:pPr>
            <a:r>
              <a:t>B5  HTTPS dashboard / API</a:t>
            </a:r>
          </a:p>
          <a:p>
            <a:pPr>
              <a:lnSpc>
                <a:spcPct val="112000"/>
              </a:lnSpc>
              <a:spcAft>
                <a:spcPts val="700"/>
              </a:spcAft>
              <a:defRPr sz="2200" b="0">
                <a:solidFill>
                  <a:srgbClr val="2D5986"/>
                </a:solidFill>
                <a:latin typeface="Aptos"/>
              </a:defRPr>
            </a:pPr>
            <a:r>
              <a:t>C4  Akses berbasis identitas / peran</a:t>
            </a:r>
          </a:p>
          <a:p>
            <a:pPr>
              <a:lnSpc>
                <a:spcPct val="112000"/>
              </a:lnSpc>
              <a:spcAft>
                <a:spcPts val="700"/>
              </a:spcAft>
              <a:defRPr sz="2200" b="0">
                <a:solidFill>
                  <a:srgbClr val="2D5986"/>
                </a:solidFill>
                <a:latin typeface="Aptos"/>
              </a:defRPr>
            </a:pPr>
            <a:r>
              <a:t>C5  Review &amp; rotasi log terpusat</a:t>
            </a:r>
          </a:p>
          <a:p>
            <a:pPr>
              <a:lnSpc>
                <a:spcPct val="112000"/>
              </a:lnSpc>
              <a:spcAft>
                <a:spcPts val="700"/>
              </a:spcAft>
              <a:defRPr sz="2200" b="0">
                <a:solidFill>
                  <a:srgbClr val="2D5986"/>
                </a:solidFill>
                <a:latin typeface="Aptos"/>
              </a:defRPr>
            </a:pPr>
            <a:r>
              <a:t>C6  Backup terjadwal di luar VM</a:t>
            </a:r>
          </a:p>
          <a:p>
            <a:pPr>
              <a:lnSpc>
                <a:spcPct val="112000"/>
              </a:lnSpc>
              <a:spcAft>
                <a:spcPts val="700"/>
              </a:spcAft>
              <a:defRPr sz="2200" b="0">
                <a:solidFill>
                  <a:srgbClr val="2D5986"/>
                </a:solidFill>
                <a:latin typeface="Aptos"/>
              </a:defRPr>
            </a:pPr>
            <a:r>
              <a:t>C7  Sinkronisasi waktu 3 VM</a:t>
            </a:r>
          </a:p>
          <a:p>
            <a:pPr>
              <a:lnSpc>
                <a:spcPct val="112000"/>
              </a:lnSpc>
              <a:spcAft>
                <a:spcPts val="700"/>
              </a:spcAft>
              <a:defRPr sz="2200" b="0">
                <a:solidFill>
                  <a:srgbClr val="2D5986"/>
                </a:solidFill>
                <a:latin typeface="Aptos"/>
              </a:defRPr>
            </a:pPr>
            <a:r>
              <a:t>C8  Batas ukuran &amp; laju request API</a:t>
            </a:r>
          </a:p>
        </p:txBody>
      </p:sp>
      <p:sp>
        <p:nvSpPr>
          <p:cNvPr id="13" name="TextBox 12"/>
          <p:cNvSpPr txBox="1"/>
          <p:nvPr/>
        </p:nvSpPr>
        <p:spPr>
          <a:xfrm>
            <a:off x="1024128" y="8549640"/>
            <a:ext cx="11109960" cy="731520"/>
          </a:xfrm>
          <a:prstGeom prst="rect">
            <a:avLst/>
          </a:prstGeom>
          <a:noFill/>
        </p:spPr>
        <p:txBody>
          <a:bodyPr wrap="square" lIns="0" rIns="0" tIns="0" bIns="0">
            <a:spAutoFit/>
          </a:bodyPr>
          <a:lstStyle/>
          <a:p>
            <a:pPr>
              <a:lnSpc>
                <a:spcPct val="112000"/>
              </a:lnSpc>
              <a:spcAft>
                <a:spcPts val="700"/>
              </a:spcAft>
              <a:defRPr sz="2000" b="0">
                <a:solidFill>
                  <a:srgbClr val="536B80"/>
                </a:solidFill>
                <a:latin typeface="Aptos"/>
              </a:defRPr>
            </a:pPr>
            <a:r>
              <a:t>Bukti before/after tersimpan per kontrol. A2 adalah Fail2ban, bukan SSH key-only.</a:t>
            </a:r>
          </a:p>
          <a:p>
            <a:pPr>
              <a:lnSpc>
                <a:spcPct val="112000"/>
              </a:lnSpc>
              <a:spcAft>
                <a:spcPts val="700"/>
              </a:spcAft>
              <a:defRPr sz="2000" b="0">
                <a:solidFill>
                  <a:srgbClr val="536B80"/>
                </a:solidFill>
                <a:latin typeface="Aptos"/>
              </a:defRPr>
            </a:pPr>
            <a:r>
              <a:t>Batas bukti: log impor backup dan pemulihan akses SSH belum didokumentasikan terpisah.</a:t>
            </a:r>
          </a:p>
        </p:txBody>
      </p:sp>
      <p:sp>
        <p:nvSpPr>
          <p:cNvPr id="14" name="TextBox 13"/>
          <p:cNvSpPr txBox="1"/>
          <p:nvPr/>
        </p:nvSpPr>
        <p:spPr>
          <a:xfrm>
            <a:off x="1024128" y="9765792"/>
            <a:ext cx="15087600" cy="292608"/>
          </a:xfrm>
          <a:prstGeom prst="rect">
            <a:avLst/>
          </a:prstGeom>
          <a:noFill/>
        </p:spPr>
        <p:txBody>
          <a:bodyPr wrap="square" lIns="0" rIns="0" tIns="0" bIns="0">
            <a:spAutoFit/>
          </a:bodyPr>
          <a:lstStyle/>
          <a:p>
            <a:pPr>
              <a:lnSpc>
                <a:spcPct val="112000"/>
              </a:lnSpc>
              <a:spcAft>
                <a:spcPts val="700"/>
              </a:spcAft>
              <a:defRPr sz="1600" b="0">
                <a:solidFill>
                  <a:srgbClr val="536B80"/>
                </a:solidFill>
                <a:latin typeface="Aptos"/>
              </a:defRPr>
            </a:pPr>
            <a:r>
              <a:rPr>
                <a:hlinkClick r:id="rId12"/>
              </a:rPr>
              <a:t>SUMBER  ../blueteam/hardening_checklist.md · tautan screenshot before/after per kontrol</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1737360" y="1033271"/>
            <a:ext cx="8229600" cy="457200"/>
          </a:xfrm>
          <a:prstGeom prst="rect">
            <a:avLst/>
          </a:prstGeom>
          <a:noFill/>
        </p:spPr>
        <p:txBody>
          <a:bodyPr wrap="square" lIns="0" rIns="0" tIns="0" bIns="0">
            <a:spAutoFit/>
          </a:bodyPr>
          <a:lstStyle/>
          <a:p>
            <a:pPr>
              <a:lnSpc>
                <a:spcPct val="112000"/>
              </a:lnSpc>
              <a:spcAft>
                <a:spcPts val="700"/>
              </a:spcAft>
              <a:defRPr sz="2300" b="1">
                <a:solidFill>
                  <a:srgbClr val="2D5986"/>
                </a:solidFill>
                <a:latin typeface="Aptos"/>
              </a:defRPr>
            </a:pPr>
            <a:r>
              <a:t>KELOMPOK 10  /  TEK1314 · KEAMANAN SIBER</a:t>
            </a:r>
          </a:p>
        </p:txBody>
      </p:sp>
      <p:sp>
        <p:nvSpPr>
          <p:cNvPr id="4" name="TextBox 3"/>
          <p:cNvSpPr txBox="1"/>
          <p:nvPr/>
        </p:nvSpPr>
        <p:spPr>
          <a:xfrm>
            <a:off x="13761720" y="1060704"/>
            <a:ext cx="3474720" cy="365760"/>
          </a:xfrm>
          <a:prstGeom prst="rect">
            <a:avLst/>
          </a:prstGeom>
          <a:noFill/>
        </p:spPr>
        <p:txBody>
          <a:bodyPr wrap="square" lIns="0" rIns="0" tIns="0" bIns="0">
            <a:spAutoFit/>
          </a:bodyPr>
          <a:lstStyle/>
          <a:p>
            <a:pPr algn="r">
              <a:lnSpc>
                <a:spcPct val="112000"/>
              </a:lnSpc>
              <a:spcAft>
                <a:spcPts val="700"/>
              </a:spcAft>
              <a:defRPr sz="2000" b="0">
                <a:solidFill>
                  <a:srgbClr val="2D5986"/>
                </a:solidFill>
                <a:latin typeface="Aptos"/>
              </a:defRPr>
            </a:pPr>
            <a:r>
              <a:t>MINGGU 09  ·  POIN 4 · 2/2</a:t>
            </a:r>
          </a:p>
        </p:txBody>
      </p:sp>
      <p:sp>
        <p:nvSpPr>
          <p:cNvPr id="5" name="TextBox 4"/>
          <p:cNvSpPr txBox="1"/>
          <p:nvPr/>
        </p:nvSpPr>
        <p:spPr>
          <a:xfrm>
            <a:off x="1024128" y="1828800"/>
            <a:ext cx="16230600" cy="914400"/>
          </a:xfrm>
          <a:prstGeom prst="rect">
            <a:avLst/>
          </a:prstGeom>
          <a:noFill/>
        </p:spPr>
        <p:txBody>
          <a:bodyPr wrap="square" lIns="0" rIns="0" tIns="0" bIns="0">
            <a:spAutoFit/>
          </a:bodyPr>
          <a:lstStyle/>
          <a:p>
            <a:pPr>
              <a:lnSpc>
                <a:spcPct val="112000"/>
              </a:lnSpc>
              <a:spcAft>
                <a:spcPts val="700"/>
              </a:spcAft>
              <a:defRPr sz="5500" b="0">
                <a:solidFill>
                  <a:srgbClr val="2D5986"/>
                </a:solidFill>
                <a:latin typeface="Anton"/>
              </a:defRPr>
            </a:pPr>
            <a:r>
              <a:t>Baseline Trafik Normal &amp; Bukti Monitoring</a:t>
            </a:r>
          </a:p>
        </p:txBody>
      </p:sp>
      <p:sp>
        <p:nvSpPr>
          <p:cNvPr id="6" name="TextBox 5"/>
          <p:cNvSpPr txBox="1"/>
          <p:nvPr/>
        </p:nvSpPr>
        <p:spPr>
          <a:xfrm>
            <a:off x="1024128" y="2761488"/>
            <a:ext cx="16230600" cy="502920"/>
          </a:xfrm>
          <a:prstGeom prst="rect">
            <a:avLst/>
          </a:prstGeom>
          <a:noFill/>
        </p:spPr>
        <p:txBody>
          <a:bodyPr wrap="square" lIns="0" rIns="0" tIns="0" bIns="0">
            <a:spAutoFit/>
          </a:bodyPr>
          <a:lstStyle/>
          <a:p>
            <a:pPr>
              <a:lnSpc>
                <a:spcPct val="112000"/>
              </a:lnSpc>
              <a:spcAft>
                <a:spcPts val="700"/>
              </a:spcAft>
              <a:defRPr sz="2400" b="0">
                <a:solidFill>
                  <a:srgbClr val="536B80"/>
                </a:solidFill>
                <a:latin typeface="Aptos"/>
              </a:defRPr>
            </a:pPr>
            <a:r>
              <a:t>CyberOps 192.168.10.100 → Ubuntu 192.168.10.5 · data dummy · pengamatan Sguil dan tcpdump.</a:t>
            </a:r>
          </a:p>
        </p:txBody>
      </p:sp>
      <p:sp>
        <p:nvSpPr>
          <p:cNvPr id="7" name="Rectangle 6"/>
          <p:cNvSpPr/>
          <p:nvPr/>
        </p:nvSpPr>
        <p:spPr>
          <a:xfrm>
            <a:off x="1024128" y="9637776"/>
            <a:ext cx="16230600" cy="16459"/>
          </a:xfrm>
          <a:prstGeom prst="rect">
            <a:avLst/>
          </a:prstGeom>
          <a:solidFill>
            <a:srgbClr val="CB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550640" y="9774936"/>
            <a:ext cx="685800" cy="274320"/>
          </a:xfrm>
          <a:prstGeom prst="rect">
            <a:avLst/>
          </a:prstGeom>
          <a:noFill/>
        </p:spPr>
        <p:txBody>
          <a:bodyPr wrap="square" lIns="0" rIns="0" tIns="0" bIns="0">
            <a:spAutoFit/>
          </a:bodyPr>
          <a:lstStyle/>
          <a:p>
            <a:pPr algn="r">
              <a:lnSpc>
                <a:spcPct val="112000"/>
              </a:lnSpc>
              <a:spcAft>
                <a:spcPts val="700"/>
              </a:spcAft>
              <a:defRPr sz="1700" b="0">
                <a:solidFill>
                  <a:srgbClr val="536B80"/>
                </a:solidFill>
                <a:latin typeface="Aptos"/>
              </a:defRPr>
            </a:pPr>
            <a:r>
              <a:t>05</a:t>
            </a:r>
          </a:p>
        </p:txBody>
      </p:sp>
      <p:sp>
        <p:nvSpPr>
          <p:cNvPr id="9" name="Rounded Rectangle 8"/>
          <p:cNvSpPr/>
          <p:nvPr/>
        </p:nvSpPr>
        <p:spPr>
          <a:xfrm>
            <a:off x="1024128" y="3611880"/>
            <a:ext cx="7909560" cy="1847088"/>
          </a:xfrm>
          <a:prstGeom prst="roundRect">
            <a:avLst>
              <a:gd name="adj" fmla="val 6000"/>
            </a:avLst>
          </a:prstGeom>
          <a:solidFill>
            <a:srgbClr val="E7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785615"/>
            <a:ext cx="7388352" cy="365760"/>
          </a:xfrm>
          <a:prstGeom prst="rect">
            <a:avLst/>
          </a:prstGeom>
          <a:noFill/>
        </p:spPr>
        <p:txBody>
          <a:bodyPr wrap="square" lIns="0" rIns="0" tIns="0" bIns="0">
            <a:spAutoFit/>
          </a:bodyPr>
          <a:lstStyle/>
          <a:p>
            <a:pPr>
              <a:lnSpc>
                <a:spcPct val="112000"/>
              </a:lnSpc>
              <a:spcAft>
                <a:spcPts val="700"/>
              </a:spcAft>
              <a:defRPr sz="2400" b="1">
                <a:solidFill>
                  <a:srgbClr val="2D5986"/>
                </a:solidFill>
                <a:latin typeface="Aptos"/>
              </a:defRPr>
            </a:pPr>
            <a:r>
              <a:t>ICMP  /  UJI KONEKTIVITAS</a:t>
            </a:r>
          </a:p>
        </p:txBody>
      </p:sp>
      <p:sp>
        <p:nvSpPr>
          <p:cNvPr id="11" name="TextBox 10"/>
          <p:cNvSpPr txBox="1"/>
          <p:nvPr/>
        </p:nvSpPr>
        <p:spPr>
          <a:xfrm>
            <a:off x="1280160" y="4352544"/>
            <a:ext cx="7388352" cy="950976"/>
          </a:xfrm>
          <a:prstGeom prst="rect">
            <a:avLst/>
          </a:prstGeom>
          <a:noFill/>
        </p:spPr>
        <p:txBody>
          <a:bodyPr wrap="square" lIns="0" rIns="0" tIns="0" bIns="0">
            <a:spAutoFit/>
          </a:bodyPr>
          <a:lstStyle/>
          <a:p>
            <a:pPr>
              <a:lnSpc>
                <a:spcPct val="112000"/>
              </a:lnSpc>
              <a:spcAft>
                <a:spcPts val="700"/>
              </a:spcAft>
              <a:defRPr sz="2500" b="0">
                <a:solidFill>
                  <a:srgbClr val="2D5986"/>
                </a:solidFill>
                <a:latin typeface="Aptos"/>
              </a:defRPr>
            </a:pPr>
            <a:r>
              <a:t>Ping mendapat balasan; Sguil mencatat</a:t>
            </a:r>
          </a:p>
          <a:p>
            <a:pPr>
              <a:lnSpc>
                <a:spcPct val="112000"/>
              </a:lnSpc>
              <a:spcAft>
                <a:spcPts val="700"/>
              </a:spcAft>
              <a:defRPr sz="2500" b="0">
                <a:solidFill>
                  <a:srgbClr val="2D5986"/>
                </a:solidFill>
                <a:latin typeface="Aptos"/>
              </a:defRPr>
            </a:pPr>
            <a:r>
              <a:t>GPL ICMP_INFO PING *NIX dari .100 ke .5.</a:t>
            </a:r>
          </a:p>
        </p:txBody>
      </p:sp>
      <p:sp>
        <p:nvSpPr>
          <p:cNvPr id="12" name="Rounded Rectangle 11"/>
          <p:cNvSpPr/>
          <p:nvPr/>
        </p:nvSpPr>
        <p:spPr>
          <a:xfrm>
            <a:off x="9272016" y="3611880"/>
            <a:ext cx="7982712" cy="1847088"/>
          </a:xfrm>
          <a:prstGeom prst="roundRect">
            <a:avLst>
              <a:gd name="adj" fmla="val 6000"/>
            </a:avLst>
          </a:prstGeom>
          <a:solidFill>
            <a:srgbClr val="E7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28048" y="3785615"/>
            <a:ext cx="7406640" cy="365760"/>
          </a:xfrm>
          <a:prstGeom prst="rect">
            <a:avLst/>
          </a:prstGeom>
          <a:noFill/>
        </p:spPr>
        <p:txBody>
          <a:bodyPr wrap="square" lIns="0" rIns="0" tIns="0" bIns="0">
            <a:spAutoFit/>
          </a:bodyPr>
          <a:lstStyle/>
          <a:p>
            <a:pPr>
              <a:lnSpc>
                <a:spcPct val="112000"/>
              </a:lnSpc>
              <a:spcAft>
                <a:spcPts val="700"/>
              </a:spcAft>
              <a:defRPr sz="2400" b="1">
                <a:solidFill>
                  <a:srgbClr val="2D5986"/>
                </a:solidFill>
                <a:latin typeface="Aptos"/>
              </a:defRPr>
            </a:pPr>
            <a:r>
              <a:t>HTTP :80  /  PEMBACAAN API</a:t>
            </a:r>
          </a:p>
        </p:txBody>
      </p:sp>
      <p:sp>
        <p:nvSpPr>
          <p:cNvPr id="14" name="TextBox 13"/>
          <p:cNvSpPr txBox="1"/>
          <p:nvPr/>
        </p:nvSpPr>
        <p:spPr>
          <a:xfrm>
            <a:off x="9528048" y="4352544"/>
            <a:ext cx="7406640" cy="950976"/>
          </a:xfrm>
          <a:prstGeom prst="rect">
            <a:avLst/>
          </a:prstGeom>
          <a:noFill/>
        </p:spPr>
        <p:txBody>
          <a:bodyPr wrap="square" lIns="0" rIns="0" tIns="0" bIns="0">
            <a:spAutoFit/>
          </a:bodyPr>
          <a:lstStyle/>
          <a:p>
            <a:pPr>
              <a:lnSpc>
                <a:spcPct val="112000"/>
              </a:lnSpc>
              <a:spcAft>
                <a:spcPts val="700"/>
              </a:spcAft>
              <a:defRPr sz="2500" b="0">
                <a:solidFill>
                  <a:srgbClr val="2D5986"/>
                </a:solidFill>
                <a:latin typeface="Aptos"/>
              </a:defRPr>
            </a:pPr>
            <a:r>
              <a:t>GET /api/sensor dan /api/history → 200 OK.</a:t>
            </a:r>
          </a:p>
          <a:p>
            <a:pPr>
              <a:lnSpc>
                <a:spcPct val="112000"/>
              </a:lnSpc>
              <a:spcAft>
                <a:spcPts val="700"/>
              </a:spcAft>
              <a:defRPr sz="2500" b="0">
                <a:solidFill>
                  <a:srgbClr val="2D5986"/>
                </a:solidFill>
                <a:latin typeface="Aptos"/>
              </a:defRPr>
            </a:pPr>
            <a:r>
              <a:t>Event kebijakan curl terlihat pada Sguil.</a:t>
            </a:r>
          </a:p>
        </p:txBody>
      </p:sp>
      <p:pic>
        <p:nvPicPr>
          <p:cNvPr id="15" name="Picture 14" descr="image.png">
            <a:hlinkClick r:id="rId15"/>
          </p:cNvPr>
          <p:cNvPicPr>
            <a:picLocks noChangeAspect="1"/>
          </p:cNvPicPr>
          <p:nvPr/>
        </p:nvPicPr>
        <p:blipFill>
          <a:blip r:embed="rId14"/>
          <a:stretch>
            <a:fillRect/>
          </a:stretch>
        </p:blipFill>
        <p:spPr>
          <a:xfrm>
            <a:off x="1024128" y="6091801"/>
            <a:ext cx="7909560" cy="1413524"/>
          </a:xfrm>
          <a:prstGeom prst="rect">
            <a:avLst/>
          </a:prstGeom>
        </p:spPr>
      </p:pic>
      <p:sp>
        <p:nvSpPr>
          <p:cNvPr id="16" name="TextBox 15"/>
          <p:cNvSpPr txBox="1"/>
          <p:nvPr/>
        </p:nvSpPr>
        <p:spPr>
          <a:xfrm>
            <a:off x="1024128" y="7973568"/>
            <a:ext cx="7909560" cy="420624"/>
          </a:xfrm>
          <a:prstGeom prst="rect">
            <a:avLst/>
          </a:prstGeom>
          <a:noFill/>
        </p:spPr>
        <p:txBody>
          <a:bodyPr wrap="square" lIns="0" rIns="0" tIns="0" bIns="0">
            <a:spAutoFit/>
          </a:bodyPr>
          <a:lstStyle/>
          <a:p>
            <a:pPr>
              <a:lnSpc>
                <a:spcPct val="112000"/>
              </a:lnSpc>
              <a:spcAft>
                <a:spcPts val="700"/>
              </a:spcAft>
              <a:defRPr sz="2000" b="0">
                <a:solidFill>
                  <a:srgbClr val="536B80"/>
                </a:solidFill>
                <a:latin typeface="Aptos"/>
              </a:defRPr>
            </a:pPr>
            <a:r>
              <a:t>B03 · Sguil: event ping dan curl (cuplikan bukti).</a:t>
            </a:r>
          </a:p>
        </p:txBody>
      </p:sp>
      <p:pic>
        <p:nvPicPr>
          <p:cNvPr id="17" name="Picture 16" descr="image.png">
            <a:hlinkClick r:id="rId17"/>
          </p:cNvPr>
          <p:cNvPicPr>
            <a:picLocks noChangeAspect="1"/>
          </p:cNvPicPr>
          <p:nvPr/>
        </p:nvPicPr>
        <p:blipFill>
          <a:blip r:embed="rId16"/>
          <a:stretch>
            <a:fillRect/>
          </a:stretch>
        </p:blipFill>
        <p:spPr>
          <a:xfrm>
            <a:off x="9531103" y="5769864"/>
            <a:ext cx="7464536" cy="2057400"/>
          </a:xfrm>
          <a:prstGeom prst="rect">
            <a:avLst/>
          </a:prstGeom>
        </p:spPr>
      </p:pic>
      <p:sp>
        <p:nvSpPr>
          <p:cNvPr id="18" name="TextBox 17"/>
          <p:cNvSpPr txBox="1"/>
          <p:nvPr/>
        </p:nvSpPr>
        <p:spPr>
          <a:xfrm>
            <a:off x="9272016" y="7973568"/>
            <a:ext cx="7982712" cy="420624"/>
          </a:xfrm>
          <a:prstGeom prst="rect">
            <a:avLst/>
          </a:prstGeom>
          <a:noFill/>
        </p:spPr>
        <p:txBody>
          <a:bodyPr wrap="square" lIns="0" rIns="0" tIns="0" bIns="0">
            <a:spAutoFit/>
          </a:bodyPr>
          <a:lstStyle/>
          <a:p>
            <a:pPr>
              <a:lnSpc>
                <a:spcPct val="112000"/>
              </a:lnSpc>
              <a:spcAft>
                <a:spcPts val="700"/>
              </a:spcAft>
              <a:defRPr sz="2000" b="0">
                <a:solidFill>
                  <a:srgbClr val="536B80"/>
                </a:solidFill>
                <a:latin typeface="Aptos"/>
              </a:defRPr>
            </a:pPr>
            <a:r>
              <a:t>B06 · tcpdump: request API dan respons HTTP 200.</a:t>
            </a:r>
          </a:p>
        </p:txBody>
      </p:sp>
      <p:sp>
        <p:nvSpPr>
          <p:cNvPr id="19" name="TextBox 18"/>
          <p:cNvSpPr txBox="1"/>
          <p:nvPr/>
        </p:nvSpPr>
        <p:spPr>
          <a:xfrm>
            <a:off x="1024128" y="8641080"/>
            <a:ext cx="16230600" cy="868680"/>
          </a:xfrm>
          <a:prstGeom prst="rect">
            <a:avLst/>
          </a:prstGeom>
          <a:noFill/>
        </p:spPr>
        <p:txBody>
          <a:bodyPr wrap="square" lIns="0" rIns="0" tIns="0" bIns="0">
            <a:spAutoFit/>
          </a:bodyPr>
          <a:lstStyle/>
          <a:p>
            <a:pPr>
              <a:lnSpc>
                <a:spcPct val="112000"/>
              </a:lnSpc>
              <a:spcAft>
                <a:spcPts val="700"/>
              </a:spcAft>
              <a:defRPr sz="2200" b="0">
                <a:solidFill>
                  <a:srgbClr val="536B80"/>
                </a:solidFill>
                <a:latin typeface="Aptos"/>
              </a:defRPr>
            </a:pPr>
            <a:r>
              <a:t>INTERPRETASI  Event ping/curl bukan otomatis serangan. Interval ±5 detik masih rancangan, bukan statistik terukur.</a:t>
            </a:r>
          </a:p>
          <a:p>
            <a:pPr>
              <a:lnSpc>
                <a:spcPct val="112000"/>
              </a:lnSpc>
              <a:spcAft>
                <a:spcPts val="700"/>
              </a:spcAft>
              <a:defRPr sz="2200" b="0">
                <a:solidFill>
                  <a:srgbClr val="536B80"/>
                </a:solidFill>
                <a:latin typeface="Aptos"/>
              </a:defRPr>
            </a:pPr>
            <a:r>
              <a:t>Loopback :9000 tidak tercakup; temuan port 9000 pada bukti lama perlu diverifikasi ulang sebelum demo.</a:t>
            </a:r>
          </a:p>
        </p:txBody>
      </p:sp>
      <p:sp>
        <p:nvSpPr>
          <p:cNvPr id="20" name="TextBox 19"/>
          <p:cNvSpPr txBox="1"/>
          <p:nvPr/>
        </p:nvSpPr>
        <p:spPr>
          <a:xfrm>
            <a:off x="1024128" y="9765792"/>
            <a:ext cx="15087600" cy="292608"/>
          </a:xfrm>
          <a:prstGeom prst="rect">
            <a:avLst/>
          </a:prstGeom>
          <a:noFill/>
        </p:spPr>
        <p:txBody>
          <a:bodyPr wrap="square" lIns="0" rIns="0" tIns="0" bIns="0">
            <a:spAutoFit/>
          </a:bodyPr>
          <a:lstStyle/>
          <a:p>
            <a:pPr>
              <a:lnSpc>
                <a:spcPct val="112000"/>
              </a:lnSpc>
              <a:spcAft>
                <a:spcPts val="700"/>
              </a:spcAft>
              <a:defRPr sz="1600" b="0">
                <a:solidFill>
                  <a:srgbClr val="536B80"/>
                </a:solidFill>
                <a:latin typeface="Aptos"/>
              </a:defRPr>
            </a:pPr>
            <a:r>
              <a:rPr>
                <a:hlinkClick r:id="rId18"/>
              </a:rPr>
              <a:t>SUMBER  ../blueteam/baseline_traffic.md · screenshot dapat diklik untuk membuka bukti utuh</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id="3" name="TextBox 2"/>
          <p:cNvSpPr txBox="1"/>
          <p:nvPr/>
        </p:nvSpPr>
        <p:spPr>
          <a:xfrm>
            <a:off x="1737360" y="1033271"/>
            <a:ext cx="8229600" cy="457200"/>
          </a:xfrm>
          <a:prstGeom prst="rect">
            <a:avLst/>
          </a:prstGeom>
          <a:noFill/>
        </p:spPr>
        <p:txBody>
          <a:bodyPr wrap="square" lIns="0" rIns="0" tIns="0" bIns="0">
            <a:spAutoFit/>
          </a:bodyPr>
          <a:lstStyle/>
          <a:p>
            <a:pPr>
              <a:lnSpc>
                <a:spcPct val="112000"/>
              </a:lnSpc>
              <a:spcAft>
                <a:spcPts val="700"/>
              </a:spcAft>
              <a:defRPr sz="2300" b="1">
                <a:solidFill>
                  <a:srgbClr val="2D5986"/>
                </a:solidFill>
                <a:latin typeface="Aptos"/>
              </a:defRPr>
            </a:pPr>
            <a:r>
              <a:t>KELOMPOK 10  /  TEK1314 · KEAMANAN SIBER</a:t>
            </a:r>
          </a:p>
        </p:txBody>
      </p:sp>
      <p:sp>
        <p:nvSpPr>
          <p:cNvPr id="4" name="TextBox 3"/>
          <p:cNvSpPr txBox="1"/>
          <p:nvPr/>
        </p:nvSpPr>
        <p:spPr>
          <a:xfrm>
            <a:off x="13761720" y="1060704"/>
            <a:ext cx="3474720" cy="365760"/>
          </a:xfrm>
          <a:prstGeom prst="rect">
            <a:avLst/>
          </a:prstGeom>
          <a:noFill/>
        </p:spPr>
        <p:txBody>
          <a:bodyPr wrap="square" lIns="0" rIns="0" tIns="0" bIns="0">
            <a:spAutoFit/>
          </a:bodyPr>
          <a:lstStyle/>
          <a:p>
            <a:pPr algn="r">
              <a:lnSpc>
                <a:spcPct val="112000"/>
              </a:lnSpc>
              <a:spcAft>
                <a:spcPts val="700"/>
              </a:spcAft>
              <a:defRPr sz="2000" b="0">
                <a:solidFill>
                  <a:srgbClr val="2D5986"/>
                </a:solidFill>
                <a:latin typeface="Aptos"/>
              </a:defRPr>
            </a:pPr>
            <a:r>
              <a:t>MINGGU 09  ·  POIN 5</a:t>
            </a:r>
          </a:p>
        </p:txBody>
      </p:sp>
      <p:sp>
        <p:nvSpPr>
          <p:cNvPr id="5" name="TextBox 4"/>
          <p:cNvSpPr txBox="1"/>
          <p:nvPr/>
        </p:nvSpPr>
        <p:spPr>
          <a:xfrm>
            <a:off x="1024128" y="1828800"/>
            <a:ext cx="16230600" cy="914400"/>
          </a:xfrm>
          <a:prstGeom prst="rect">
            <a:avLst/>
          </a:prstGeom>
          <a:noFill/>
        </p:spPr>
        <p:txBody>
          <a:bodyPr wrap="square" lIns="0" rIns="0" tIns="0" bIns="0">
            <a:spAutoFit/>
          </a:bodyPr>
          <a:lstStyle/>
          <a:p>
            <a:pPr>
              <a:lnSpc>
                <a:spcPct val="112000"/>
              </a:lnSpc>
              <a:spcAft>
                <a:spcPts val="700"/>
              </a:spcAft>
              <a:defRPr sz="5500" b="0">
                <a:solidFill>
                  <a:srgbClr val="2D5986"/>
                </a:solidFill>
                <a:latin typeface="Anton"/>
              </a:defRPr>
            </a:pPr>
            <a:r>
              <a:t>Live Demo Singkat: Security Onion</a:t>
            </a:r>
          </a:p>
        </p:txBody>
      </p:sp>
      <p:sp>
        <p:nvSpPr>
          <p:cNvPr id="6" name="TextBox 5"/>
          <p:cNvSpPr txBox="1"/>
          <p:nvPr/>
        </p:nvSpPr>
        <p:spPr>
          <a:xfrm>
            <a:off x="1024128" y="2761488"/>
            <a:ext cx="16230600" cy="502920"/>
          </a:xfrm>
          <a:prstGeom prst="rect">
            <a:avLst/>
          </a:prstGeom>
          <a:noFill/>
        </p:spPr>
        <p:txBody>
          <a:bodyPr wrap="square" lIns="0" rIns="0" tIns="0" bIns="0">
            <a:spAutoFit/>
          </a:bodyPr>
          <a:lstStyle/>
          <a:p>
            <a:pPr>
              <a:lnSpc>
                <a:spcPct val="112000"/>
              </a:lnSpc>
              <a:spcAft>
                <a:spcPts val="700"/>
              </a:spcAft>
              <a:defRPr sz="2400" b="0">
                <a:solidFill>
                  <a:srgbClr val="536B80"/>
                </a:solidFill>
                <a:latin typeface="Aptos"/>
              </a:defRPr>
            </a:pPr>
            <a:r>
              <a:t>Target demo ±2–3 menit · buktikan visibilitas trafik normal, bukan serangan sungguhan.</a:t>
            </a:r>
          </a:p>
        </p:txBody>
      </p:sp>
      <p:sp>
        <p:nvSpPr>
          <p:cNvPr id="7" name="Rectangle 6"/>
          <p:cNvSpPr/>
          <p:nvPr/>
        </p:nvSpPr>
        <p:spPr>
          <a:xfrm>
            <a:off x="1024128" y="9637776"/>
            <a:ext cx="16230600" cy="16459"/>
          </a:xfrm>
          <a:prstGeom prst="rect">
            <a:avLst/>
          </a:prstGeom>
          <a:solidFill>
            <a:srgbClr val="CBD6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550640" y="9774936"/>
            <a:ext cx="685800" cy="274320"/>
          </a:xfrm>
          <a:prstGeom prst="rect">
            <a:avLst/>
          </a:prstGeom>
          <a:noFill/>
        </p:spPr>
        <p:txBody>
          <a:bodyPr wrap="square" lIns="0" rIns="0" tIns="0" bIns="0">
            <a:spAutoFit/>
          </a:bodyPr>
          <a:lstStyle/>
          <a:p>
            <a:pPr algn="r">
              <a:lnSpc>
                <a:spcPct val="112000"/>
              </a:lnSpc>
              <a:spcAft>
                <a:spcPts val="700"/>
              </a:spcAft>
              <a:defRPr sz="1700" b="0">
                <a:solidFill>
                  <a:srgbClr val="536B80"/>
                </a:solidFill>
                <a:latin typeface="Aptos"/>
              </a:defRPr>
            </a:pPr>
            <a:r>
              <a:t>06</a:t>
            </a:r>
          </a:p>
        </p:txBody>
      </p:sp>
      <p:sp>
        <p:nvSpPr>
          <p:cNvPr id="9" name="Rounded Rectangle 8"/>
          <p:cNvSpPr/>
          <p:nvPr/>
        </p:nvSpPr>
        <p:spPr>
          <a:xfrm>
            <a:off x="1024128" y="3611880"/>
            <a:ext cx="7635240" cy="5605272"/>
          </a:xfrm>
          <a:prstGeom prst="roundRect">
            <a:avLst>
              <a:gd name="adj" fmla="val 6000"/>
            </a:avLst>
          </a:prstGeom>
          <a:solidFill>
            <a:srgbClr val="E7ED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07592" y="3813048"/>
            <a:ext cx="7068312" cy="457200"/>
          </a:xfrm>
          <a:prstGeom prst="rect">
            <a:avLst/>
          </a:prstGeom>
          <a:noFill/>
        </p:spPr>
        <p:txBody>
          <a:bodyPr wrap="square" lIns="0" rIns="0" tIns="0" bIns="0">
            <a:spAutoFit/>
          </a:bodyPr>
          <a:lstStyle/>
          <a:p>
            <a:pPr>
              <a:lnSpc>
                <a:spcPct val="112000"/>
              </a:lnSpc>
              <a:spcAft>
                <a:spcPts val="700"/>
              </a:spcAft>
              <a:defRPr sz="2700" b="1">
                <a:solidFill>
                  <a:srgbClr val="2D5986"/>
                </a:solidFill>
                <a:latin typeface="Aptos"/>
              </a:defRPr>
            </a:pPr>
            <a:r>
              <a:t>URUTAN DEMO DI LAYAR</a:t>
            </a:r>
          </a:p>
        </p:txBody>
      </p:sp>
      <p:sp>
        <p:nvSpPr>
          <p:cNvPr id="11" name="TextBox 10"/>
          <p:cNvSpPr txBox="1"/>
          <p:nvPr/>
        </p:nvSpPr>
        <p:spPr>
          <a:xfrm>
            <a:off x="1307592" y="4517136"/>
            <a:ext cx="7068312" cy="1216152"/>
          </a:xfrm>
          <a:prstGeom prst="rect">
            <a:avLst/>
          </a:prstGeom>
          <a:noFill/>
        </p:spPr>
        <p:txBody>
          <a:bodyPr wrap="square" lIns="0" rIns="0" tIns="0" bIns="0">
            <a:spAutoFit/>
          </a:bodyPr>
          <a:lstStyle/>
          <a:p>
            <a:pPr>
              <a:lnSpc>
                <a:spcPct val="112000"/>
              </a:lnSpc>
              <a:spcAft>
                <a:spcPts val="700"/>
              </a:spcAft>
              <a:defRPr sz="2500" b="0">
                <a:solidFill>
                  <a:srgbClr val="2D5986"/>
                </a:solidFill>
                <a:latin typeface="Aptos"/>
              </a:defRPr>
            </a:pPr>
            <a:r>
              <a:t>01  Security Onion: cek sudo so-status; buka Sguil.</a:t>
            </a:r>
          </a:p>
          <a:p>
            <a:pPr>
              <a:lnSpc>
                <a:spcPct val="112000"/>
              </a:lnSpc>
              <a:spcAft>
                <a:spcPts val="700"/>
              </a:spcAft>
              <a:defRPr sz="2500" b="0">
                <a:solidFill>
                  <a:srgbClr val="2D5986"/>
                </a:solidFill>
                <a:latin typeface="Aptos"/>
              </a:defRPr>
            </a:pPr>
            <a:r>
              <a:t>02  CyberOps: kirim ping dan GET ke API Target.</a:t>
            </a:r>
          </a:p>
        </p:txBody>
      </p:sp>
      <p:sp>
        <p:nvSpPr>
          <p:cNvPr id="12" name="Rounded Rectangle 11"/>
          <p:cNvSpPr/>
          <p:nvPr/>
        </p:nvSpPr>
        <p:spPr>
          <a:xfrm>
            <a:off x="1307592" y="5852160"/>
            <a:ext cx="7068312" cy="932688"/>
          </a:xfrm>
          <a:prstGeom prst="roundRect">
            <a:avLst>
              <a:gd name="adj" fmla="val 6000"/>
            </a:avLst>
          </a:prstGeom>
          <a:solidFill>
            <a:srgbClr val="183A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490472" y="5943600"/>
            <a:ext cx="6720840" cy="777240"/>
          </a:xfrm>
          <a:prstGeom prst="rect">
            <a:avLst/>
          </a:prstGeom>
          <a:noFill/>
        </p:spPr>
        <p:txBody>
          <a:bodyPr wrap="square" lIns="0" rIns="0" tIns="0" bIns="0">
            <a:spAutoFit/>
          </a:bodyPr>
          <a:lstStyle/>
          <a:p>
            <a:pPr>
              <a:lnSpc>
                <a:spcPct val="112000"/>
              </a:lnSpc>
              <a:spcAft>
                <a:spcPts val="0"/>
              </a:spcAft>
              <a:defRPr sz="2200" b="0">
                <a:solidFill>
                  <a:srgbClr val="FFFFFF"/>
                </a:solidFill>
                <a:latin typeface="Consolas"/>
              </a:defRPr>
            </a:pPr>
            <a:r>
              <a:t>ping -c 4 192.168.10.5</a:t>
            </a:r>
          </a:p>
          <a:p>
            <a:pPr>
              <a:lnSpc>
                <a:spcPct val="112000"/>
              </a:lnSpc>
              <a:spcAft>
                <a:spcPts val="0"/>
              </a:spcAft>
              <a:defRPr sz="2200" b="0">
                <a:solidFill>
                  <a:srgbClr val="FFFFFF"/>
                </a:solidFill>
                <a:latin typeface="Consolas"/>
              </a:defRPr>
            </a:pPr>
            <a:r>
              <a:t>curl -i http://192.168.10.5/api/sensor</a:t>
            </a:r>
          </a:p>
        </p:txBody>
      </p:sp>
      <p:sp>
        <p:nvSpPr>
          <p:cNvPr id="14" name="TextBox 13"/>
          <p:cNvSpPr txBox="1"/>
          <p:nvPr/>
        </p:nvSpPr>
        <p:spPr>
          <a:xfrm>
            <a:off x="1307592" y="7059168"/>
            <a:ext cx="7068312" cy="1938528"/>
          </a:xfrm>
          <a:prstGeom prst="rect">
            <a:avLst/>
          </a:prstGeom>
          <a:noFill/>
        </p:spPr>
        <p:txBody>
          <a:bodyPr wrap="square" lIns="0" rIns="0" tIns="0" bIns="0">
            <a:spAutoFit/>
          </a:bodyPr>
          <a:lstStyle/>
          <a:p>
            <a:pPr>
              <a:lnSpc>
                <a:spcPct val="112000"/>
              </a:lnSpc>
              <a:spcAft>
                <a:spcPts val="700"/>
              </a:spcAft>
              <a:defRPr sz="2400" b="0">
                <a:solidFill>
                  <a:srgbClr val="2D5986"/>
                </a:solidFill>
                <a:latin typeface="Aptos"/>
              </a:defRPr>
            </a:pPr>
            <a:r>
              <a:t>03  Sguil: cocokkan waktu, IP .100 → .5, dan event.</a:t>
            </a:r>
          </a:p>
          <a:p>
            <a:pPr>
              <a:lnSpc>
                <a:spcPct val="112000"/>
              </a:lnSpc>
              <a:spcAft>
                <a:spcPts val="700"/>
              </a:spcAft>
              <a:defRPr sz="2400" b="0">
                <a:solidFill>
                  <a:srgbClr val="2D5986"/>
                </a:solidFill>
                <a:latin typeface="Aptos"/>
              </a:defRPr>
            </a:pPr>
            <a:r>
              <a:t>04  Konfirmasi ping reply + HTTP 200 / JSON.</a:t>
            </a:r>
          </a:p>
          <a:p>
            <a:pPr>
              <a:lnSpc>
                <a:spcPct val="112000"/>
              </a:lnSpc>
              <a:spcAft>
                <a:spcPts val="700"/>
              </a:spcAft>
              <a:defRPr sz="2400" b="0">
                <a:solidFill>
                  <a:srgbClr val="2D5986"/>
                </a:solidFill>
                <a:latin typeface="Aptos"/>
              </a:defRPr>
            </a:pPr>
            <a:r>
              <a:t>Jika event tidak muncul, cek paket via tcpdump;</a:t>
            </a:r>
          </a:p>
          <a:p>
            <a:pPr>
              <a:lnSpc>
                <a:spcPct val="112000"/>
              </a:lnSpc>
              <a:spcAft>
                <a:spcPts val="700"/>
              </a:spcAft>
              <a:defRPr sz="2400" b="0">
                <a:solidFill>
                  <a:srgbClr val="2D5986"/>
                </a:solidFill>
                <a:latin typeface="Aptos"/>
              </a:defRPr>
            </a:pPr>
            <a:r>
              <a:t>catat apa adanya, jangan klaim sudah terdeteksi.</a:t>
            </a:r>
          </a:p>
        </p:txBody>
      </p:sp>
      <p:sp>
        <p:nvSpPr>
          <p:cNvPr id="15" name="TextBox 14"/>
          <p:cNvSpPr txBox="1"/>
          <p:nvPr/>
        </p:nvSpPr>
        <p:spPr>
          <a:xfrm>
            <a:off x="9098280" y="3794760"/>
            <a:ext cx="8138160" cy="457200"/>
          </a:xfrm>
          <a:prstGeom prst="rect">
            <a:avLst/>
          </a:prstGeom>
          <a:noFill/>
        </p:spPr>
        <p:txBody>
          <a:bodyPr wrap="square" lIns="0" rIns="0" tIns="0" bIns="0">
            <a:spAutoFit/>
          </a:bodyPr>
          <a:lstStyle/>
          <a:p>
            <a:pPr>
              <a:lnSpc>
                <a:spcPct val="112000"/>
              </a:lnSpc>
              <a:spcAft>
                <a:spcPts val="700"/>
              </a:spcAft>
              <a:defRPr sz="2700" b="1">
                <a:solidFill>
                  <a:srgbClr val="2D5986"/>
                </a:solidFill>
                <a:latin typeface="Aptos"/>
              </a:defRPr>
            </a:pPr>
            <a:r>
              <a:t>BUKTI PENDUKUNG / CADANGAN</a:t>
            </a:r>
          </a:p>
        </p:txBody>
      </p:sp>
      <p:pic>
        <p:nvPicPr>
          <p:cNvPr id="16" name="Picture 15" descr="image.png">
            <a:hlinkClick r:id="rId7"/>
          </p:cNvPr>
          <p:cNvPicPr>
            <a:picLocks noChangeAspect="1"/>
          </p:cNvPicPr>
          <p:nvPr/>
        </p:nvPicPr>
        <p:blipFill>
          <a:blip r:embed="rId6"/>
          <a:stretch>
            <a:fillRect/>
          </a:stretch>
        </p:blipFill>
        <p:spPr>
          <a:xfrm>
            <a:off x="9098280" y="4739288"/>
            <a:ext cx="8156448" cy="1457646"/>
          </a:xfrm>
          <a:prstGeom prst="rect">
            <a:avLst/>
          </a:prstGeom>
        </p:spPr>
      </p:pic>
      <p:sp>
        <p:nvSpPr>
          <p:cNvPr id="17" name="TextBox 16"/>
          <p:cNvSpPr txBox="1"/>
          <p:nvPr/>
        </p:nvSpPr>
        <p:spPr>
          <a:xfrm>
            <a:off x="9098280" y="6556248"/>
            <a:ext cx="8156448" cy="594360"/>
          </a:xfrm>
          <a:prstGeom prst="rect">
            <a:avLst/>
          </a:prstGeom>
          <a:noFill/>
        </p:spPr>
        <p:txBody>
          <a:bodyPr wrap="square" lIns="0" rIns="0" tIns="0" bIns="0">
            <a:spAutoFit/>
          </a:bodyPr>
          <a:lstStyle/>
          <a:p>
            <a:pPr>
              <a:lnSpc>
                <a:spcPct val="112000"/>
              </a:lnSpc>
              <a:spcAft>
                <a:spcPts val="700"/>
              </a:spcAft>
              <a:defRPr sz="2100" b="0">
                <a:solidFill>
                  <a:srgbClr val="536B80"/>
                </a:solidFill>
                <a:latin typeface="Aptos"/>
              </a:defRPr>
            </a:pPr>
            <a:r>
              <a:t>Screenshot terdokumentasi — bukan hasil live sesi ini.</a:t>
            </a:r>
          </a:p>
        </p:txBody>
      </p:sp>
      <p:sp>
        <p:nvSpPr>
          <p:cNvPr id="18" name="Rounded Rectangle 17"/>
          <p:cNvSpPr/>
          <p:nvPr/>
        </p:nvSpPr>
        <p:spPr>
          <a:xfrm>
            <a:off x="9098280" y="7315200"/>
            <a:ext cx="8156448" cy="1901952"/>
          </a:xfrm>
          <a:prstGeom prst="roundRect">
            <a:avLst>
              <a:gd name="adj" fmla="val 6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363456" y="7498079"/>
            <a:ext cx="7626096" cy="384048"/>
          </a:xfrm>
          <a:prstGeom prst="rect">
            <a:avLst/>
          </a:prstGeom>
          <a:noFill/>
        </p:spPr>
        <p:txBody>
          <a:bodyPr wrap="square" lIns="0" rIns="0" tIns="0" bIns="0">
            <a:spAutoFit/>
          </a:bodyPr>
          <a:lstStyle/>
          <a:p>
            <a:pPr>
              <a:lnSpc>
                <a:spcPct val="112000"/>
              </a:lnSpc>
              <a:spcAft>
                <a:spcPts val="700"/>
              </a:spcAft>
              <a:defRPr sz="2400" b="1">
                <a:solidFill>
                  <a:srgbClr val="2D5986"/>
                </a:solidFill>
                <a:latin typeface="Aptos"/>
              </a:defRPr>
            </a:pPr>
            <a:r>
              <a:t>SEBELUM DEMO</a:t>
            </a:r>
          </a:p>
        </p:txBody>
      </p:sp>
      <p:sp>
        <p:nvSpPr>
          <p:cNvPr id="20" name="TextBox 19"/>
          <p:cNvSpPr txBox="1"/>
          <p:nvPr/>
        </p:nvSpPr>
        <p:spPr>
          <a:xfrm>
            <a:off x="9363456" y="8037575"/>
            <a:ext cx="7626096" cy="1143000"/>
          </a:xfrm>
          <a:prstGeom prst="rect">
            <a:avLst/>
          </a:prstGeom>
          <a:noFill/>
        </p:spPr>
        <p:txBody>
          <a:bodyPr wrap="square" lIns="0" rIns="0" tIns="0" bIns="0">
            <a:spAutoFit/>
          </a:bodyPr>
          <a:lstStyle/>
          <a:p>
            <a:pPr>
              <a:lnSpc>
                <a:spcPct val="112000"/>
              </a:lnSpc>
              <a:spcAft>
                <a:spcPts val="0"/>
              </a:spcAft>
              <a:defRPr sz="2200" b="0">
                <a:solidFill>
                  <a:srgbClr val="2D5986"/>
                </a:solidFill>
                <a:latin typeface="Aptos"/>
              </a:defRPr>
            </a:pPr>
            <a:r>
              <a:t>Host-Only aktif; NAT mati; sensor Allow All.</a:t>
            </a:r>
          </a:p>
          <a:p>
            <a:pPr>
              <a:lnSpc>
                <a:spcPct val="112000"/>
              </a:lnSpc>
              <a:spcAft>
                <a:spcPts val="0"/>
              </a:spcAft>
              <a:defRPr sz="2200" b="0">
                <a:solidFill>
                  <a:srgbClr val="2D5986"/>
                </a:solidFill>
                <a:latin typeface="Aptos"/>
              </a:defRPr>
            </a:pPr>
            <a:r>
              <a:t>Selaraskan waktu VM dan verifikasi port 9000.</a:t>
            </a:r>
          </a:p>
          <a:p>
            <a:pPr>
              <a:lnSpc>
                <a:spcPct val="112000"/>
              </a:lnSpc>
              <a:spcAft>
                <a:spcPts val="0"/>
              </a:spcAft>
              <a:defRPr sz="2200" b="0">
                <a:solidFill>
                  <a:srgbClr val="2D5986"/>
                </a:solidFill>
                <a:latin typeface="Aptos"/>
              </a:defRPr>
            </a:pPr>
            <a:r>
              <a:t>Data dummy saja; tanpa scanning ke sistem mitra.</a:t>
            </a:r>
          </a:p>
        </p:txBody>
      </p:sp>
      <p:sp>
        <p:nvSpPr>
          <p:cNvPr id="21" name="TextBox 20"/>
          <p:cNvSpPr txBox="1"/>
          <p:nvPr/>
        </p:nvSpPr>
        <p:spPr>
          <a:xfrm>
            <a:off x="1024128" y="9765792"/>
            <a:ext cx="15087600" cy="292608"/>
          </a:xfrm>
          <a:prstGeom prst="rect">
            <a:avLst/>
          </a:prstGeom>
          <a:noFill/>
        </p:spPr>
        <p:txBody>
          <a:bodyPr wrap="square" lIns="0" rIns="0" tIns="0" bIns="0">
            <a:spAutoFit/>
          </a:bodyPr>
          <a:lstStyle/>
          <a:p>
            <a:pPr>
              <a:lnSpc>
                <a:spcPct val="112000"/>
              </a:lnSpc>
              <a:spcAft>
                <a:spcPts val="700"/>
              </a:spcAft>
              <a:defRPr sz="1600" b="0">
                <a:solidFill>
                  <a:srgbClr val="536B80"/>
                </a:solidFill>
                <a:latin typeface="Aptos"/>
              </a:defRPr>
            </a:pPr>
            <a:r>
              <a:rPr>
                <a:hlinkClick r:id="rId8"/>
              </a:rPr>
              <a:t>SUMBER  ../blueteam/baseline_traffic.md · runbook pada catatan pembicara slide ini</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25450" y="2694376"/>
            <a:ext cx="5237065" cy="6221136"/>
          </a:xfrm>
          <a:custGeom>
            <a:avLst/>
            <a:gdLst/>
            <a:ahLst/>
            <a:cxnLst/>
            <a:rect r="r" b="b" t="t" l="l"/>
            <a:pathLst>
              <a:path h="6221136" w="5237065">
                <a:moveTo>
                  <a:pt x="0" y="0"/>
                </a:moveTo>
                <a:lnTo>
                  <a:pt x="5237065" y="0"/>
                </a:lnTo>
                <a:lnTo>
                  <a:pt x="5237065" y="6221136"/>
                </a:lnTo>
                <a:lnTo>
                  <a:pt x="0" y="622113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5" id="5"/>
          <p:cNvSpPr txBox="true"/>
          <p:nvPr/>
        </p:nvSpPr>
        <p:spPr>
          <a:xfrm rot="0">
            <a:off x="9260061" y="1819946"/>
            <a:ext cx="7999239" cy="1368424"/>
          </a:xfrm>
          <a:prstGeom prst="rect">
            <a:avLst/>
          </a:prstGeom>
        </p:spPr>
        <p:txBody>
          <a:bodyPr anchor="t" rtlCol="false" tIns="0" lIns="0" bIns="0" rIns="0">
            <a:spAutoFit/>
          </a:bodyPr>
          <a:lstStyle/>
          <a:p>
            <a:pPr algn="r">
              <a:lnSpc>
                <a:spcPts val="11200"/>
              </a:lnSpc>
              <a:spcBef>
                <a:spcPct val="0"/>
              </a:spcBef>
            </a:pPr>
            <a:r>
              <a:rPr lang="en-US" sz="8000">
                <a:solidFill>
                  <a:srgbClr val="2D5986"/>
                </a:solidFill>
                <a:latin typeface="Anton"/>
                <a:ea typeface="Anton"/>
                <a:cs typeface="Anton"/>
                <a:sym typeface="Anton"/>
              </a:rPr>
              <a:t>Phishing Attacks</a:t>
            </a:r>
          </a:p>
        </p:txBody>
      </p:sp>
      <p:sp>
        <p:nvSpPr>
          <p:cNvPr name="TextBox 6" id="6"/>
          <p:cNvSpPr txBox="true"/>
          <p:nvPr/>
        </p:nvSpPr>
        <p:spPr>
          <a:xfrm rot="0">
            <a:off x="10663694" y="5300345"/>
            <a:ext cx="6595606" cy="3957955"/>
          </a:xfrm>
          <a:prstGeom prst="rect">
            <a:avLst/>
          </a:prstGeom>
        </p:spPr>
        <p:txBody>
          <a:bodyPr anchor="t" rtlCol="false" tIns="0" lIns="0" bIns="0" rIns="0">
            <a:spAutoFit/>
          </a:bodyPr>
          <a:lstStyle/>
          <a:p>
            <a:pPr algn="just">
              <a:lnSpc>
                <a:spcPts val="3919"/>
              </a:lnSpc>
            </a:pPr>
            <a:r>
              <a:rPr lang="en-US" sz="2799">
                <a:solidFill>
                  <a:srgbClr val="2D5986"/>
                </a:solidFill>
                <a:latin typeface="Glacial Indifference"/>
                <a:ea typeface="Glacial Indifference"/>
                <a:cs typeface="Glacial Indifference"/>
                <a:sym typeface="Glacial Indifference"/>
              </a:rPr>
              <a:t>Lorem Ipsum ullamco do aliquip anim in labore laboris pariatur proident enim sit quis anim consequat do ut et velit sit do reprehenderit id nulla et ipsum eiusmod ad exercitation ea anim id aute do consequat sit ex eiusmod incididunt dolore voluptate occaecat qui officia consequat amet non tempor tempor consequat cillum</a:t>
            </a:r>
          </a:p>
        </p:txBody>
      </p:sp>
      <p:sp>
        <p:nvSpPr>
          <p:cNvPr name="TextBox 7" id="7"/>
          <p:cNvSpPr txBox="true"/>
          <p:nvPr/>
        </p:nvSpPr>
        <p:spPr>
          <a:xfrm rot="0">
            <a:off x="10335070" y="3390543"/>
            <a:ext cx="6924230" cy="1481455"/>
          </a:xfrm>
          <a:prstGeom prst="rect">
            <a:avLst/>
          </a:prstGeom>
        </p:spPr>
        <p:txBody>
          <a:bodyPr anchor="t" rtlCol="false" tIns="0" lIns="0" bIns="0" rIns="0">
            <a:spAutoFit/>
          </a:bodyPr>
          <a:lstStyle/>
          <a:p>
            <a:pPr algn="r">
              <a:lnSpc>
                <a:spcPts val="3919"/>
              </a:lnSpc>
              <a:spcBef>
                <a:spcPct val="0"/>
              </a:spcBef>
            </a:pPr>
            <a:r>
              <a:rPr lang="en-US" sz="2799">
                <a:solidFill>
                  <a:srgbClr val="2D5986"/>
                </a:solidFill>
                <a:latin typeface="Glacial Indifference"/>
                <a:ea typeface="Glacial Indifference"/>
                <a:cs typeface="Glacial Indifference"/>
                <a:sym typeface="Glacial Indifference"/>
              </a:rPr>
              <a:t>Ph</a:t>
            </a:r>
            <a:r>
              <a:rPr lang="en-US" sz="2799">
                <a:solidFill>
                  <a:srgbClr val="2D5986"/>
                </a:solidFill>
                <a:latin typeface="Glacial Indifference"/>
                <a:ea typeface="Glacial Indifference"/>
                <a:cs typeface="Glacial Indifference"/>
                <a:sym typeface="Glacial Indifference"/>
              </a:rPr>
              <a:t>ishing tricks users into giving sensitive information through fake messages or websites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384051" y="3188371"/>
            <a:ext cx="5875249" cy="4753611"/>
          </a:xfrm>
          <a:custGeom>
            <a:avLst/>
            <a:gdLst/>
            <a:ahLst/>
            <a:cxnLst/>
            <a:rect r="r" b="b" t="t" l="l"/>
            <a:pathLst>
              <a:path h="4753611" w="5875249">
                <a:moveTo>
                  <a:pt x="0" y="0"/>
                </a:moveTo>
                <a:lnTo>
                  <a:pt x="5875249" y="0"/>
                </a:lnTo>
                <a:lnTo>
                  <a:pt x="5875249" y="4753610"/>
                </a:lnTo>
                <a:lnTo>
                  <a:pt x="0" y="47536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28700" y="4860326"/>
            <a:ext cx="7650682" cy="3462655"/>
          </a:xfrm>
          <a:prstGeom prst="rect">
            <a:avLst/>
          </a:prstGeom>
        </p:spPr>
        <p:txBody>
          <a:bodyPr anchor="t" rtlCol="false" tIns="0" lIns="0" bIns="0" rIns="0">
            <a:spAutoFit/>
          </a:bodyPr>
          <a:lstStyle/>
          <a:p>
            <a:pPr algn="just">
              <a:lnSpc>
                <a:spcPts val="3919"/>
              </a:lnSpc>
            </a:pPr>
            <a:r>
              <a:rPr lang="en-US" sz="2799">
                <a:solidFill>
                  <a:srgbClr val="2D5986"/>
                </a:solidFill>
                <a:latin typeface="Glacial Indifference"/>
                <a:ea typeface="Glacial Indifference"/>
                <a:cs typeface="Glacial Indifference"/>
                <a:sym typeface="Glacial Indifference"/>
              </a:rPr>
              <a:t>Lorem Ipsum ullamco do aliquip anim in labore laboris pariatur proident enim sit quis anim consequat do ut et velit sit do reprehenderit id nulla et ipsum eiusmod ad exercitation ea anim id aute do consequat sit ex eiusmod incididunt dolore voluptate occaecat qui officia consequat amet non tempor tempor consequat cillum</a:t>
            </a:r>
          </a:p>
        </p:txBody>
      </p:sp>
      <p:sp>
        <p:nvSpPr>
          <p:cNvPr name="TextBox 5" id="5"/>
          <p:cNvSpPr txBox="true"/>
          <p:nvPr/>
        </p:nvSpPr>
        <p:spPr>
          <a:xfrm rot="0">
            <a:off x="1028700" y="1819946"/>
            <a:ext cx="6380242" cy="1368424"/>
          </a:xfrm>
          <a:prstGeom prst="rect">
            <a:avLst/>
          </a:prstGeom>
        </p:spPr>
        <p:txBody>
          <a:bodyPr anchor="t" rtlCol="false" tIns="0" lIns="0" bIns="0" rIns="0">
            <a:spAutoFit/>
          </a:bodyPr>
          <a:lstStyle/>
          <a:p>
            <a:pPr algn="l">
              <a:lnSpc>
                <a:spcPts val="11200"/>
              </a:lnSpc>
              <a:spcBef>
                <a:spcPct val="0"/>
              </a:spcBef>
            </a:pPr>
            <a:r>
              <a:rPr lang="en-US" sz="8000">
                <a:solidFill>
                  <a:srgbClr val="2D5986"/>
                </a:solidFill>
                <a:latin typeface="Anton"/>
                <a:ea typeface="Anton"/>
                <a:cs typeface="Anton"/>
                <a:sym typeface="Anton"/>
              </a:rPr>
              <a:t>Ransomwa</a:t>
            </a:r>
            <a:r>
              <a:rPr lang="en-US" sz="8000">
                <a:solidFill>
                  <a:srgbClr val="2D5986"/>
                </a:solidFill>
                <a:latin typeface="Anton"/>
                <a:ea typeface="Anton"/>
                <a:cs typeface="Anton"/>
                <a:sym typeface="Anton"/>
              </a:rPr>
              <a:t>re</a:t>
            </a:r>
          </a:p>
        </p:txBody>
      </p:sp>
      <p:sp>
        <p:nvSpPr>
          <p:cNvPr name="TextBox 6" id="6"/>
          <p:cNvSpPr txBox="true"/>
          <p:nvPr/>
        </p:nvSpPr>
        <p:spPr>
          <a:xfrm rot="0">
            <a:off x="1028700" y="3312196"/>
            <a:ext cx="8652373" cy="9861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R</a:t>
            </a:r>
            <a:r>
              <a:rPr lang="en-US" sz="2799">
                <a:solidFill>
                  <a:srgbClr val="2D5986"/>
                </a:solidFill>
                <a:latin typeface="Glacial Indifference"/>
                <a:ea typeface="Glacial Indifference"/>
                <a:cs typeface="Glacial Indifference"/>
                <a:sym typeface="Glacial Indifference"/>
              </a:rPr>
              <a:t>ansomware locks data and demands payment to restore access</a:t>
            </a:r>
          </a:p>
        </p:txBody>
      </p:sp>
      <p:sp>
        <p:nvSpPr>
          <p:cNvPr name="TextBox 7" id="7"/>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3115559" y="3731880"/>
            <a:ext cx="2177460" cy="2177460"/>
          </a:xfrm>
          <a:custGeom>
            <a:avLst/>
            <a:gdLst/>
            <a:ahLst/>
            <a:cxnLst/>
            <a:rect r="r" b="b" t="t" l="l"/>
            <a:pathLst>
              <a:path h="2177460" w="2177460">
                <a:moveTo>
                  <a:pt x="0" y="0"/>
                </a:moveTo>
                <a:lnTo>
                  <a:pt x="2177461" y="0"/>
                </a:lnTo>
                <a:lnTo>
                  <a:pt x="2177461" y="2177460"/>
                </a:lnTo>
                <a:lnTo>
                  <a:pt x="0" y="217746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055270" y="3731880"/>
            <a:ext cx="2177460" cy="2177460"/>
          </a:xfrm>
          <a:custGeom>
            <a:avLst/>
            <a:gdLst/>
            <a:ahLst/>
            <a:cxnLst/>
            <a:rect r="r" b="b" t="t" l="l"/>
            <a:pathLst>
              <a:path h="2177460" w="2177460">
                <a:moveTo>
                  <a:pt x="0" y="0"/>
                </a:moveTo>
                <a:lnTo>
                  <a:pt x="2177460" y="0"/>
                </a:lnTo>
                <a:lnTo>
                  <a:pt x="2177460" y="2177460"/>
                </a:lnTo>
                <a:lnTo>
                  <a:pt x="0" y="21774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12997542" y="3731880"/>
            <a:ext cx="2255373" cy="2177460"/>
          </a:xfrm>
          <a:custGeom>
            <a:avLst/>
            <a:gdLst/>
            <a:ahLst/>
            <a:cxnLst/>
            <a:rect r="r" b="b" t="t" l="l"/>
            <a:pathLst>
              <a:path h="2177460" w="2255373">
                <a:moveTo>
                  <a:pt x="0" y="0"/>
                </a:moveTo>
                <a:lnTo>
                  <a:pt x="2255373" y="0"/>
                </a:lnTo>
                <a:lnTo>
                  <a:pt x="2255373" y="2177460"/>
                </a:lnTo>
                <a:lnTo>
                  <a:pt x="0" y="217746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6" id="6"/>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7" id="7"/>
          <p:cNvSpPr txBox="true"/>
          <p:nvPr/>
        </p:nvSpPr>
        <p:spPr>
          <a:xfrm rot="0">
            <a:off x="2843221" y="1742887"/>
            <a:ext cx="12601558" cy="1368424"/>
          </a:xfrm>
          <a:prstGeom prst="rect">
            <a:avLst/>
          </a:prstGeom>
        </p:spPr>
        <p:txBody>
          <a:bodyPr anchor="t" rtlCol="false" tIns="0" lIns="0" bIns="0" rIns="0">
            <a:spAutoFit/>
          </a:bodyPr>
          <a:lstStyle/>
          <a:p>
            <a:pPr algn="ctr">
              <a:lnSpc>
                <a:spcPts val="11200"/>
              </a:lnSpc>
              <a:spcBef>
                <a:spcPct val="0"/>
              </a:spcBef>
            </a:pPr>
            <a:r>
              <a:rPr lang="en-US" sz="8000">
                <a:solidFill>
                  <a:srgbClr val="2D5986"/>
                </a:solidFill>
                <a:latin typeface="Anton"/>
                <a:ea typeface="Anton"/>
                <a:cs typeface="Anton"/>
                <a:sym typeface="Anton"/>
              </a:rPr>
              <a:t>Cyber Security in Daily Lif</a:t>
            </a:r>
            <a:r>
              <a:rPr lang="en-US" sz="8000">
                <a:solidFill>
                  <a:srgbClr val="2D5986"/>
                </a:solidFill>
                <a:latin typeface="Anton"/>
                <a:ea typeface="Anton"/>
                <a:cs typeface="Anton"/>
                <a:sym typeface="Anton"/>
              </a:rPr>
              <a:t>e</a:t>
            </a:r>
          </a:p>
        </p:txBody>
      </p:sp>
      <p:sp>
        <p:nvSpPr>
          <p:cNvPr name="TextBox 8" id="8"/>
          <p:cNvSpPr txBox="true"/>
          <p:nvPr/>
        </p:nvSpPr>
        <p:spPr>
          <a:xfrm rot="0">
            <a:off x="2500581" y="6290340"/>
            <a:ext cx="3531850" cy="622935"/>
          </a:xfrm>
          <a:prstGeom prst="rect">
            <a:avLst/>
          </a:prstGeom>
        </p:spPr>
        <p:txBody>
          <a:bodyPr anchor="t" rtlCol="false" tIns="0" lIns="0" bIns="0" rIns="0">
            <a:spAutoFit/>
          </a:bodyPr>
          <a:lstStyle/>
          <a:p>
            <a:pPr algn="ctr">
              <a:lnSpc>
                <a:spcPts val="5040"/>
              </a:lnSpc>
              <a:spcBef>
                <a:spcPct val="0"/>
              </a:spcBef>
            </a:pPr>
            <a:r>
              <a:rPr lang="en-US" sz="3600" spc="205">
                <a:solidFill>
                  <a:srgbClr val="2D5986"/>
                </a:solidFill>
                <a:latin typeface="Anton"/>
                <a:ea typeface="Anton"/>
                <a:cs typeface="Anton"/>
                <a:sym typeface="Anton"/>
              </a:rPr>
              <a:t>Online banking</a:t>
            </a:r>
          </a:p>
        </p:txBody>
      </p:sp>
      <p:sp>
        <p:nvSpPr>
          <p:cNvPr name="TextBox 9" id="9"/>
          <p:cNvSpPr txBox="true"/>
          <p:nvPr/>
        </p:nvSpPr>
        <p:spPr>
          <a:xfrm rot="0">
            <a:off x="5904605" y="6290340"/>
            <a:ext cx="6478789" cy="622935"/>
          </a:xfrm>
          <a:prstGeom prst="rect">
            <a:avLst/>
          </a:prstGeom>
        </p:spPr>
        <p:txBody>
          <a:bodyPr anchor="t" rtlCol="false" tIns="0" lIns="0" bIns="0" rIns="0">
            <a:spAutoFit/>
          </a:bodyPr>
          <a:lstStyle/>
          <a:p>
            <a:pPr algn="ctr">
              <a:lnSpc>
                <a:spcPts val="5040"/>
              </a:lnSpc>
              <a:spcBef>
                <a:spcPct val="0"/>
              </a:spcBef>
            </a:pPr>
            <a:r>
              <a:rPr lang="en-US" sz="3600" spc="205">
                <a:solidFill>
                  <a:srgbClr val="2D5986"/>
                </a:solidFill>
                <a:latin typeface="Anton"/>
                <a:ea typeface="Anton"/>
                <a:cs typeface="Anton"/>
                <a:sym typeface="Anton"/>
              </a:rPr>
              <a:t>Socia</a:t>
            </a:r>
            <a:r>
              <a:rPr lang="en-US" sz="3600" spc="205">
                <a:solidFill>
                  <a:srgbClr val="2D5986"/>
                </a:solidFill>
                <a:latin typeface="Anton"/>
                <a:ea typeface="Anton"/>
                <a:cs typeface="Anton"/>
                <a:sym typeface="Anton"/>
              </a:rPr>
              <a:t>l media accounts</a:t>
            </a:r>
          </a:p>
        </p:txBody>
      </p:sp>
      <p:sp>
        <p:nvSpPr>
          <p:cNvPr name="TextBox 10" id="10"/>
          <p:cNvSpPr txBox="true"/>
          <p:nvPr/>
        </p:nvSpPr>
        <p:spPr>
          <a:xfrm rot="0">
            <a:off x="12359304" y="6290340"/>
            <a:ext cx="3531850" cy="622935"/>
          </a:xfrm>
          <a:prstGeom prst="rect">
            <a:avLst/>
          </a:prstGeom>
        </p:spPr>
        <p:txBody>
          <a:bodyPr anchor="t" rtlCol="false" tIns="0" lIns="0" bIns="0" rIns="0">
            <a:spAutoFit/>
          </a:bodyPr>
          <a:lstStyle/>
          <a:p>
            <a:pPr algn="ctr">
              <a:lnSpc>
                <a:spcPts val="5040"/>
              </a:lnSpc>
              <a:spcBef>
                <a:spcPct val="0"/>
              </a:spcBef>
            </a:pPr>
            <a:r>
              <a:rPr lang="en-US" sz="3600" spc="205">
                <a:solidFill>
                  <a:srgbClr val="2D5986"/>
                </a:solidFill>
                <a:latin typeface="Anton"/>
                <a:ea typeface="Anton"/>
                <a:cs typeface="Anton"/>
                <a:sym typeface="Anton"/>
              </a:rPr>
              <a:t>C</a:t>
            </a:r>
            <a:r>
              <a:rPr lang="en-US" sz="3600" spc="205">
                <a:solidFill>
                  <a:srgbClr val="2D5986"/>
                </a:solidFill>
                <a:latin typeface="Anton"/>
                <a:ea typeface="Anton"/>
                <a:cs typeface="Anton"/>
                <a:sym typeface="Anton"/>
              </a:rPr>
              <a:t>loud storage</a:t>
            </a:r>
          </a:p>
        </p:txBody>
      </p:sp>
      <p:sp>
        <p:nvSpPr>
          <p:cNvPr name="TextBox 11" id="11"/>
          <p:cNvSpPr txBox="true"/>
          <p:nvPr/>
        </p:nvSpPr>
        <p:spPr>
          <a:xfrm rot="0">
            <a:off x="1028700" y="7281545"/>
            <a:ext cx="16230600" cy="1976755"/>
          </a:xfrm>
          <a:prstGeom prst="rect">
            <a:avLst/>
          </a:prstGeom>
        </p:spPr>
        <p:txBody>
          <a:bodyPr anchor="t" rtlCol="false" tIns="0" lIns="0" bIns="0" rIns="0">
            <a:spAutoFit/>
          </a:bodyPr>
          <a:lstStyle/>
          <a:p>
            <a:pPr algn="just">
              <a:lnSpc>
                <a:spcPts val="3919"/>
              </a:lnSpc>
            </a:pPr>
            <a:r>
              <a:rPr lang="en-US" sz="2799">
                <a:solidFill>
                  <a:srgbClr val="2D5986"/>
                </a:solidFill>
                <a:latin typeface="Glacial Indifference"/>
                <a:ea typeface="Glacial Indifference"/>
                <a:cs typeface="Glacial Indifference"/>
                <a:sym typeface="Glacial Indifference"/>
              </a:rPr>
              <a:t>Lorem Ipsum ullamco do aliquip anim in labore laboris pariatur proident enim sit quis anim consequat do ut et velit sit do reprehenderit id nulla et ipsum eiusmod ad exercitation ea anim id aute do consequat sit ex eiusmod incididunt dolore voluptate occaecat qui officia consequat amet non tempor tempor consequat cillum</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706664" y="-171950"/>
            <a:ext cx="7772994" cy="10703665"/>
            <a:chOff x="0" y="0"/>
            <a:chExt cx="1204240" cy="1658278"/>
          </a:xfrm>
        </p:grpSpPr>
        <p:sp>
          <p:nvSpPr>
            <p:cNvPr name="Freeform 4" id="4"/>
            <p:cNvSpPr/>
            <p:nvPr/>
          </p:nvSpPr>
          <p:spPr>
            <a:xfrm flipH="false" flipV="false" rot="0">
              <a:off x="0" y="0"/>
              <a:ext cx="1204240" cy="1658278"/>
            </a:xfrm>
            <a:custGeom>
              <a:avLst/>
              <a:gdLst/>
              <a:ahLst/>
              <a:cxnLst/>
              <a:rect r="r" b="b" t="t" l="l"/>
              <a:pathLst>
                <a:path h="1658278" w="1204240">
                  <a:moveTo>
                    <a:pt x="0" y="0"/>
                  </a:moveTo>
                  <a:lnTo>
                    <a:pt x="1204240" y="0"/>
                  </a:lnTo>
                  <a:lnTo>
                    <a:pt x="1204240" y="1658278"/>
                  </a:lnTo>
                  <a:lnTo>
                    <a:pt x="0" y="1658278"/>
                  </a:lnTo>
                  <a:close/>
                </a:path>
              </a:pathLst>
            </a:custGeom>
            <a:blipFill>
              <a:blip r:embed="rId4"/>
              <a:stretch>
                <a:fillRect l="-41691" t="0" r="-41691" b="0"/>
              </a:stretch>
            </a:blipFill>
          </p:spPr>
        </p:sp>
      </p:grpSp>
      <p:sp>
        <p:nvSpPr>
          <p:cNvPr name="TextBox 5" id="5"/>
          <p:cNvSpPr txBox="true"/>
          <p:nvPr/>
        </p:nvSpPr>
        <p:spPr>
          <a:xfrm rot="0">
            <a:off x="1028700" y="1994049"/>
            <a:ext cx="9563664" cy="2502579"/>
          </a:xfrm>
          <a:prstGeom prst="rect">
            <a:avLst/>
          </a:prstGeom>
        </p:spPr>
        <p:txBody>
          <a:bodyPr anchor="t" rtlCol="false" tIns="0" lIns="0" bIns="0" rIns="0">
            <a:spAutoFit/>
          </a:bodyPr>
          <a:lstStyle/>
          <a:p>
            <a:pPr algn="l">
              <a:lnSpc>
                <a:spcPts val="9920"/>
              </a:lnSpc>
            </a:pPr>
            <a:r>
              <a:rPr lang="en-US" sz="8000">
                <a:solidFill>
                  <a:srgbClr val="2D5986"/>
                </a:solidFill>
                <a:latin typeface="Anton"/>
                <a:ea typeface="Anton"/>
                <a:cs typeface="Anton"/>
                <a:sym typeface="Anton"/>
              </a:rPr>
              <a:t>Cyber Security for Busin</a:t>
            </a:r>
            <a:r>
              <a:rPr lang="en-US" sz="8000">
                <a:solidFill>
                  <a:srgbClr val="2D5986"/>
                </a:solidFill>
                <a:latin typeface="Anton"/>
                <a:ea typeface="Anton"/>
                <a:cs typeface="Anton"/>
                <a:sym typeface="Anton"/>
              </a:rPr>
              <a:t>ess</a:t>
            </a:r>
          </a:p>
        </p:txBody>
      </p:sp>
      <p:sp>
        <p:nvSpPr>
          <p:cNvPr name="TextBox 6" id="6"/>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7" id="7"/>
          <p:cNvSpPr txBox="true"/>
          <p:nvPr/>
        </p:nvSpPr>
        <p:spPr>
          <a:xfrm rot="0">
            <a:off x="1028700" y="4915684"/>
            <a:ext cx="7414200" cy="3957955"/>
          </a:xfrm>
          <a:prstGeom prst="rect">
            <a:avLst/>
          </a:prstGeom>
        </p:spPr>
        <p:txBody>
          <a:bodyPr anchor="t" rtlCol="false" tIns="0" lIns="0" bIns="0" rIns="0">
            <a:spAutoFit/>
          </a:bodyPr>
          <a:lstStyle/>
          <a:p>
            <a:pPr algn="just">
              <a:lnSpc>
                <a:spcPts val="3919"/>
              </a:lnSpc>
            </a:pPr>
            <a:r>
              <a:rPr lang="en-US" sz="2799">
                <a:solidFill>
                  <a:srgbClr val="2D5986"/>
                </a:solidFill>
                <a:latin typeface="Glacial Indifference"/>
                <a:ea typeface="Glacial Indifference"/>
                <a:cs typeface="Glacial Indifference"/>
                <a:sym typeface="Glacial Indifference"/>
              </a:rPr>
              <a:t>Lorem Ipsum ullamco do aliquip anim in labore laboris pariatur proident enim sit quis anim consequat do ut et velit sit do reprehenderit id nulla et ipsum eiusmod ad exercitation ea anim id aute do consequat sit ex eiusmod incididunt dolore voluptate occaecat qui officia consequat amet non tempor tempor consequat cillum</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028700" y="5143500"/>
            <a:ext cx="691244" cy="618349"/>
          </a:xfrm>
          <a:custGeom>
            <a:avLst/>
            <a:gdLst/>
            <a:ahLst/>
            <a:cxnLst/>
            <a:rect r="r" b="b" t="t" l="l"/>
            <a:pathLst>
              <a:path h="618349" w="691244">
                <a:moveTo>
                  <a:pt x="0" y="0"/>
                </a:moveTo>
                <a:lnTo>
                  <a:pt x="691244" y="0"/>
                </a:lnTo>
                <a:lnTo>
                  <a:pt x="691244" y="618349"/>
                </a:lnTo>
                <a:lnTo>
                  <a:pt x="0" y="6183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028700" y="6504799"/>
            <a:ext cx="691244" cy="618349"/>
          </a:xfrm>
          <a:custGeom>
            <a:avLst/>
            <a:gdLst/>
            <a:ahLst/>
            <a:cxnLst/>
            <a:rect r="r" b="b" t="t" l="l"/>
            <a:pathLst>
              <a:path h="618349" w="691244">
                <a:moveTo>
                  <a:pt x="0" y="0"/>
                </a:moveTo>
                <a:lnTo>
                  <a:pt x="691244" y="0"/>
                </a:lnTo>
                <a:lnTo>
                  <a:pt x="691244" y="618349"/>
                </a:lnTo>
                <a:lnTo>
                  <a:pt x="0" y="6183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1028700" y="7866098"/>
            <a:ext cx="691244" cy="618349"/>
          </a:xfrm>
          <a:custGeom>
            <a:avLst/>
            <a:gdLst/>
            <a:ahLst/>
            <a:cxnLst/>
            <a:rect r="r" b="b" t="t" l="l"/>
            <a:pathLst>
              <a:path h="618349" w="691244">
                <a:moveTo>
                  <a:pt x="0" y="0"/>
                </a:moveTo>
                <a:lnTo>
                  <a:pt x="691244" y="0"/>
                </a:lnTo>
                <a:lnTo>
                  <a:pt x="691244" y="618349"/>
                </a:lnTo>
                <a:lnTo>
                  <a:pt x="0" y="61834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13672420" y="8848655"/>
            <a:ext cx="6908324" cy="1092771"/>
          </a:xfrm>
          <a:custGeom>
            <a:avLst/>
            <a:gdLst/>
            <a:ahLst/>
            <a:cxnLst/>
            <a:rect r="r" b="b" t="t" l="l"/>
            <a:pathLst>
              <a:path h="1092771" w="6908324">
                <a:moveTo>
                  <a:pt x="0" y="0"/>
                </a:moveTo>
                <a:lnTo>
                  <a:pt x="6908324" y="0"/>
                </a:lnTo>
                <a:lnTo>
                  <a:pt x="6908324" y="1092771"/>
                </a:lnTo>
                <a:lnTo>
                  <a:pt x="0" y="109277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3039139" y="1725441"/>
            <a:ext cx="4220161" cy="3092227"/>
          </a:xfrm>
          <a:custGeom>
            <a:avLst/>
            <a:gdLst/>
            <a:ahLst/>
            <a:cxnLst/>
            <a:rect r="r" b="b" t="t" l="l"/>
            <a:pathLst>
              <a:path h="3092227" w="4220161">
                <a:moveTo>
                  <a:pt x="0" y="0"/>
                </a:moveTo>
                <a:lnTo>
                  <a:pt x="4220161" y="0"/>
                </a:lnTo>
                <a:lnTo>
                  <a:pt x="4220161" y="3092227"/>
                </a:lnTo>
                <a:lnTo>
                  <a:pt x="0" y="309222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8" id="8"/>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9" id="9"/>
          <p:cNvSpPr txBox="true"/>
          <p:nvPr/>
        </p:nvSpPr>
        <p:spPr>
          <a:xfrm rot="0">
            <a:off x="1028700" y="1994049"/>
            <a:ext cx="9563664" cy="2502535"/>
          </a:xfrm>
          <a:prstGeom prst="rect">
            <a:avLst/>
          </a:prstGeom>
        </p:spPr>
        <p:txBody>
          <a:bodyPr anchor="t" rtlCol="false" tIns="0" lIns="0" bIns="0" rIns="0">
            <a:spAutoFit/>
          </a:bodyPr>
          <a:lstStyle/>
          <a:p>
            <a:pPr algn="l">
              <a:lnSpc>
                <a:spcPts val="9920"/>
              </a:lnSpc>
            </a:pPr>
            <a:r>
              <a:rPr lang="en-US" sz="8000">
                <a:solidFill>
                  <a:srgbClr val="2D5986"/>
                </a:solidFill>
                <a:latin typeface="Anton"/>
                <a:ea typeface="Anton"/>
                <a:cs typeface="Anton"/>
                <a:sym typeface="Anton"/>
              </a:rPr>
              <a:t>Basic Security Practic</a:t>
            </a:r>
            <a:r>
              <a:rPr lang="en-US" sz="8000">
                <a:solidFill>
                  <a:srgbClr val="2D5986"/>
                </a:solidFill>
                <a:latin typeface="Anton"/>
                <a:ea typeface="Anton"/>
                <a:cs typeface="Anton"/>
                <a:sym typeface="Anton"/>
              </a:rPr>
              <a:t>es</a:t>
            </a:r>
          </a:p>
        </p:txBody>
      </p:sp>
      <p:sp>
        <p:nvSpPr>
          <p:cNvPr name="TextBox 10" id="10"/>
          <p:cNvSpPr txBox="true"/>
          <p:nvPr/>
        </p:nvSpPr>
        <p:spPr>
          <a:xfrm rot="0">
            <a:off x="1738798" y="5183434"/>
            <a:ext cx="3509472" cy="504826"/>
          </a:xfrm>
          <a:prstGeom prst="rect">
            <a:avLst/>
          </a:prstGeom>
        </p:spPr>
        <p:txBody>
          <a:bodyPr anchor="t" rtlCol="false" tIns="0" lIns="0" bIns="0" rIns="0">
            <a:spAutoFit/>
          </a:bodyPr>
          <a:lstStyle/>
          <a:p>
            <a:pPr algn="l">
              <a:lnSpc>
                <a:spcPts val="4199"/>
              </a:lnSpc>
              <a:spcBef>
                <a:spcPct val="0"/>
              </a:spcBef>
            </a:pPr>
            <a:r>
              <a:rPr lang="en-US" b="true" sz="2999">
                <a:solidFill>
                  <a:srgbClr val="2D5986"/>
                </a:solidFill>
                <a:latin typeface="Glacial Indifference Bold"/>
                <a:ea typeface="Glacial Indifference Bold"/>
                <a:cs typeface="Glacial Indifference Bold"/>
                <a:sym typeface="Glacial Indifference Bold"/>
              </a:rPr>
              <a:t>Strong passwords</a:t>
            </a:r>
          </a:p>
        </p:txBody>
      </p:sp>
      <p:sp>
        <p:nvSpPr>
          <p:cNvPr name="TextBox 11" id="11"/>
          <p:cNvSpPr txBox="true"/>
          <p:nvPr/>
        </p:nvSpPr>
        <p:spPr>
          <a:xfrm rot="0">
            <a:off x="1738798" y="6544733"/>
            <a:ext cx="3509472" cy="504826"/>
          </a:xfrm>
          <a:prstGeom prst="rect">
            <a:avLst/>
          </a:prstGeom>
        </p:spPr>
        <p:txBody>
          <a:bodyPr anchor="t" rtlCol="false" tIns="0" lIns="0" bIns="0" rIns="0">
            <a:spAutoFit/>
          </a:bodyPr>
          <a:lstStyle/>
          <a:p>
            <a:pPr algn="l">
              <a:lnSpc>
                <a:spcPts val="4199"/>
              </a:lnSpc>
              <a:spcBef>
                <a:spcPct val="0"/>
              </a:spcBef>
            </a:pPr>
            <a:r>
              <a:rPr lang="en-US" b="true" sz="2999">
                <a:solidFill>
                  <a:srgbClr val="2D5986"/>
                </a:solidFill>
                <a:latin typeface="Glacial Indifference Bold"/>
                <a:ea typeface="Glacial Indifference Bold"/>
                <a:cs typeface="Glacial Indifference Bold"/>
                <a:sym typeface="Glacial Indifference Bold"/>
              </a:rPr>
              <a:t> Re</a:t>
            </a:r>
            <a:r>
              <a:rPr lang="en-US" b="true" sz="2999">
                <a:solidFill>
                  <a:srgbClr val="2D5986"/>
                </a:solidFill>
                <a:latin typeface="Glacial Indifference Bold"/>
                <a:ea typeface="Glacial Indifference Bold"/>
                <a:cs typeface="Glacial Indifference Bold"/>
                <a:sym typeface="Glacial Indifference Bold"/>
              </a:rPr>
              <a:t>gular updates</a:t>
            </a:r>
          </a:p>
        </p:txBody>
      </p:sp>
      <p:sp>
        <p:nvSpPr>
          <p:cNvPr name="TextBox 12" id="12"/>
          <p:cNvSpPr txBox="true"/>
          <p:nvPr/>
        </p:nvSpPr>
        <p:spPr>
          <a:xfrm rot="0">
            <a:off x="1738798" y="7906033"/>
            <a:ext cx="3509472" cy="504826"/>
          </a:xfrm>
          <a:prstGeom prst="rect">
            <a:avLst/>
          </a:prstGeom>
        </p:spPr>
        <p:txBody>
          <a:bodyPr anchor="t" rtlCol="false" tIns="0" lIns="0" bIns="0" rIns="0">
            <a:spAutoFit/>
          </a:bodyPr>
          <a:lstStyle/>
          <a:p>
            <a:pPr algn="l">
              <a:lnSpc>
                <a:spcPts val="4199"/>
              </a:lnSpc>
              <a:spcBef>
                <a:spcPct val="0"/>
              </a:spcBef>
            </a:pPr>
            <a:r>
              <a:rPr lang="en-US" b="true" sz="2999">
                <a:solidFill>
                  <a:srgbClr val="2D5986"/>
                </a:solidFill>
                <a:latin typeface="Glacial Indifference Bold"/>
                <a:ea typeface="Glacial Indifference Bold"/>
                <a:cs typeface="Glacial Indifference Bold"/>
                <a:sym typeface="Glacial Indifference Bold"/>
              </a:rPr>
              <a:t>Secure networks</a:t>
            </a:r>
          </a:p>
        </p:txBody>
      </p:sp>
      <p:sp>
        <p:nvSpPr>
          <p:cNvPr name="TextBox 13" id="13"/>
          <p:cNvSpPr txBox="true"/>
          <p:nvPr/>
        </p:nvSpPr>
        <p:spPr>
          <a:xfrm rot="0">
            <a:off x="9144000" y="5386000"/>
            <a:ext cx="8115300" cy="3462655"/>
          </a:xfrm>
          <a:prstGeom prst="rect">
            <a:avLst/>
          </a:prstGeom>
        </p:spPr>
        <p:txBody>
          <a:bodyPr anchor="t" rtlCol="false" tIns="0" lIns="0" bIns="0" rIns="0">
            <a:spAutoFit/>
          </a:bodyPr>
          <a:lstStyle/>
          <a:p>
            <a:pPr algn="just">
              <a:lnSpc>
                <a:spcPts val="3919"/>
              </a:lnSpc>
            </a:pPr>
            <a:r>
              <a:rPr lang="en-US" sz="2799">
                <a:solidFill>
                  <a:srgbClr val="2D5986"/>
                </a:solidFill>
                <a:latin typeface="Glacial Indifference"/>
                <a:ea typeface="Glacial Indifference"/>
                <a:cs typeface="Glacial Indifference"/>
                <a:sym typeface="Glacial Indifference"/>
              </a:rPr>
              <a:t>Lorem Ipsum ullamco do aliquip anim in labore laboris pariatur proident enim sit quis anim consequat do ut et velit sit do reprehenderit id nulla et ipsum eiusmod ad exercitation ea anim id aute do consequat sit ex eiusmod incididunt dolore voluptate occaecat qui officia consequat amet non tempor tempor consequat cillum</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7027934" y="3855124"/>
            <a:ext cx="4232132" cy="4905198"/>
            <a:chOff x="0" y="0"/>
            <a:chExt cx="1114636" cy="1291904"/>
          </a:xfrm>
        </p:grpSpPr>
        <p:sp>
          <p:nvSpPr>
            <p:cNvPr name="Freeform 4" id="4"/>
            <p:cNvSpPr/>
            <p:nvPr/>
          </p:nvSpPr>
          <p:spPr>
            <a:xfrm flipH="false" flipV="false" rot="0">
              <a:off x="0" y="0"/>
              <a:ext cx="1114636" cy="1291904"/>
            </a:xfrm>
            <a:custGeom>
              <a:avLst/>
              <a:gdLst/>
              <a:ahLst/>
              <a:cxnLst/>
              <a:rect r="r" b="b" t="t" l="l"/>
              <a:pathLst>
                <a:path h="1291904" w="1114636">
                  <a:moveTo>
                    <a:pt x="60368" y="0"/>
                  </a:moveTo>
                  <a:lnTo>
                    <a:pt x="1054268" y="0"/>
                  </a:lnTo>
                  <a:cubicBezTo>
                    <a:pt x="1087608" y="0"/>
                    <a:pt x="1114636" y="27027"/>
                    <a:pt x="1114636" y="60368"/>
                  </a:cubicBezTo>
                  <a:lnTo>
                    <a:pt x="1114636" y="1231537"/>
                  </a:lnTo>
                  <a:cubicBezTo>
                    <a:pt x="1114636" y="1264877"/>
                    <a:pt x="1087608" y="1291904"/>
                    <a:pt x="1054268" y="1291904"/>
                  </a:cubicBezTo>
                  <a:lnTo>
                    <a:pt x="60368" y="1291904"/>
                  </a:lnTo>
                  <a:cubicBezTo>
                    <a:pt x="27027" y="1291904"/>
                    <a:pt x="0" y="1264877"/>
                    <a:pt x="0" y="1231537"/>
                  </a:cubicBezTo>
                  <a:lnTo>
                    <a:pt x="0" y="60368"/>
                  </a:lnTo>
                  <a:cubicBezTo>
                    <a:pt x="0" y="27027"/>
                    <a:pt x="27027" y="0"/>
                    <a:pt x="60368" y="0"/>
                  </a:cubicBezTo>
                  <a:close/>
                </a:path>
              </a:pathLst>
            </a:custGeom>
            <a:ln w="38100" cap="rnd">
              <a:solidFill>
                <a:srgbClr val="2D5986"/>
              </a:solidFill>
              <a:prstDash val="solid"/>
              <a:round/>
            </a:ln>
          </p:spPr>
        </p:sp>
        <p:sp>
          <p:nvSpPr>
            <p:cNvPr name="TextBox 5" id="5"/>
            <p:cNvSpPr txBox="true"/>
            <p:nvPr/>
          </p:nvSpPr>
          <p:spPr>
            <a:xfrm>
              <a:off x="0" y="-38100"/>
              <a:ext cx="1114636" cy="1330004"/>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2174466" y="3855124"/>
            <a:ext cx="4232132" cy="4905198"/>
            <a:chOff x="0" y="0"/>
            <a:chExt cx="1114636" cy="1291904"/>
          </a:xfrm>
        </p:grpSpPr>
        <p:sp>
          <p:nvSpPr>
            <p:cNvPr name="Freeform 7" id="7"/>
            <p:cNvSpPr/>
            <p:nvPr/>
          </p:nvSpPr>
          <p:spPr>
            <a:xfrm flipH="false" flipV="false" rot="0">
              <a:off x="0" y="0"/>
              <a:ext cx="1114636" cy="1291904"/>
            </a:xfrm>
            <a:custGeom>
              <a:avLst/>
              <a:gdLst/>
              <a:ahLst/>
              <a:cxnLst/>
              <a:rect r="r" b="b" t="t" l="l"/>
              <a:pathLst>
                <a:path h="1291904" w="1114636">
                  <a:moveTo>
                    <a:pt x="60368" y="0"/>
                  </a:moveTo>
                  <a:lnTo>
                    <a:pt x="1054268" y="0"/>
                  </a:lnTo>
                  <a:cubicBezTo>
                    <a:pt x="1087608" y="0"/>
                    <a:pt x="1114636" y="27027"/>
                    <a:pt x="1114636" y="60368"/>
                  </a:cubicBezTo>
                  <a:lnTo>
                    <a:pt x="1114636" y="1231537"/>
                  </a:lnTo>
                  <a:cubicBezTo>
                    <a:pt x="1114636" y="1264877"/>
                    <a:pt x="1087608" y="1291904"/>
                    <a:pt x="1054268" y="1291904"/>
                  </a:cubicBezTo>
                  <a:lnTo>
                    <a:pt x="60368" y="1291904"/>
                  </a:lnTo>
                  <a:cubicBezTo>
                    <a:pt x="27027" y="1291904"/>
                    <a:pt x="0" y="1264877"/>
                    <a:pt x="0" y="1231537"/>
                  </a:cubicBezTo>
                  <a:lnTo>
                    <a:pt x="0" y="60368"/>
                  </a:lnTo>
                  <a:cubicBezTo>
                    <a:pt x="0" y="27027"/>
                    <a:pt x="27027" y="0"/>
                    <a:pt x="60368" y="0"/>
                  </a:cubicBezTo>
                  <a:close/>
                </a:path>
              </a:pathLst>
            </a:custGeom>
            <a:ln w="38100" cap="rnd">
              <a:solidFill>
                <a:srgbClr val="2D5986"/>
              </a:solidFill>
              <a:prstDash val="solid"/>
              <a:round/>
            </a:ln>
          </p:spPr>
        </p:sp>
        <p:sp>
          <p:nvSpPr>
            <p:cNvPr name="TextBox 8" id="8"/>
            <p:cNvSpPr txBox="true"/>
            <p:nvPr/>
          </p:nvSpPr>
          <p:spPr>
            <a:xfrm>
              <a:off x="0" y="-38100"/>
              <a:ext cx="1114636" cy="1330004"/>
            </a:xfrm>
            <a:prstGeom prst="rect">
              <a:avLst/>
            </a:prstGeom>
          </p:spPr>
          <p:txBody>
            <a:bodyPr anchor="ctr" rtlCol="false" tIns="50800" lIns="50800" bIns="50800" rIns="50800"/>
            <a:lstStyle/>
            <a:p>
              <a:pPr algn="ctr">
                <a:lnSpc>
                  <a:spcPts val="2659"/>
                </a:lnSpc>
                <a:spcBef>
                  <a:spcPct val="0"/>
                </a:spcBef>
              </a:pPr>
            </a:p>
          </p:txBody>
        </p:sp>
      </p:grpSp>
      <p:grpSp>
        <p:nvGrpSpPr>
          <p:cNvPr name="Group 9" id="9"/>
          <p:cNvGrpSpPr/>
          <p:nvPr/>
        </p:nvGrpSpPr>
        <p:grpSpPr>
          <a:xfrm rot="0">
            <a:off x="1879128" y="3855124"/>
            <a:ext cx="4232132" cy="4905198"/>
            <a:chOff x="0" y="0"/>
            <a:chExt cx="1114636" cy="1291904"/>
          </a:xfrm>
        </p:grpSpPr>
        <p:sp>
          <p:nvSpPr>
            <p:cNvPr name="Freeform 10" id="10"/>
            <p:cNvSpPr/>
            <p:nvPr/>
          </p:nvSpPr>
          <p:spPr>
            <a:xfrm flipH="false" flipV="false" rot="0">
              <a:off x="0" y="0"/>
              <a:ext cx="1114636" cy="1291904"/>
            </a:xfrm>
            <a:custGeom>
              <a:avLst/>
              <a:gdLst/>
              <a:ahLst/>
              <a:cxnLst/>
              <a:rect r="r" b="b" t="t" l="l"/>
              <a:pathLst>
                <a:path h="1291904" w="1114636">
                  <a:moveTo>
                    <a:pt x="60368" y="0"/>
                  </a:moveTo>
                  <a:lnTo>
                    <a:pt x="1054268" y="0"/>
                  </a:lnTo>
                  <a:cubicBezTo>
                    <a:pt x="1087608" y="0"/>
                    <a:pt x="1114636" y="27027"/>
                    <a:pt x="1114636" y="60368"/>
                  </a:cubicBezTo>
                  <a:lnTo>
                    <a:pt x="1114636" y="1231537"/>
                  </a:lnTo>
                  <a:cubicBezTo>
                    <a:pt x="1114636" y="1264877"/>
                    <a:pt x="1087608" y="1291904"/>
                    <a:pt x="1054268" y="1291904"/>
                  </a:cubicBezTo>
                  <a:lnTo>
                    <a:pt x="60368" y="1291904"/>
                  </a:lnTo>
                  <a:cubicBezTo>
                    <a:pt x="27027" y="1291904"/>
                    <a:pt x="0" y="1264877"/>
                    <a:pt x="0" y="1231537"/>
                  </a:cubicBezTo>
                  <a:lnTo>
                    <a:pt x="0" y="60368"/>
                  </a:lnTo>
                  <a:cubicBezTo>
                    <a:pt x="0" y="27027"/>
                    <a:pt x="27027" y="0"/>
                    <a:pt x="60368" y="0"/>
                  </a:cubicBezTo>
                  <a:close/>
                </a:path>
              </a:pathLst>
            </a:custGeom>
            <a:ln w="38100" cap="rnd">
              <a:solidFill>
                <a:srgbClr val="2D5986"/>
              </a:solidFill>
              <a:prstDash val="solid"/>
              <a:round/>
            </a:ln>
          </p:spPr>
        </p:sp>
        <p:sp>
          <p:nvSpPr>
            <p:cNvPr name="TextBox 11" id="11"/>
            <p:cNvSpPr txBox="true"/>
            <p:nvPr/>
          </p:nvSpPr>
          <p:spPr>
            <a:xfrm>
              <a:off x="0" y="-38100"/>
              <a:ext cx="1114636" cy="1330004"/>
            </a:xfrm>
            <a:prstGeom prst="rect">
              <a:avLst/>
            </a:prstGeom>
          </p:spPr>
          <p:txBody>
            <a:bodyPr anchor="ctr" rtlCol="false" tIns="50800" lIns="50800" bIns="50800" rIns="50800"/>
            <a:lstStyle/>
            <a:p>
              <a:pPr algn="ctr">
                <a:lnSpc>
                  <a:spcPts val="2659"/>
                </a:lnSpc>
                <a:spcBef>
                  <a:spcPct val="0"/>
                </a:spcBef>
              </a:pPr>
            </a:p>
          </p:txBody>
        </p:sp>
      </p:grpSp>
      <p:sp>
        <p:nvSpPr>
          <p:cNvPr name="Freeform 12" id="12"/>
          <p:cNvSpPr/>
          <p:nvPr/>
        </p:nvSpPr>
        <p:spPr>
          <a:xfrm flipH="false" flipV="false" rot="0">
            <a:off x="3547352" y="8957271"/>
            <a:ext cx="893177" cy="893177"/>
          </a:xfrm>
          <a:custGeom>
            <a:avLst/>
            <a:gdLst/>
            <a:ahLst/>
            <a:cxnLst/>
            <a:rect r="r" b="b" t="t" l="l"/>
            <a:pathLst>
              <a:path h="893177" w="893177">
                <a:moveTo>
                  <a:pt x="0" y="0"/>
                </a:moveTo>
                <a:lnTo>
                  <a:pt x="893177" y="0"/>
                </a:lnTo>
                <a:lnTo>
                  <a:pt x="893177" y="893177"/>
                </a:lnTo>
                <a:lnTo>
                  <a:pt x="0" y="8931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8697411" y="8957271"/>
            <a:ext cx="893177" cy="893177"/>
          </a:xfrm>
          <a:custGeom>
            <a:avLst/>
            <a:gdLst/>
            <a:ahLst/>
            <a:cxnLst/>
            <a:rect r="r" b="b" t="t" l="l"/>
            <a:pathLst>
              <a:path h="893177" w="893177">
                <a:moveTo>
                  <a:pt x="0" y="0"/>
                </a:moveTo>
                <a:lnTo>
                  <a:pt x="893178" y="0"/>
                </a:lnTo>
                <a:lnTo>
                  <a:pt x="893178" y="893177"/>
                </a:lnTo>
                <a:lnTo>
                  <a:pt x="0" y="89317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4" id="14"/>
          <p:cNvSpPr/>
          <p:nvPr/>
        </p:nvSpPr>
        <p:spPr>
          <a:xfrm flipH="false" flipV="false" rot="0">
            <a:off x="13843943" y="8957271"/>
            <a:ext cx="893177" cy="893177"/>
          </a:xfrm>
          <a:custGeom>
            <a:avLst/>
            <a:gdLst/>
            <a:ahLst/>
            <a:cxnLst/>
            <a:rect r="r" b="b" t="t" l="l"/>
            <a:pathLst>
              <a:path h="893177" w="893177">
                <a:moveTo>
                  <a:pt x="0" y="0"/>
                </a:moveTo>
                <a:lnTo>
                  <a:pt x="893177" y="0"/>
                </a:lnTo>
                <a:lnTo>
                  <a:pt x="893177" y="893177"/>
                </a:lnTo>
                <a:lnTo>
                  <a:pt x="0" y="8931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16" id="16"/>
          <p:cNvSpPr txBox="true"/>
          <p:nvPr/>
        </p:nvSpPr>
        <p:spPr>
          <a:xfrm rot="0">
            <a:off x="2106486" y="1939476"/>
            <a:ext cx="14075027" cy="1245235"/>
          </a:xfrm>
          <a:prstGeom prst="rect">
            <a:avLst/>
          </a:prstGeom>
        </p:spPr>
        <p:txBody>
          <a:bodyPr anchor="t" rtlCol="false" tIns="0" lIns="0" bIns="0" rIns="0">
            <a:spAutoFit/>
          </a:bodyPr>
          <a:lstStyle/>
          <a:p>
            <a:pPr algn="ctr">
              <a:lnSpc>
                <a:spcPts val="9920"/>
              </a:lnSpc>
            </a:pPr>
            <a:r>
              <a:rPr lang="en-US" sz="8000">
                <a:solidFill>
                  <a:srgbClr val="2D5986"/>
                </a:solidFill>
                <a:latin typeface="Anton"/>
                <a:ea typeface="Anton"/>
                <a:cs typeface="Anton"/>
                <a:sym typeface="Anton"/>
              </a:rPr>
              <a:t>Tools Used in Cyber Security</a:t>
            </a:r>
          </a:p>
        </p:txBody>
      </p:sp>
      <p:sp>
        <p:nvSpPr>
          <p:cNvPr name="TextBox 17" id="17"/>
          <p:cNvSpPr txBox="true"/>
          <p:nvPr/>
        </p:nvSpPr>
        <p:spPr>
          <a:xfrm rot="0">
            <a:off x="2275144" y="3995253"/>
            <a:ext cx="3440100"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2D5986"/>
                </a:solidFill>
                <a:latin typeface="Glacial Indifference Bold"/>
                <a:ea typeface="Glacial Indifference Bold"/>
                <a:cs typeface="Glacial Indifference Bold"/>
                <a:sym typeface="Glacial Indifference Bold"/>
              </a:rPr>
              <a:t>Firewalls</a:t>
            </a:r>
          </a:p>
        </p:txBody>
      </p:sp>
      <p:sp>
        <p:nvSpPr>
          <p:cNvPr name="TextBox 18" id="18"/>
          <p:cNvSpPr txBox="true"/>
          <p:nvPr/>
        </p:nvSpPr>
        <p:spPr>
          <a:xfrm rot="0">
            <a:off x="6944269" y="3995253"/>
            <a:ext cx="4399462"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2D5986"/>
                </a:solidFill>
                <a:latin typeface="Glacial Indifference Bold"/>
                <a:ea typeface="Glacial Indifference Bold"/>
                <a:cs typeface="Glacial Indifference Bold"/>
                <a:sym typeface="Glacial Indifference Bold"/>
              </a:rPr>
              <a:t>Antiv</a:t>
            </a:r>
            <a:r>
              <a:rPr lang="en-US" b="true" sz="3600">
                <a:solidFill>
                  <a:srgbClr val="2D5986"/>
                </a:solidFill>
                <a:latin typeface="Glacial Indifference Bold"/>
                <a:ea typeface="Glacial Indifference Bold"/>
                <a:cs typeface="Glacial Indifference Bold"/>
                <a:sym typeface="Glacial Indifference Bold"/>
              </a:rPr>
              <a:t>irus software</a:t>
            </a:r>
          </a:p>
        </p:txBody>
      </p:sp>
      <p:sp>
        <p:nvSpPr>
          <p:cNvPr name="TextBox 19" id="19"/>
          <p:cNvSpPr txBox="true"/>
          <p:nvPr/>
        </p:nvSpPr>
        <p:spPr>
          <a:xfrm rot="0">
            <a:off x="12570482" y="3995253"/>
            <a:ext cx="3440100" cy="613410"/>
          </a:xfrm>
          <a:prstGeom prst="rect">
            <a:avLst/>
          </a:prstGeom>
        </p:spPr>
        <p:txBody>
          <a:bodyPr anchor="t" rtlCol="false" tIns="0" lIns="0" bIns="0" rIns="0">
            <a:spAutoFit/>
          </a:bodyPr>
          <a:lstStyle/>
          <a:p>
            <a:pPr algn="ctr">
              <a:lnSpc>
                <a:spcPts val="5040"/>
              </a:lnSpc>
              <a:spcBef>
                <a:spcPct val="0"/>
              </a:spcBef>
            </a:pPr>
            <a:r>
              <a:rPr lang="en-US" b="true" sz="3600">
                <a:solidFill>
                  <a:srgbClr val="2D5986"/>
                </a:solidFill>
                <a:latin typeface="Glacial Indifference Bold"/>
                <a:ea typeface="Glacial Indifference Bold"/>
                <a:cs typeface="Glacial Indifference Bold"/>
                <a:sym typeface="Glacial Indifference Bold"/>
              </a:rPr>
              <a:t>Encrypt</a:t>
            </a:r>
            <a:r>
              <a:rPr lang="en-US" b="true" sz="3600">
                <a:solidFill>
                  <a:srgbClr val="2D5986"/>
                </a:solidFill>
                <a:latin typeface="Glacial Indifference Bold"/>
                <a:ea typeface="Glacial Indifference Bold"/>
                <a:cs typeface="Glacial Indifference Bold"/>
                <a:sym typeface="Glacial Indifference Bold"/>
              </a:rPr>
              <a:t>ion</a:t>
            </a:r>
          </a:p>
        </p:txBody>
      </p:sp>
      <p:sp>
        <p:nvSpPr>
          <p:cNvPr name="TextBox 20" id="20"/>
          <p:cNvSpPr txBox="true"/>
          <p:nvPr/>
        </p:nvSpPr>
        <p:spPr>
          <a:xfrm rot="0">
            <a:off x="2106486" y="4884888"/>
            <a:ext cx="3774908" cy="3191510"/>
          </a:xfrm>
          <a:prstGeom prst="rect">
            <a:avLst/>
          </a:prstGeom>
        </p:spPr>
        <p:txBody>
          <a:bodyPr anchor="t" rtlCol="false" tIns="0" lIns="0" bIns="0" rIns="0">
            <a:spAutoFit/>
          </a:bodyPr>
          <a:lstStyle/>
          <a:p>
            <a:pPr algn="just">
              <a:lnSpc>
                <a:spcPts val="3640"/>
              </a:lnSpc>
            </a:pPr>
            <a:r>
              <a:rPr lang="en-US" sz="2600">
                <a:solidFill>
                  <a:srgbClr val="2D5986"/>
                </a:solidFill>
                <a:latin typeface="Glacial Indifference"/>
                <a:ea typeface="Glacial Indifference"/>
                <a:cs typeface="Glacial Indifference"/>
                <a:sym typeface="Glacial Indifference"/>
              </a:rPr>
              <a:t>Lorem Ipsum elit elit aliqua mollit eiusmod commodo do cillum eu occaecat do pariatur eiusmod proident consectetur nisi nostrud tempor elit ea sit non</a:t>
            </a:r>
          </a:p>
        </p:txBody>
      </p:sp>
      <p:sp>
        <p:nvSpPr>
          <p:cNvPr name="TextBox 21" id="21"/>
          <p:cNvSpPr txBox="true"/>
          <p:nvPr/>
        </p:nvSpPr>
        <p:spPr>
          <a:xfrm rot="0">
            <a:off x="7256546" y="4884888"/>
            <a:ext cx="3774908" cy="3191510"/>
          </a:xfrm>
          <a:prstGeom prst="rect">
            <a:avLst/>
          </a:prstGeom>
        </p:spPr>
        <p:txBody>
          <a:bodyPr anchor="t" rtlCol="false" tIns="0" lIns="0" bIns="0" rIns="0">
            <a:spAutoFit/>
          </a:bodyPr>
          <a:lstStyle/>
          <a:p>
            <a:pPr algn="just">
              <a:lnSpc>
                <a:spcPts val="3640"/>
              </a:lnSpc>
            </a:pPr>
            <a:r>
              <a:rPr lang="en-US" sz="2600">
                <a:solidFill>
                  <a:srgbClr val="2D5986"/>
                </a:solidFill>
                <a:latin typeface="Glacial Indifference"/>
                <a:ea typeface="Glacial Indifference"/>
                <a:cs typeface="Glacial Indifference"/>
                <a:sym typeface="Glacial Indifference"/>
              </a:rPr>
              <a:t>Lorem Ipsum elit elit aliqua mollit eiusmod commodo do cillum eu occaecat do pariatur eiusmod proident consectetur nisi nostrud tempor elit ea sit non</a:t>
            </a:r>
          </a:p>
        </p:txBody>
      </p:sp>
      <p:sp>
        <p:nvSpPr>
          <p:cNvPr name="TextBox 22" id="22"/>
          <p:cNvSpPr txBox="true"/>
          <p:nvPr/>
        </p:nvSpPr>
        <p:spPr>
          <a:xfrm rot="0">
            <a:off x="12406606" y="4884888"/>
            <a:ext cx="3774908" cy="3191510"/>
          </a:xfrm>
          <a:prstGeom prst="rect">
            <a:avLst/>
          </a:prstGeom>
        </p:spPr>
        <p:txBody>
          <a:bodyPr anchor="t" rtlCol="false" tIns="0" lIns="0" bIns="0" rIns="0">
            <a:spAutoFit/>
          </a:bodyPr>
          <a:lstStyle/>
          <a:p>
            <a:pPr algn="just">
              <a:lnSpc>
                <a:spcPts val="3640"/>
              </a:lnSpc>
            </a:pPr>
            <a:r>
              <a:rPr lang="en-US" sz="2600">
                <a:solidFill>
                  <a:srgbClr val="2D5986"/>
                </a:solidFill>
                <a:latin typeface="Glacial Indifference"/>
                <a:ea typeface="Glacial Indifference"/>
                <a:cs typeface="Glacial Indifference"/>
                <a:sym typeface="Glacial Indifference"/>
              </a:rPr>
              <a:t>Lorem Ipsum elit elit aliqua mollit eiusmod commodo do cillum eu occaecat do pariatur eiusmod proident consectetur nisi nostrud tempor elit ea sit non</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140043" y="0"/>
            <a:ext cx="10234749" cy="10471513"/>
            <a:chOff x="0" y="0"/>
            <a:chExt cx="1189223" cy="1216734"/>
          </a:xfrm>
        </p:grpSpPr>
        <p:sp>
          <p:nvSpPr>
            <p:cNvPr name="Freeform 4" id="4"/>
            <p:cNvSpPr/>
            <p:nvPr/>
          </p:nvSpPr>
          <p:spPr>
            <a:xfrm flipH="false" flipV="false" rot="0">
              <a:off x="0" y="0"/>
              <a:ext cx="1189223" cy="1216733"/>
            </a:xfrm>
            <a:custGeom>
              <a:avLst/>
              <a:gdLst/>
              <a:ahLst/>
              <a:cxnLst/>
              <a:rect r="r" b="b" t="t" l="l"/>
              <a:pathLst>
                <a:path h="1216733" w="1189223">
                  <a:moveTo>
                    <a:pt x="203200" y="0"/>
                  </a:moveTo>
                  <a:lnTo>
                    <a:pt x="1189223" y="0"/>
                  </a:lnTo>
                  <a:lnTo>
                    <a:pt x="986023" y="1216733"/>
                  </a:lnTo>
                  <a:lnTo>
                    <a:pt x="0" y="1216733"/>
                  </a:lnTo>
                  <a:lnTo>
                    <a:pt x="203200" y="0"/>
                  </a:lnTo>
                  <a:close/>
                </a:path>
              </a:pathLst>
            </a:custGeom>
            <a:blipFill>
              <a:blip r:embed="rId4"/>
              <a:stretch>
                <a:fillRect l="-24042" t="0" r="-24042" b="0"/>
              </a:stretch>
            </a:blipFill>
          </p:spPr>
        </p:sp>
      </p:grpSp>
      <p:grpSp>
        <p:nvGrpSpPr>
          <p:cNvPr name="Group 5" id="5"/>
          <p:cNvGrpSpPr/>
          <p:nvPr/>
        </p:nvGrpSpPr>
        <p:grpSpPr>
          <a:xfrm rot="0">
            <a:off x="1028700" y="7056617"/>
            <a:ext cx="6241126" cy="585332"/>
            <a:chOff x="0" y="0"/>
            <a:chExt cx="4333255" cy="406400"/>
          </a:xfrm>
        </p:grpSpPr>
        <p:sp>
          <p:nvSpPr>
            <p:cNvPr name="Freeform 6" id="6"/>
            <p:cNvSpPr/>
            <p:nvPr/>
          </p:nvSpPr>
          <p:spPr>
            <a:xfrm flipH="false" flipV="false" rot="0">
              <a:off x="0" y="0"/>
              <a:ext cx="4333256" cy="406400"/>
            </a:xfrm>
            <a:custGeom>
              <a:avLst/>
              <a:gdLst/>
              <a:ahLst/>
              <a:cxnLst/>
              <a:rect r="r" b="b" t="t" l="l"/>
              <a:pathLst>
                <a:path h="406400" w="4333256">
                  <a:moveTo>
                    <a:pt x="4130056" y="0"/>
                  </a:moveTo>
                  <a:cubicBezTo>
                    <a:pt x="4242280" y="0"/>
                    <a:pt x="4333256" y="90976"/>
                    <a:pt x="4333256" y="203200"/>
                  </a:cubicBezTo>
                  <a:cubicBezTo>
                    <a:pt x="4333256" y="315424"/>
                    <a:pt x="4242280" y="406400"/>
                    <a:pt x="4130056" y="406400"/>
                  </a:cubicBezTo>
                  <a:lnTo>
                    <a:pt x="203200" y="406400"/>
                  </a:lnTo>
                  <a:cubicBezTo>
                    <a:pt x="90976" y="406400"/>
                    <a:pt x="0" y="315424"/>
                    <a:pt x="0" y="203200"/>
                  </a:cubicBezTo>
                  <a:cubicBezTo>
                    <a:pt x="0" y="90976"/>
                    <a:pt x="90976" y="0"/>
                    <a:pt x="203200" y="0"/>
                  </a:cubicBezTo>
                  <a:close/>
                </a:path>
              </a:pathLst>
            </a:custGeom>
            <a:ln w="28575" cap="sq">
              <a:solidFill>
                <a:srgbClr val="2D5986"/>
              </a:solidFill>
              <a:prstDash val="solid"/>
              <a:miter/>
            </a:ln>
          </p:spPr>
        </p:sp>
        <p:sp>
          <p:nvSpPr>
            <p:cNvPr name="TextBox 7" id="7"/>
            <p:cNvSpPr txBox="true"/>
            <p:nvPr/>
          </p:nvSpPr>
          <p:spPr>
            <a:xfrm>
              <a:off x="0" y="-38100"/>
              <a:ext cx="4333255" cy="444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028700" y="6100059"/>
            <a:ext cx="3642171" cy="585332"/>
            <a:chOff x="0" y="0"/>
            <a:chExt cx="2528784" cy="406400"/>
          </a:xfrm>
        </p:grpSpPr>
        <p:sp>
          <p:nvSpPr>
            <p:cNvPr name="Freeform 9" id="9"/>
            <p:cNvSpPr/>
            <p:nvPr/>
          </p:nvSpPr>
          <p:spPr>
            <a:xfrm flipH="false" flipV="false" rot="0">
              <a:off x="0" y="0"/>
              <a:ext cx="2528784" cy="406400"/>
            </a:xfrm>
            <a:custGeom>
              <a:avLst/>
              <a:gdLst/>
              <a:ahLst/>
              <a:cxnLst/>
              <a:rect r="r" b="b" t="t" l="l"/>
              <a:pathLst>
                <a:path h="406400" w="2528784">
                  <a:moveTo>
                    <a:pt x="2325584" y="0"/>
                  </a:moveTo>
                  <a:cubicBezTo>
                    <a:pt x="2437808" y="0"/>
                    <a:pt x="2528784" y="90976"/>
                    <a:pt x="2528784" y="203200"/>
                  </a:cubicBezTo>
                  <a:cubicBezTo>
                    <a:pt x="2528784" y="315424"/>
                    <a:pt x="2437808" y="406400"/>
                    <a:pt x="2325584" y="406400"/>
                  </a:cubicBezTo>
                  <a:lnTo>
                    <a:pt x="203200" y="406400"/>
                  </a:lnTo>
                  <a:cubicBezTo>
                    <a:pt x="90976" y="406400"/>
                    <a:pt x="0" y="315424"/>
                    <a:pt x="0" y="203200"/>
                  </a:cubicBezTo>
                  <a:cubicBezTo>
                    <a:pt x="0" y="90976"/>
                    <a:pt x="90976" y="0"/>
                    <a:pt x="203200" y="0"/>
                  </a:cubicBezTo>
                  <a:close/>
                </a:path>
              </a:pathLst>
            </a:custGeom>
            <a:ln w="28575" cap="sq">
              <a:solidFill>
                <a:srgbClr val="2D5986"/>
              </a:solidFill>
              <a:prstDash val="solid"/>
              <a:miter/>
            </a:ln>
          </p:spPr>
        </p:sp>
        <p:sp>
          <p:nvSpPr>
            <p:cNvPr name="TextBox 10" id="10"/>
            <p:cNvSpPr txBox="true"/>
            <p:nvPr/>
          </p:nvSpPr>
          <p:spPr>
            <a:xfrm>
              <a:off x="0" y="-38100"/>
              <a:ext cx="2528784" cy="444500"/>
            </a:xfrm>
            <a:prstGeom prst="rect">
              <a:avLst/>
            </a:prstGeom>
          </p:spPr>
          <p:txBody>
            <a:bodyPr anchor="ctr" rtlCol="false" tIns="50800" lIns="50800" bIns="50800" rIns="50800"/>
            <a:lstStyle/>
            <a:p>
              <a:pPr algn="ctr">
                <a:lnSpc>
                  <a:spcPts val="2659"/>
                </a:lnSpc>
              </a:pPr>
            </a:p>
          </p:txBody>
        </p:sp>
      </p:grpSp>
      <p:sp>
        <p:nvSpPr>
          <p:cNvPr name="TextBox 11" id="11"/>
          <p:cNvSpPr txBox="true"/>
          <p:nvPr/>
        </p:nvSpPr>
        <p:spPr>
          <a:xfrm rot="0">
            <a:off x="1286762" y="6033384"/>
            <a:ext cx="4155169" cy="613410"/>
          </a:xfrm>
          <a:prstGeom prst="rect">
            <a:avLst/>
          </a:prstGeom>
        </p:spPr>
        <p:txBody>
          <a:bodyPr anchor="t" rtlCol="false" tIns="0" lIns="0" bIns="0" rIns="0">
            <a:spAutoFit/>
          </a:bodyPr>
          <a:lstStyle/>
          <a:p>
            <a:pPr algn="l">
              <a:lnSpc>
                <a:spcPts val="5040"/>
              </a:lnSpc>
              <a:spcBef>
                <a:spcPct val="0"/>
              </a:spcBef>
            </a:pPr>
            <a:r>
              <a:rPr lang="en-US" b="true" sz="3600">
                <a:solidFill>
                  <a:srgbClr val="2D5986"/>
                </a:solidFill>
                <a:latin typeface="Glacial Indifference Bold"/>
                <a:ea typeface="Glacial Indifference Bold"/>
                <a:cs typeface="Glacial Indifference Bold"/>
                <a:sym typeface="Glacial Indifference Bold"/>
              </a:rPr>
              <a:t>Ethi</a:t>
            </a:r>
            <a:r>
              <a:rPr lang="en-US" b="true" sz="3600">
                <a:solidFill>
                  <a:srgbClr val="2D5986"/>
                </a:solidFill>
                <a:latin typeface="Glacial Indifference Bold"/>
                <a:ea typeface="Glacial Indifference Bold"/>
                <a:cs typeface="Glacial Indifference Bold"/>
                <a:sym typeface="Glacial Indifference Bold"/>
              </a:rPr>
              <a:t>cal Hacker</a:t>
            </a:r>
          </a:p>
        </p:txBody>
      </p:sp>
      <p:grpSp>
        <p:nvGrpSpPr>
          <p:cNvPr name="Group 12" id="12"/>
          <p:cNvGrpSpPr/>
          <p:nvPr/>
        </p:nvGrpSpPr>
        <p:grpSpPr>
          <a:xfrm rot="0">
            <a:off x="1028700" y="5143500"/>
            <a:ext cx="3878440" cy="585332"/>
            <a:chOff x="0" y="0"/>
            <a:chExt cx="2692826" cy="406400"/>
          </a:xfrm>
        </p:grpSpPr>
        <p:sp>
          <p:nvSpPr>
            <p:cNvPr name="Freeform 13" id="13"/>
            <p:cNvSpPr/>
            <p:nvPr/>
          </p:nvSpPr>
          <p:spPr>
            <a:xfrm flipH="false" flipV="false" rot="0">
              <a:off x="0" y="0"/>
              <a:ext cx="2692827" cy="406400"/>
            </a:xfrm>
            <a:custGeom>
              <a:avLst/>
              <a:gdLst/>
              <a:ahLst/>
              <a:cxnLst/>
              <a:rect r="r" b="b" t="t" l="l"/>
              <a:pathLst>
                <a:path h="406400" w="2692827">
                  <a:moveTo>
                    <a:pt x="2489627" y="0"/>
                  </a:moveTo>
                  <a:cubicBezTo>
                    <a:pt x="2601851" y="0"/>
                    <a:pt x="2692827" y="90976"/>
                    <a:pt x="2692827" y="203200"/>
                  </a:cubicBezTo>
                  <a:cubicBezTo>
                    <a:pt x="2692827" y="315424"/>
                    <a:pt x="2601851" y="406400"/>
                    <a:pt x="2489627" y="406400"/>
                  </a:cubicBezTo>
                  <a:lnTo>
                    <a:pt x="203200" y="406400"/>
                  </a:lnTo>
                  <a:cubicBezTo>
                    <a:pt x="90976" y="406400"/>
                    <a:pt x="0" y="315424"/>
                    <a:pt x="0" y="203200"/>
                  </a:cubicBezTo>
                  <a:cubicBezTo>
                    <a:pt x="0" y="90976"/>
                    <a:pt x="90976" y="0"/>
                    <a:pt x="203200" y="0"/>
                  </a:cubicBezTo>
                  <a:close/>
                </a:path>
              </a:pathLst>
            </a:custGeom>
            <a:ln w="28575" cap="sq">
              <a:solidFill>
                <a:srgbClr val="2D5986"/>
              </a:solidFill>
              <a:prstDash val="solid"/>
              <a:miter/>
            </a:ln>
          </p:spPr>
        </p:sp>
        <p:sp>
          <p:nvSpPr>
            <p:cNvPr name="TextBox 14" id="14"/>
            <p:cNvSpPr txBox="true"/>
            <p:nvPr/>
          </p:nvSpPr>
          <p:spPr>
            <a:xfrm>
              <a:off x="0" y="-38100"/>
              <a:ext cx="2692826" cy="444500"/>
            </a:xfrm>
            <a:prstGeom prst="rect">
              <a:avLst/>
            </a:prstGeom>
          </p:spPr>
          <p:txBody>
            <a:bodyPr anchor="ctr" rtlCol="false" tIns="50800" lIns="50800" bIns="50800" rIns="50800"/>
            <a:lstStyle/>
            <a:p>
              <a:pPr algn="ctr">
                <a:lnSpc>
                  <a:spcPts val="2659"/>
                </a:lnSpc>
              </a:pPr>
            </a:p>
          </p:txBody>
        </p:sp>
      </p:grpSp>
      <p:sp>
        <p:nvSpPr>
          <p:cNvPr name="TextBox 15" id="15"/>
          <p:cNvSpPr txBox="true"/>
          <p:nvPr/>
        </p:nvSpPr>
        <p:spPr>
          <a:xfrm rot="0">
            <a:off x="1286762" y="5077641"/>
            <a:ext cx="4155169" cy="613410"/>
          </a:xfrm>
          <a:prstGeom prst="rect">
            <a:avLst/>
          </a:prstGeom>
        </p:spPr>
        <p:txBody>
          <a:bodyPr anchor="t" rtlCol="false" tIns="0" lIns="0" bIns="0" rIns="0">
            <a:spAutoFit/>
          </a:bodyPr>
          <a:lstStyle/>
          <a:p>
            <a:pPr algn="l">
              <a:lnSpc>
                <a:spcPts val="5040"/>
              </a:lnSpc>
              <a:spcBef>
                <a:spcPct val="0"/>
              </a:spcBef>
            </a:pPr>
            <a:r>
              <a:rPr lang="en-US" b="true" sz="3600">
                <a:solidFill>
                  <a:srgbClr val="2D5986"/>
                </a:solidFill>
                <a:latin typeface="Glacial Indifference Bold"/>
                <a:ea typeface="Glacial Indifference Bold"/>
                <a:cs typeface="Glacial Indifference Bold"/>
                <a:sym typeface="Glacial Indifference Bold"/>
              </a:rPr>
              <a:t>Security Analyst</a:t>
            </a:r>
          </a:p>
        </p:txBody>
      </p:sp>
      <p:sp>
        <p:nvSpPr>
          <p:cNvPr name="TextBox 16" id="16"/>
          <p:cNvSpPr txBox="true"/>
          <p:nvPr/>
        </p:nvSpPr>
        <p:spPr>
          <a:xfrm rot="0">
            <a:off x="1286762" y="6989942"/>
            <a:ext cx="6351433" cy="613410"/>
          </a:xfrm>
          <a:prstGeom prst="rect">
            <a:avLst/>
          </a:prstGeom>
        </p:spPr>
        <p:txBody>
          <a:bodyPr anchor="t" rtlCol="false" tIns="0" lIns="0" bIns="0" rIns="0">
            <a:spAutoFit/>
          </a:bodyPr>
          <a:lstStyle/>
          <a:p>
            <a:pPr algn="l">
              <a:lnSpc>
                <a:spcPts val="5040"/>
              </a:lnSpc>
              <a:spcBef>
                <a:spcPct val="0"/>
              </a:spcBef>
            </a:pPr>
            <a:r>
              <a:rPr lang="en-US" b="true" sz="3600">
                <a:solidFill>
                  <a:srgbClr val="2D5986"/>
                </a:solidFill>
                <a:latin typeface="Glacial Indifference Bold"/>
                <a:ea typeface="Glacial Indifference Bold"/>
                <a:cs typeface="Glacial Indifference Bold"/>
                <a:sym typeface="Glacial Indifference Bold"/>
              </a:rPr>
              <a:t>Network Security</a:t>
            </a:r>
            <a:r>
              <a:rPr lang="en-US" b="true" sz="3600">
                <a:solidFill>
                  <a:srgbClr val="2D5986"/>
                </a:solidFill>
                <a:latin typeface="Glacial Indifference Bold"/>
                <a:ea typeface="Glacial Indifference Bold"/>
                <a:cs typeface="Glacial Indifference Bold"/>
                <a:sym typeface="Glacial Indifference Bold"/>
              </a:rPr>
              <a:t> Engineer</a:t>
            </a:r>
          </a:p>
        </p:txBody>
      </p:sp>
      <p:sp>
        <p:nvSpPr>
          <p:cNvPr name="TextBox 17" id="17"/>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18" id="18"/>
          <p:cNvSpPr txBox="true"/>
          <p:nvPr/>
        </p:nvSpPr>
        <p:spPr>
          <a:xfrm rot="0">
            <a:off x="1028700" y="2085735"/>
            <a:ext cx="10096796" cy="2502535"/>
          </a:xfrm>
          <a:prstGeom prst="rect">
            <a:avLst/>
          </a:prstGeom>
        </p:spPr>
        <p:txBody>
          <a:bodyPr anchor="t" rtlCol="false" tIns="0" lIns="0" bIns="0" rIns="0">
            <a:spAutoFit/>
          </a:bodyPr>
          <a:lstStyle/>
          <a:p>
            <a:pPr algn="l">
              <a:lnSpc>
                <a:spcPts val="9920"/>
              </a:lnSpc>
            </a:pPr>
            <a:r>
              <a:rPr lang="en-US" sz="8000">
                <a:solidFill>
                  <a:srgbClr val="2D5986"/>
                </a:solidFill>
                <a:latin typeface="Anton"/>
                <a:ea typeface="Anton"/>
                <a:cs typeface="Anton"/>
                <a:sym typeface="Anton"/>
              </a:rPr>
              <a:t>Careers in Cyber Security</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1939735" y="3328450"/>
            <a:ext cx="7315200" cy="1157132"/>
          </a:xfrm>
          <a:custGeom>
            <a:avLst/>
            <a:gdLst/>
            <a:ahLst/>
            <a:cxnLst/>
            <a:rect r="r" b="b" t="t" l="l"/>
            <a:pathLst>
              <a:path h="1157132" w="7315200">
                <a:moveTo>
                  <a:pt x="0" y="0"/>
                </a:moveTo>
                <a:lnTo>
                  <a:pt x="7315200" y="0"/>
                </a:lnTo>
                <a:lnTo>
                  <a:pt x="7315200" y="1157131"/>
                </a:lnTo>
                <a:lnTo>
                  <a:pt x="0" y="115713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5" id="5"/>
          <p:cNvSpPr txBox="true"/>
          <p:nvPr/>
        </p:nvSpPr>
        <p:spPr>
          <a:xfrm rot="0">
            <a:off x="1028700" y="2085735"/>
            <a:ext cx="10096796" cy="1245235"/>
          </a:xfrm>
          <a:prstGeom prst="rect">
            <a:avLst/>
          </a:prstGeom>
        </p:spPr>
        <p:txBody>
          <a:bodyPr anchor="t" rtlCol="false" tIns="0" lIns="0" bIns="0" rIns="0">
            <a:spAutoFit/>
          </a:bodyPr>
          <a:lstStyle/>
          <a:p>
            <a:pPr algn="l">
              <a:lnSpc>
                <a:spcPts val="9920"/>
              </a:lnSpc>
            </a:pPr>
            <a:r>
              <a:rPr lang="en-US" sz="8000">
                <a:solidFill>
                  <a:srgbClr val="2D5986"/>
                </a:solidFill>
                <a:latin typeface="Anton"/>
                <a:ea typeface="Anton"/>
                <a:cs typeface="Anton"/>
                <a:sym typeface="Anton"/>
              </a:rPr>
              <a:t>Conclusion</a:t>
            </a:r>
          </a:p>
        </p:txBody>
      </p:sp>
      <p:sp>
        <p:nvSpPr>
          <p:cNvPr name="TextBox 6" id="6"/>
          <p:cNvSpPr txBox="true"/>
          <p:nvPr/>
        </p:nvSpPr>
        <p:spPr>
          <a:xfrm rot="0">
            <a:off x="1028700" y="3499426"/>
            <a:ext cx="8115300" cy="9861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Cyber security is essential to keep data safe and ensure digital trust</a:t>
            </a:r>
          </a:p>
        </p:txBody>
      </p:sp>
      <p:sp>
        <p:nvSpPr>
          <p:cNvPr name="TextBox 7" id="7"/>
          <p:cNvSpPr txBox="true"/>
          <p:nvPr/>
        </p:nvSpPr>
        <p:spPr>
          <a:xfrm rot="0">
            <a:off x="1028700" y="5076825"/>
            <a:ext cx="7414200" cy="3957955"/>
          </a:xfrm>
          <a:prstGeom prst="rect">
            <a:avLst/>
          </a:prstGeom>
        </p:spPr>
        <p:txBody>
          <a:bodyPr anchor="t" rtlCol="false" tIns="0" lIns="0" bIns="0" rIns="0">
            <a:spAutoFit/>
          </a:bodyPr>
          <a:lstStyle/>
          <a:p>
            <a:pPr algn="just">
              <a:lnSpc>
                <a:spcPts val="3919"/>
              </a:lnSpc>
            </a:pPr>
            <a:r>
              <a:rPr lang="en-US" sz="2799">
                <a:solidFill>
                  <a:srgbClr val="2D5986"/>
                </a:solidFill>
                <a:latin typeface="Glacial Indifference"/>
                <a:ea typeface="Glacial Indifference"/>
                <a:cs typeface="Glacial Indifference"/>
                <a:sym typeface="Glacial Indifference"/>
              </a:rPr>
              <a:t>Lorem Ipsum ullamco do aliquip anim in labore laboris pariatur proident enim sit quis anim consequat do ut et velit sit do reprehenderit id nulla et ipsum eiusmod ad exercitation ea anim id aute do consequat sit ex eiusmod incididunt dolore voluptate occaecat qui officia consequat amet non tempor tempor consequat cillum</a:t>
            </a:r>
          </a:p>
        </p:txBody>
      </p:sp>
      <p:sp>
        <p:nvSpPr>
          <p:cNvPr name="TextBox 8" id="8"/>
          <p:cNvSpPr txBox="true"/>
          <p:nvPr/>
        </p:nvSpPr>
        <p:spPr>
          <a:xfrm rot="0">
            <a:off x="9845100" y="5076825"/>
            <a:ext cx="7414200" cy="3957955"/>
          </a:xfrm>
          <a:prstGeom prst="rect">
            <a:avLst/>
          </a:prstGeom>
        </p:spPr>
        <p:txBody>
          <a:bodyPr anchor="t" rtlCol="false" tIns="0" lIns="0" bIns="0" rIns="0">
            <a:spAutoFit/>
          </a:bodyPr>
          <a:lstStyle/>
          <a:p>
            <a:pPr algn="just">
              <a:lnSpc>
                <a:spcPts val="3919"/>
              </a:lnSpc>
            </a:pPr>
            <a:r>
              <a:rPr lang="en-US" sz="2799">
                <a:solidFill>
                  <a:srgbClr val="2D5986"/>
                </a:solidFill>
                <a:latin typeface="Glacial Indifference"/>
                <a:ea typeface="Glacial Indifference"/>
                <a:cs typeface="Glacial Indifference"/>
                <a:sym typeface="Glacial Indifference"/>
              </a:rPr>
              <a:t>Lorem Ipsum ullamco do aliquip anim in labore laboris pariatur proident enim sit quis anim consequat do ut et velit sit do reprehenderit id nulla et ipsum eiusmod ad exercitation ea anim id aute do consequat sit ex eiusmod incididunt dolore voluptate occaecat qui officia consequat amet non tempor tempor consequat cillum</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7F5F1"/>
        </a:solidFill>
      </p:bgPr>
    </p:bg>
    <p:spTree>
      <p:nvGrpSpPr>
        <p:cNvPr id="1" name=""/>
        <p:cNvGrpSpPr/>
        <p:nvPr/>
      </p:nvGrpSpPr>
      <p:grpSpPr>
        <a:xfrm>
          <a:off x="0" y="0"/>
          <a:ext cx="0" cy="0"/>
          <a:chOff x="0" y="0"/>
          <a:chExt cx="0" cy="0"/>
        </a:xfrm>
      </p:grpSpPr>
      <p:sp>
        <p:nvSpPr>
          <p:cNvPr name="Freeform 2" id="2"/>
          <p:cNvSpPr/>
          <p:nvPr/>
        </p:nvSpPr>
        <p:spPr>
          <a:xfrm flipH="false" flipV="false" rot="0">
            <a:off x="1028700" y="1028700"/>
            <a:ext cx="593500" cy="593500"/>
          </a:xfrm>
          <a:custGeom>
            <a:avLst/>
            <a:gdLst/>
            <a:ahLst/>
            <a:cxnLst/>
            <a:rect r="r" b="b" t="t" l="l"/>
            <a:pathLst>
              <a:path h="593500" w="593500">
                <a:moveTo>
                  <a:pt x="0" y="0"/>
                </a:moveTo>
                <a:lnTo>
                  <a:pt x="593500" y="0"/>
                </a:lnTo>
                <a:lnTo>
                  <a:pt x="593500" y="593500"/>
                </a:lnTo>
                <a:lnTo>
                  <a:pt x="0" y="5935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0488199" y="1537540"/>
            <a:ext cx="7605951" cy="9361170"/>
            <a:chOff x="0" y="0"/>
            <a:chExt cx="660400" cy="812800"/>
          </a:xfrm>
        </p:grpSpPr>
        <p:sp>
          <p:nvSpPr>
            <p:cNvPr name="Freeform 4" id="4"/>
            <p:cNvSpPr/>
            <p:nvPr/>
          </p:nvSpPr>
          <p:spPr>
            <a:xfrm flipH="false" flipV="false" rot="0">
              <a:off x="0" y="0"/>
              <a:ext cx="660400" cy="812800"/>
            </a:xfrm>
            <a:custGeom>
              <a:avLst/>
              <a:gdLst/>
              <a:ahLst/>
              <a:cxnLst/>
              <a:rect r="r" b="b" t="t" l="l"/>
              <a:pathLst>
                <a:path h="812800" w="660400">
                  <a:moveTo>
                    <a:pt x="220252" y="19070"/>
                  </a:moveTo>
                  <a:cubicBezTo>
                    <a:pt x="254000" y="7556"/>
                    <a:pt x="292600" y="0"/>
                    <a:pt x="330378" y="0"/>
                  </a:cubicBezTo>
                  <a:cubicBezTo>
                    <a:pt x="368157" y="0"/>
                    <a:pt x="404509" y="6476"/>
                    <a:pt x="438009" y="17990"/>
                  </a:cubicBezTo>
                  <a:cubicBezTo>
                    <a:pt x="438723" y="18350"/>
                    <a:pt x="439435" y="18350"/>
                    <a:pt x="440148" y="18710"/>
                  </a:cubicBezTo>
                  <a:cubicBezTo>
                    <a:pt x="565955" y="64765"/>
                    <a:pt x="658618" y="186379"/>
                    <a:pt x="660400" y="328502"/>
                  </a:cubicBezTo>
                  <a:lnTo>
                    <a:pt x="660400" y="812800"/>
                  </a:lnTo>
                  <a:lnTo>
                    <a:pt x="0" y="812800"/>
                  </a:lnTo>
                  <a:lnTo>
                    <a:pt x="0" y="328861"/>
                  </a:lnTo>
                  <a:cubicBezTo>
                    <a:pt x="1782" y="185660"/>
                    <a:pt x="93019" y="64045"/>
                    <a:pt x="220252" y="19070"/>
                  </a:cubicBezTo>
                  <a:close/>
                </a:path>
              </a:pathLst>
            </a:custGeom>
            <a:blipFill>
              <a:blip r:embed="rId4"/>
              <a:stretch>
                <a:fillRect l="-42365" t="0" r="-42365" b="0"/>
              </a:stretch>
            </a:blipFill>
            <a:ln w="142875" cap="sq">
              <a:solidFill>
                <a:srgbClr val="2D5986"/>
              </a:solidFill>
              <a:prstDash val="solid"/>
              <a:miter/>
            </a:ln>
          </p:spPr>
        </p:sp>
      </p:grpSp>
      <p:sp>
        <p:nvSpPr>
          <p:cNvPr name="Freeform 5" id="5"/>
          <p:cNvSpPr/>
          <p:nvPr/>
        </p:nvSpPr>
        <p:spPr>
          <a:xfrm flipH="false" flipV="false" rot="0">
            <a:off x="1028700" y="5274582"/>
            <a:ext cx="710098" cy="710098"/>
          </a:xfrm>
          <a:custGeom>
            <a:avLst/>
            <a:gdLst/>
            <a:ahLst/>
            <a:cxnLst/>
            <a:rect r="r" b="b" t="t" l="l"/>
            <a:pathLst>
              <a:path h="710098" w="710098">
                <a:moveTo>
                  <a:pt x="0" y="0"/>
                </a:moveTo>
                <a:lnTo>
                  <a:pt x="710098" y="0"/>
                </a:lnTo>
                <a:lnTo>
                  <a:pt x="710098" y="710097"/>
                </a:lnTo>
                <a:lnTo>
                  <a:pt x="0" y="7100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 id="6"/>
          <p:cNvSpPr/>
          <p:nvPr/>
        </p:nvSpPr>
        <p:spPr>
          <a:xfrm flipH="false" flipV="false" rot="0">
            <a:off x="1028700" y="6243319"/>
            <a:ext cx="710098" cy="710098"/>
          </a:xfrm>
          <a:custGeom>
            <a:avLst/>
            <a:gdLst/>
            <a:ahLst/>
            <a:cxnLst/>
            <a:rect r="r" b="b" t="t" l="l"/>
            <a:pathLst>
              <a:path h="710098" w="710098">
                <a:moveTo>
                  <a:pt x="0" y="0"/>
                </a:moveTo>
                <a:lnTo>
                  <a:pt x="710098" y="0"/>
                </a:lnTo>
                <a:lnTo>
                  <a:pt x="710098" y="710098"/>
                </a:lnTo>
                <a:lnTo>
                  <a:pt x="0" y="71009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7" id="7"/>
          <p:cNvGrpSpPr/>
          <p:nvPr/>
        </p:nvGrpSpPr>
        <p:grpSpPr>
          <a:xfrm rot="0">
            <a:off x="1028700" y="8263590"/>
            <a:ext cx="4233704" cy="718863"/>
            <a:chOff x="0" y="0"/>
            <a:chExt cx="2393469" cy="406400"/>
          </a:xfrm>
        </p:grpSpPr>
        <p:sp>
          <p:nvSpPr>
            <p:cNvPr name="Freeform 8" id="8"/>
            <p:cNvSpPr/>
            <p:nvPr/>
          </p:nvSpPr>
          <p:spPr>
            <a:xfrm flipH="false" flipV="false" rot="0">
              <a:off x="0" y="0"/>
              <a:ext cx="2393469" cy="406400"/>
            </a:xfrm>
            <a:custGeom>
              <a:avLst/>
              <a:gdLst/>
              <a:ahLst/>
              <a:cxnLst/>
              <a:rect r="r" b="b" t="t" l="l"/>
              <a:pathLst>
                <a:path h="406400" w="2393469">
                  <a:moveTo>
                    <a:pt x="2190269" y="0"/>
                  </a:moveTo>
                  <a:cubicBezTo>
                    <a:pt x="2302494" y="0"/>
                    <a:pt x="2393469" y="90976"/>
                    <a:pt x="2393469" y="203200"/>
                  </a:cubicBezTo>
                  <a:cubicBezTo>
                    <a:pt x="2393469" y="315424"/>
                    <a:pt x="2302494" y="406400"/>
                    <a:pt x="2190269" y="406400"/>
                  </a:cubicBezTo>
                  <a:lnTo>
                    <a:pt x="203200" y="406400"/>
                  </a:lnTo>
                  <a:cubicBezTo>
                    <a:pt x="90976" y="406400"/>
                    <a:pt x="0" y="315424"/>
                    <a:pt x="0" y="203200"/>
                  </a:cubicBezTo>
                  <a:cubicBezTo>
                    <a:pt x="0" y="90976"/>
                    <a:pt x="90976" y="0"/>
                    <a:pt x="203200" y="0"/>
                  </a:cubicBezTo>
                  <a:close/>
                </a:path>
              </a:pathLst>
            </a:custGeom>
            <a:ln w="38100" cap="sq">
              <a:solidFill>
                <a:srgbClr val="2D5986"/>
              </a:solidFill>
              <a:prstDash val="solid"/>
              <a:miter/>
            </a:ln>
          </p:spPr>
        </p:sp>
        <p:sp>
          <p:nvSpPr>
            <p:cNvPr name="TextBox 9" id="9"/>
            <p:cNvSpPr txBox="true"/>
            <p:nvPr/>
          </p:nvSpPr>
          <p:spPr>
            <a:xfrm>
              <a:off x="0" y="-38100"/>
              <a:ext cx="2393469" cy="444500"/>
            </a:xfrm>
            <a:prstGeom prst="rect">
              <a:avLst/>
            </a:prstGeom>
          </p:spPr>
          <p:txBody>
            <a:bodyPr anchor="ctr" rtlCol="false" tIns="50800" lIns="50800" bIns="50800" rIns="50800"/>
            <a:lstStyle/>
            <a:p>
              <a:pPr algn="ctr">
                <a:lnSpc>
                  <a:spcPts val="2659"/>
                </a:lnSpc>
              </a:pPr>
            </a:p>
          </p:txBody>
        </p:sp>
      </p:grpSp>
      <p:sp>
        <p:nvSpPr>
          <p:cNvPr name="TextBox 10" id="10"/>
          <p:cNvSpPr txBox="true"/>
          <p:nvPr/>
        </p:nvSpPr>
        <p:spPr>
          <a:xfrm rot="0">
            <a:off x="1325450" y="8263590"/>
            <a:ext cx="3488440" cy="622936"/>
          </a:xfrm>
          <a:prstGeom prst="rect">
            <a:avLst/>
          </a:prstGeom>
        </p:spPr>
        <p:txBody>
          <a:bodyPr anchor="t" rtlCol="false" tIns="0" lIns="0" bIns="0" rIns="0">
            <a:spAutoFit/>
          </a:bodyPr>
          <a:lstStyle/>
          <a:p>
            <a:pPr algn="l">
              <a:lnSpc>
                <a:spcPts val="5039"/>
              </a:lnSpc>
              <a:spcBef>
                <a:spcPct val="0"/>
              </a:spcBef>
            </a:pPr>
            <a:r>
              <a:rPr lang="en-US" sz="3599">
                <a:solidFill>
                  <a:srgbClr val="2D5986"/>
                </a:solidFill>
                <a:latin typeface="Glacial Indifference"/>
                <a:ea typeface="Glacial Indifference"/>
                <a:cs typeface="Glacial Indifference"/>
                <a:sym typeface="Glacial Indifference"/>
              </a:rPr>
              <a:t>CONTACT US</a:t>
            </a:r>
          </a:p>
        </p:txBody>
      </p:sp>
      <p:sp>
        <p:nvSpPr>
          <p:cNvPr name="Freeform 11" id="11"/>
          <p:cNvSpPr/>
          <p:nvPr/>
        </p:nvSpPr>
        <p:spPr>
          <a:xfrm flipH="false" flipV="false" rot="0">
            <a:off x="4116909" y="8339790"/>
            <a:ext cx="835380" cy="562603"/>
          </a:xfrm>
          <a:custGeom>
            <a:avLst/>
            <a:gdLst/>
            <a:ahLst/>
            <a:cxnLst/>
            <a:rect r="r" b="b" t="t" l="l"/>
            <a:pathLst>
              <a:path h="562603" w="835380">
                <a:moveTo>
                  <a:pt x="0" y="0"/>
                </a:moveTo>
                <a:lnTo>
                  <a:pt x="835381" y="0"/>
                </a:lnTo>
                <a:lnTo>
                  <a:pt x="835381" y="562603"/>
                </a:lnTo>
                <a:lnTo>
                  <a:pt x="0" y="56260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0">
            <a:off x="1028700" y="7210592"/>
            <a:ext cx="710098" cy="710098"/>
          </a:xfrm>
          <a:custGeom>
            <a:avLst/>
            <a:gdLst/>
            <a:ahLst/>
            <a:cxnLst/>
            <a:rect r="r" b="b" t="t" l="l"/>
            <a:pathLst>
              <a:path h="710098" w="710098">
                <a:moveTo>
                  <a:pt x="0" y="0"/>
                </a:moveTo>
                <a:lnTo>
                  <a:pt x="710098" y="0"/>
                </a:lnTo>
                <a:lnTo>
                  <a:pt x="710098" y="710098"/>
                </a:lnTo>
                <a:lnTo>
                  <a:pt x="0" y="710098"/>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13" id="13"/>
          <p:cNvSpPr txBox="true"/>
          <p:nvPr/>
        </p:nvSpPr>
        <p:spPr>
          <a:xfrm rot="0">
            <a:off x="1738798" y="1046685"/>
            <a:ext cx="2527709" cy="490855"/>
          </a:xfrm>
          <a:prstGeom prst="rect">
            <a:avLst/>
          </a:prstGeom>
        </p:spPr>
        <p:txBody>
          <a:bodyPr anchor="t" rtlCol="false" tIns="0" lIns="0" bIns="0" rIns="0">
            <a:spAutoFit/>
          </a:bodyPr>
          <a:lstStyle/>
          <a:p>
            <a:pPr algn="l">
              <a:lnSpc>
                <a:spcPts val="3919"/>
              </a:lnSpc>
              <a:spcBef>
                <a:spcPct val="0"/>
              </a:spcBef>
            </a:pPr>
            <a:r>
              <a:rPr lang="en-US" sz="2799">
                <a:solidFill>
                  <a:srgbClr val="2D5986"/>
                </a:solidFill>
                <a:latin typeface="Glacial Indifference"/>
                <a:ea typeface="Glacial Indifference"/>
                <a:cs typeface="Glacial Indifference"/>
                <a:sym typeface="Glacial Indifference"/>
              </a:rPr>
              <a:t>Thynk Unlimited</a:t>
            </a:r>
          </a:p>
        </p:txBody>
      </p:sp>
      <p:sp>
        <p:nvSpPr>
          <p:cNvPr name="TextBox 14" id="14"/>
          <p:cNvSpPr txBox="true"/>
          <p:nvPr/>
        </p:nvSpPr>
        <p:spPr>
          <a:xfrm rot="0">
            <a:off x="1028700" y="1807482"/>
            <a:ext cx="9000415" cy="2463165"/>
          </a:xfrm>
          <a:prstGeom prst="rect">
            <a:avLst/>
          </a:prstGeom>
        </p:spPr>
        <p:txBody>
          <a:bodyPr anchor="t" rtlCol="false" tIns="0" lIns="0" bIns="0" rIns="0">
            <a:spAutoFit/>
          </a:bodyPr>
          <a:lstStyle/>
          <a:p>
            <a:pPr algn="l">
              <a:lnSpc>
                <a:spcPts val="20160"/>
              </a:lnSpc>
              <a:spcBef>
                <a:spcPct val="0"/>
              </a:spcBef>
            </a:pPr>
            <a:r>
              <a:rPr lang="en-US" sz="14400">
                <a:solidFill>
                  <a:srgbClr val="2D5986"/>
                </a:solidFill>
                <a:latin typeface="Anton"/>
                <a:ea typeface="Anton"/>
                <a:cs typeface="Anton"/>
                <a:sym typeface="Anton"/>
              </a:rPr>
              <a:t>Thank You</a:t>
            </a:r>
          </a:p>
        </p:txBody>
      </p:sp>
      <p:sp>
        <p:nvSpPr>
          <p:cNvPr name="TextBox 15" id="15"/>
          <p:cNvSpPr txBox="true"/>
          <p:nvPr/>
        </p:nvSpPr>
        <p:spPr>
          <a:xfrm rot="0">
            <a:off x="1028700" y="4203972"/>
            <a:ext cx="8736701" cy="613410"/>
          </a:xfrm>
          <a:prstGeom prst="rect">
            <a:avLst/>
          </a:prstGeom>
        </p:spPr>
        <p:txBody>
          <a:bodyPr anchor="t" rtlCol="false" tIns="0" lIns="0" bIns="0" rIns="0">
            <a:spAutoFit/>
          </a:bodyPr>
          <a:lstStyle/>
          <a:p>
            <a:pPr algn="l">
              <a:lnSpc>
                <a:spcPts val="5040"/>
              </a:lnSpc>
              <a:spcBef>
                <a:spcPct val="0"/>
              </a:spcBef>
            </a:pPr>
            <a:r>
              <a:rPr lang="en-US" sz="3600" spc="540">
                <a:solidFill>
                  <a:srgbClr val="2D5986"/>
                </a:solidFill>
                <a:latin typeface="Glacial Indifference"/>
                <a:ea typeface="Glacial Indifference"/>
                <a:cs typeface="Glacial Indifference"/>
                <a:sym typeface="Glacial Indifference"/>
              </a:rPr>
              <a:t>Thank you for your attention</a:t>
            </a:r>
          </a:p>
        </p:txBody>
      </p:sp>
      <p:sp>
        <p:nvSpPr>
          <p:cNvPr name="TextBox 16" id="16"/>
          <p:cNvSpPr txBox="true"/>
          <p:nvPr/>
        </p:nvSpPr>
        <p:spPr>
          <a:xfrm rot="0">
            <a:off x="1876100" y="6258326"/>
            <a:ext cx="4204819" cy="613410"/>
          </a:xfrm>
          <a:prstGeom prst="rect">
            <a:avLst/>
          </a:prstGeom>
        </p:spPr>
        <p:txBody>
          <a:bodyPr anchor="t" rtlCol="false" tIns="0" lIns="0" bIns="0" rIns="0">
            <a:spAutoFit/>
          </a:bodyPr>
          <a:lstStyle/>
          <a:p>
            <a:pPr algn="l">
              <a:lnSpc>
                <a:spcPts val="5040"/>
              </a:lnSpc>
              <a:spcBef>
                <a:spcPct val="0"/>
              </a:spcBef>
            </a:pPr>
            <a:r>
              <a:rPr lang="en-US" sz="3600">
                <a:solidFill>
                  <a:srgbClr val="2D5986"/>
                </a:solidFill>
                <a:latin typeface="Glacial Indifference"/>
                <a:ea typeface="Glacial Indifference"/>
                <a:cs typeface="Glacial Indifference"/>
                <a:sym typeface="Glacial Indifference"/>
              </a:rPr>
              <a:t>@reallygreatsite</a:t>
            </a:r>
          </a:p>
        </p:txBody>
      </p:sp>
      <p:sp>
        <p:nvSpPr>
          <p:cNvPr name="TextBox 17" id="17"/>
          <p:cNvSpPr txBox="true"/>
          <p:nvPr/>
        </p:nvSpPr>
        <p:spPr>
          <a:xfrm rot="0">
            <a:off x="1876100" y="5289588"/>
            <a:ext cx="4204819" cy="613410"/>
          </a:xfrm>
          <a:prstGeom prst="rect">
            <a:avLst/>
          </a:prstGeom>
        </p:spPr>
        <p:txBody>
          <a:bodyPr anchor="t" rtlCol="false" tIns="0" lIns="0" bIns="0" rIns="0">
            <a:spAutoFit/>
          </a:bodyPr>
          <a:lstStyle/>
          <a:p>
            <a:pPr algn="l">
              <a:lnSpc>
                <a:spcPts val="5040"/>
              </a:lnSpc>
              <a:spcBef>
                <a:spcPct val="0"/>
              </a:spcBef>
            </a:pPr>
            <a:r>
              <a:rPr lang="en-US" sz="3600">
                <a:solidFill>
                  <a:srgbClr val="2D5986"/>
                </a:solidFill>
                <a:latin typeface="Glacial Indifference"/>
                <a:ea typeface="Glacial Indifference"/>
                <a:cs typeface="Glacial Indifference"/>
                <a:sym typeface="Glacial Indifference"/>
              </a:rPr>
              <a:t>+123-456-7890</a:t>
            </a:r>
          </a:p>
        </p:txBody>
      </p:sp>
      <p:sp>
        <p:nvSpPr>
          <p:cNvPr name="TextBox 18" id="18"/>
          <p:cNvSpPr txBox="true"/>
          <p:nvPr/>
        </p:nvSpPr>
        <p:spPr>
          <a:xfrm rot="0">
            <a:off x="1876100" y="7225598"/>
            <a:ext cx="5745466" cy="613410"/>
          </a:xfrm>
          <a:prstGeom prst="rect">
            <a:avLst/>
          </a:prstGeom>
        </p:spPr>
        <p:txBody>
          <a:bodyPr anchor="t" rtlCol="false" tIns="0" lIns="0" bIns="0" rIns="0">
            <a:spAutoFit/>
          </a:bodyPr>
          <a:lstStyle/>
          <a:p>
            <a:pPr algn="l">
              <a:lnSpc>
                <a:spcPts val="5040"/>
              </a:lnSpc>
              <a:spcBef>
                <a:spcPct val="0"/>
              </a:spcBef>
            </a:pPr>
            <a:r>
              <a:rPr lang="en-US" sz="3600">
                <a:solidFill>
                  <a:srgbClr val="2D5986"/>
                </a:solidFill>
                <a:latin typeface="Glacial Indifference"/>
                <a:ea typeface="Glacial Indifference"/>
                <a:cs typeface="Glacial Indifference"/>
                <a:sym typeface="Glacial Indifference"/>
              </a:rPr>
              <a:t>hello@reallygreatsite.com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DAHY0bdNVeA</dc:identifier>
  <dcterms:modified xsi:type="dcterms:W3CDTF">2011-08-01T06:04:30Z</dcterms:modified>
  <cp:revision>1</cp:revision>
  <dc:title>Blue&amp;White Flat Cyber Security Presentation</dc:title>
</cp:coreProperties>
</file>