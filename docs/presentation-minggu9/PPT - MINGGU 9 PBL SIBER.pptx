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9.svg" ContentType="image/svg+xml"/>
  <Override PartName="/ppt/media/image2.svg" ContentType="image/svg+xml"/>
  <Override PartName="/ppt/media/image24.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nton" pitchFamily="2" charset="0"/>
      <p:regular r:id="rId11"/>
    </p:embeddedFont>
    <p:embeddedFont>
      <p:font typeface="Calibri" panose="020F0502020204030204" pitchFamily="34" charset="0"/>
      <p:regular r:id="rId12"/>
      <p:bold r:id="rId13"/>
      <p:italic r:id="rId14"/>
      <p:boldItalic r:id="rId15"/>
    </p:embeddedFont>
    <p:embeddedFont>
      <p:font typeface="Glacial Indifference" panose="020B0604020202020204" charset="0"/>
      <p:regular r:id="rId16"/>
    </p:embeddedFont>
    <p:embeddedFont>
      <p:font typeface="Glacial Indifference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font" Target="fonts/font6.fntdata"/><Relationship Id="rId17" Type="http://schemas.openxmlformats.org/officeDocument/2006/relationships/font" Target="fonts/font7.fntdata"/><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9.png"/><Relationship Id="rId5"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11.png"/><Relationship Id="rId7" Type="http://schemas.openxmlformats.org/officeDocument/2006/relationships/image" Target="../media/image1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23.png"/><Relationship Id="rId5" Type="http://schemas.openxmlformats.org/officeDocument/2006/relationships/image" Target="../media/image2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B2F"/>
        </a:solidFill>
        <a:effectLst/>
      </p:bgPr>
    </p:bg>
    <p:spTree>
      <p:nvGrpSpPr>
        <p:cNvPr id="1" name=""/>
        <p:cNvGrpSpPr/>
        <p:nvPr/>
      </p:nvGrpSpPr>
      <p:grpSpPr>
        <a:xfrm>
          <a:off x="0" y="0"/>
          <a:ext cx="0" cy="0"/>
          <a:chOff x="0" y="0"/>
          <a:chExt cx="0" cy="0"/>
        </a:xfrm>
      </p:grpSpPr>
      <p:sp>
        <p:nvSpPr>
          <p:cNvPr id="2" name="Freeform 2"/>
          <p:cNvSpPr/>
          <p:nvPr/>
        </p:nvSpPr>
        <p:spPr>
          <a:xfrm>
            <a:off x="12691924" y="3450228"/>
            <a:ext cx="4567376" cy="5714381"/>
          </a:xfrm>
          <a:custGeom>
            <a:avLst/>
            <a:gdLst/>
            <a:ahLst/>
            <a:cxnLst/>
            <a:rect l="l" t="t" r="r" b="b"/>
            <a:pathLst>
              <a:path w="4567376" h="5714381">
                <a:moveTo>
                  <a:pt x="0" y="0"/>
                </a:moveTo>
                <a:lnTo>
                  <a:pt x="4567376" y="0"/>
                </a:lnTo>
                <a:lnTo>
                  <a:pt x="4567376" y="5714382"/>
                </a:lnTo>
                <a:lnTo>
                  <a:pt x="0" y="57143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4283366"/>
            <a:ext cx="9760955" cy="1599581"/>
          </a:xfrm>
          <a:custGeom>
            <a:avLst/>
            <a:gdLst/>
            <a:ahLst/>
            <a:cxnLst/>
            <a:rect l="l" t="t" r="r" b="b"/>
            <a:pathLst>
              <a:path w="9760955" h="1599581">
                <a:moveTo>
                  <a:pt x="0" y="0"/>
                </a:moveTo>
                <a:lnTo>
                  <a:pt x="9760955" y="0"/>
                </a:lnTo>
                <a:lnTo>
                  <a:pt x="9760955" y="1599581"/>
                </a:lnTo>
                <a:lnTo>
                  <a:pt x="0" y="1599581"/>
                </a:lnTo>
                <a:lnTo>
                  <a:pt x="0" y="0"/>
                </a:lnTo>
                <a:close/>
              </a:path>
            </a:pathLst>
          </a:custGeom>
          <a:blipFill>
            <a:blip r:embed="rId4"/>
            <a:stretch>
              <a:fillRect l="-10694" r="-10694"/>
            </a:stretch>
          </a:blipFill>
        </p:spPr>
      </p:sp>
      <p:sp>
        <p:nvSpPr>
          <p:cNvPr id="4" name="Freeform 4"/>
          <p:cNvSpPr/>
          <p:nvPr/>
        </p:nvSpPr>
        <p:spPr>
          <a:xfrm>
            <a:off x="1250216" y="4649091"/>
            <a:ext cx="868131" cy="868131"/>
          </a:xfrm>
          <a:custGeom>
            <a:avLst/>
            <a:gdLst/>
            <a:ahLst/>
            <a:cxnLst/>
            <a:rect l="l" t="t" r="r" b="b"/>
            <a:pathLst>
              <a:path w="868131" h="868131">
                <a:moveTo>
                  <a:pt x="0" y="0"/>
                </a:moveTo>
                <a:lnTo>
                  <a:pt x="868131" y="0"/>
                </a:lnTo>
                <a:lnTo>
                  <a:pt x="868131" y="868131"/>
                </a:lnTo>
                <a:lnTo>
                  <a:pt x="0" y="868131"/>
                </a:lnTo>
                <a:lnTo>
                  <a:pt x="0" y="0"/>
                </a:lnTo>
                <a:close/>
              </a:path>
            </a:pathLst>
          </a:custGeom>
          <a:blipFill>
            <a:blip r:embed="rId5"/>
            <a:stretch>
              <a:fillRect/>
            </a:stretch>
          </a:blipFill>
        </p:spPr>
      </p:sp>
      <p:sp>
        <p:nvSpPr>
          <p:cNvPr id="5" name="Freeform 5"/>
          <p:cNvSpPr/>
          <p:nvPr/>
        </p:nvSpPr>
        <p:spPr>
          <a:xfrm>
            <a:off x="1028700" y="6054397"/>
            <a:ext cx="9760955" cy="1599581"/>
          </a:xfrm>
          <a:custGeom>
            <a:avLst/>
            <a:gdLst/>
            <a:ahLst/>
            <a:cxnLst/>
            <a:rect l="l" t="t" r="r" b="b"/>
            <a:pathLst>
              <a:path w="9760955" h="1599581">
                <a:moveTo>
                  <a:pt x="0" y="0"/>
                </a:moveTo>
                <a:lnTo>
                  <a:pt x="9760955" y="0"/>
                </a:lnTo>
                <a:lnTo>
                  <a:pt x="9760955" y="1599582"/>
                </a:lnTo>
                <a:lnTo>
                  <a:pt x="0" y="1599582"/>
                </a:lnTo>
                <a:lnTo>
                  <a:pt x="0" y="0"/>
                </a:lnTo>
                <a:close/>
              </a:path>
            </a:pathLst>
          </a:custGeom>
          <a:blipFill>
            <a:blip r:embed="rId4"/>
            <a:stretch>
              <a:fillRect l="-10694" r="-10694"/>
            </a:stretch>
          </a:blipFill>
        </p:spPr>
      </p:sp>
      <p:sp>
        <p:nvSpPr>
          <p:cNvPr id="6" name="Freeform 6"/>
          <p:cNvSpPr/>
          <p:nvPr/>
        </p:nvSpPr>
        <p:spPr>
          <a:xfrm>
            <a:off x="1028700" y="7777804"/>
            <a:ext cx="9760955" cy="1599581"/>
          </a:xfrm>
          <a:custGeom>
            <a:avLst/>
            <a:gdLst/>
            <a:ahLst/>
            <a:cxnLst/>
            <a:rect l="l" t="t" r="r" b="b"/>
            <a:pathLst>
              <a:path w="9760955" h="1599581">
                <a:moveTo>
                  <a:pt x="0" y="0"/>
                </a:moveTo>
                <a:lnTo>
                  <a:pt x="9760955" y="0"/>
                </a:lnTo>
                <a:lnTo>
                  <a:pt x="9760955" y="1599581"/>
                </a:lnTo>
                <a:lnTo>
                  <a:pt x="0" y="1599581"/>
                </a:lnTo>
                <a:lnTo>
                  <a:pt x="0" y="0"/>
                </a:lnTo>
                <a:close/>
              </a:path>
            </a:pathLst>
          </a:custGeom>
          <a:blipFill>
            <a:blip r:embed="rId4"/>
            <a:stretch>
              <a:fillRect l="-10694" r="-10694"/>
            </a:stretch>
          </a:blipFill>
        </p:spPr>
      </p:sp>
      <p:sp>
        <p:nvSpPr>
          <p:cNvPr id="7" name="Freeform 7"/>
          <p:cNvSpPr/>
          <p:nvPr/>
        </p:nvSpPr>
        <p:spPr>
          <a:xfrm>
            <a:off x="1250216" y="6468113"/>
            <a:ext cx="854737" cy="854737"/>
          </a:xfrm>
          <a:custGeom>
            <a:avLst/>
            <a:gdLst/>
            <a:ahLst/>
            <a:cxnLst/>
            <a:rect l="l" t="t" r="r" b="b"/>
            <a:pathLst>
              <a:path w="854737" h="854737">
                <a:moveTo>
                  <a:pt x="0" y="0"/>
                </a:moveTo>
                <a:lnTo>
                  <a:pt x="854738" y="0"/>
                </a:lnTo>
                <a:lnTo>
                  <a:pt x="854738" y="854737"/>
                </a:lnTo>
                <a:lnTo>
                  <a:pt x="0" y="854737"/>
                </a:lnTo>
                <a:lnTo>
                  <a:pt x="0" y="0"/>
                </a:lnTo>
                <a:close/>
              </a:path>
            </a:pathLst>
          </a:custGeom>
          <a:blipFill>
            <a:blip r:embed="rId6"/>
            <a:stretch>
              <a:fillRect/>
            </a:stretch>
          </a:blipFill>
        </p:spPr>
      </p:sp>
      <p:sp>
        <p:nvSpPr>
          <p:cNvPr id="8" name="Freeform 8"/>
          <p:cNvSpPr/>
          <p:nvPr/>
        </p:nvSpPr>
        <p:spPr>
          <a:xfrm>
            <a:off x="1250216" y="8152511"/>
            <a:ext cx="854737" cy="850167"/>
          </a:xfrm>
          <a:custGeom>
            <a:avLst/>
            <a:gdLst/>
            <a:ahLst/>
            <a:cxnLst/>
            <a:rect l="l" t="t" r="r" b="b"/>
            <a:pathLst>
              <a:path w="854737" h="850167">
                <a:moveTo>
                  <a:pt x="0" y="0"/>
                </a:moveTo>
                <a:lnTo>
                  <a:pt x="854738" y="0"/>
                </a:lnTo>
                <a:lnTo>
                  <a:pt x="854738" y="850167"/>
                </a:lnTo>
                <a:lnTo>
                  <a:pt x="0" y="850167"/>
                </a:lnTo>
                <a:lnTo>
                  <a:pt x="0" y="0"/>
                </a:lnTo>
                <a:close/>
              </a:path>
            </a:pathLst>
          </a:custGeom>
          <a:blipFill>
            <a:blip r:embed="rId7"/>
            <a:stretch>
              <a:fillRect/>
            </a:stretch>
          </a:blipFill>
        </p:spPr>
      </p:sp>
      <p:sp>
        <p:nvSpPr>
          <p:cNvPr id="9" name="TextBox 9"/>
          <p:cNvSpPr txBox="1"/>
          <p:nvPr/>
        </p:nvSpPr>
        <p:spPr>
          <a:xfrm>
            <a:off x="1028700" y="1606884"/>
            <a:ext cx="5518039" cy="956902"/>
          </a:xfrm>
          <a:prstGeom prst="rect">
            <a:avLst/>
          </a:prstGeom>
        </p:spPr>
        <p:txBody>
          <a:bodyPr lIns="0" tIns="0" rIns="0" bIns="0" rtlCol="0" anchor="t">
            <a:spAutoFit/>
          </a:bodyPr>
          <a:lstStyle/>
          <a:p>
            <a:pPr algn="l">
              <a:lnSpc>
                <a:spcPts val="7846"/>
              </a:lnSpc>
              <a:spcBef>
                <a:spcPct val="0"/>
              </a:spcBef>
            </a:pPr>
            <a:r>
              <a:rPr lang="en-US" sz="5604">
                <a:solidFill>
                  <a:srgbClr val="F7F5FA"/>
                </a:solidFill>
                <a:latin typeface="Anton"/>
                <a:ea typeface="Anton"/>
                <a:cs typeface="Anton"/>
                <a:sym typeface="Anton"/>
              </a:rPr>
              <a:t>Kelompok 10 Cyber</a:t>
            </a:r>
          </a:p>
        </p:txBody>
      </p:sp>
      <p:sp>
        <p:nvSpPr>
          <p:cNvPr id="10" name="TextBox 10"/>
          <p:cNvSpPr txBox="1"/>
          <p:nvPr/>
        </p:nvSpPr>
        <p:spPr>
          <a:xfrm>
            <a:off x="2330532" y="4418012"/>
            <a:ext cx="898922" cy="415290"/>
          </a:xfrm>
          <a:prstGeom prst="rect">
            <a:avLst/>
          </a:prstGeom>
        </p:spPr>
        <p:txBody>
          <a:bodyPr lIns="0" tIns="0" rIns="0" bIns="0" rtlCol="0" anchor="t">
            <a:spAutoFit/>
          </a:bodyPr>
          <a:lstStyle/>
          <a:p>
            <a:pPr algn="ctr">
              <a:lnSpc>
                <a:spcPts val="3359"/>
              </a:lnSpc>
              <a:spcBef>
                <a:spcPct val="0"/>
              </a:spcBef>
            </a:pPr>
            <a:r>
              <a:rPr lang="en-US" sz="2400">
                <a:solidFill>
                  <a:srgbClr val="0BB1D3"/>
                </a:solidFill>
                <a:latin typeface="Glacial Indifference"/>
                <a:ea typeface="Glacial Indifference"/>
                <a:cs typeface="Glacial Indifference"/>
                <a:sym typeface="Glacial Indifference"/>
              </a:rPr>
              <a:t>Leader</a:t>
            </a:r>
          </a:p>
        </p:txBody>
      </p:sp>
      <p:sp>
        <p:nvSpPr>
          <p:cNvPr id="11" name="TextBox 11"/>
          <p:cNvSpPr txBox="1"/>
          <p:nvPr/>
        </p:nvSpPr>
        <p:spPr>
          <a:xfrm>
            <a:off x="2330532" y="4909502"/>
            <a:ext cx="7955279" cy="393192"/>
          </a:xfrm>
          <a:prstGeom prst="rect">
            <a:avLst/>
          </a:prstGeom>
        </p:spPr>
        <p:txBody>
          <a:bodyPr wrap="none" lIns="0" tIns="0" rIns="0" bIns="0" rtlCol="0" anchor="t">
            <a:spAutoFit/>
          </a:bodyPr>
          <a:lstStyle/>
          <a:p>
            <a:pPr algn="l">
              <a:lnSpc>
                <a:spcPts val="3079"/>
              </a:lnSpc>
              <a:spcBef>
                <a:spcPct val="0"/>
              </a:spcBef>
            </a:pPr>
            <a:r>
              <a:rPr lang="en-US" sz="2300" b="1">
                <a:solidFill>
                  <a:srgbClr val="F7F5FA"/>
                </a:solidFill>
                <a:latin typeface="Glacial Indifference Bold"/>
                <a:ea typeface="Glacial Indifference Bold"/>
                <a:cs typeface="Glacial Indifference Bold"/>
                <a:sym typeface="Glacial Indifference Bold"/>
              </a:rPr>
              <a:t>Ghazali Habibie A</a:t>
            </a:r>
          </a:p>
        </p:txBody>
      </p:sp>
      <p:sp>
        <p:nvSpPr>
          <p:cNvPr id="12" name="TextBox 12"/>
          <p:cNvSpPr txBox="1"/>
          <p:nvPr/>
        </p:nvSpPr>
        <p:spPr>
          <a:xfrm>
            <a:off x="2340057" y="5430520"/>
            <a:ext cx="3657600" cy="320040"/>
          </a:xfrm>
          <a:prstGeom prst="rect">
            <a:avLst/>
          </a:prstGeom>
        </p:spPr>
        <p:txBody>
          <a:bodyPr wrap="none" lIns="0" tIns="0" rIns="0" bIns="0" rtlCol="0" anchor="t">
            <a:spAutoFit/>
          </a:bodyPr>
          <a:lstStyle/>
          <a:p>
            <a:pPr algn="l">
              <a:lnSpc>
                <a:spcPts val="1960"/>
              </a:lnSpc>
              <a:spcBef>
                <a:spcPct val="0"/>
              </a:spcBef>
            </a:pPr>
            <a:r>
              <a:rPr lang="en-US" sz="1400">
                <a:solidFill>
                  <a:srgbClr val="B4BFC7"/>
                </a:solidFill>
                <a:latin typeface="Glacial Indifference"/>
                <a:ea typeface="Glacial Indifference"/>
                <a:cs typeface="Glacial Indifference"/>
                <a:sym typeface="Glacial Indifference"/>
              </a:rPr>
              <a:t>J0404241145</a:t>
            </a:r>
          </a:p>
        </p:txBody>
      </p:sp>
      <p:sp>
        <p:nvSpPr>
          <p:cNvPr id="13" name="TextBox 13"/>
          <p:cNvSpPr txBox="1"/>
          <p:nvPr/>
        </p:nvSpPr>
        <p:spPr>
          <a:xfrm>
            <a:off x="2330532" y="6189043"/>
            <a:ext cx="1307306" cy="415290"/>
          </a:xfrm>
          <a:prstGeom prst="rect">
            <a:avLst/>
          </a:prstGeom>
        </p:spPr>
        <p:txBody>
          <a:bodyPr lIns="0" tIns="0" rIns="0" bIns="0" rtlCol="0" anchor="t">
            <a:spAutoFit/>
          </a:bodyPr>
          <a:lstStyle/>
          <a:p>
            <a:pPr algn="r">
              <a:lnSpc>
                <a:spcPts val="3359"/>
              </a:lnSpc>
              <a:spcBef>
                <a:spcPct val="0"/>
              </a:spcBef>
            </a:pPr>
            <a:r>
              <a:rPr lang="en-US" sz="2400">
                <a:solidFill>
                  <a:srgbClr val="0BB1D3"/>
                </a:solidFill>
                <a:latin typeface="Glacial Indifference"/>
                <a:ea typeface="Glacial Indifference"/>
                <a:cs typeface="Glacial Indifference"/>
                <a:sym typeface="Glacial Indifference"/>
              </a:rPr>
              <a:t>Blue Team</a:t>
            </a:r>
          </a:p>
        </p:txBody>
      </p:sp>
      <p:sp>
        <p:nvSpPr>
          <p:cNvPr id="14" name="TextBox 14"/>
          <p:cNvSpPr txBox="1"/>
          <p:nvPr/>
        </p:nvSpPr>
        <p:spPr>
          <a:xfrm>
            <a:off x="2340057" y="6680533"/>
            <a:ext cx="7955279" cy="393192"/>
          </a:xfrm>
          <a:prstGeom prst="rect">
            <a:avLst/>
          </a:prstGeom>
        </p:spPr>
        <p:txBody>
          <a:bodyPr wrap="none" lIns="0" tIns="0" rIns="0" bIns="0" rtlCol="0" anchor="t">
            <a:spAutoFit/>
          </a:bodyPr>
          <a:lstStyle/>
          <a:p>
            <a:pPr algn="l">
              <a:lnSpc>
                <a:spcPts val="3079"/>
              </a:lnSpc>
              <a:spcBef>
                <a:spcPct val="0"/>
              </a:spcBef>
            </a:pPr>
            <a:r>
              <a:rPr lang="en-US" sz="2300" b="1">
                <a:solidFill>
                  <a:srgbClr val="F7F5FA"/>
                </a:solidFill>
                <a:latin typeface="Glacial Indifference Bold"/>
                <a:ea typeface="Glacial Indifference Bold"/>
                <a:cs typeface="Glacial Indifference Bold"/>
                <a:sym typeface="Glacial Indifference Bold"/>
              </a:rPr>
              <a:t>Binggie Rashel Prasetyo</a:t>
            </a:r>
          </a:p>
        </p:txBody>
      </p:sp>
      <p:sp>
        <p:nvSpPr>
          <p:cNvPr id="15" name="TextBox 15"/>
          <p:cNvSpPr txBox="1"/>
          <p:nvPr/>
        </p:nvSpPr>
        <p:spPr>
          <a:xfrm>
            <a:off x="2323209" y="7201551"/>
            <a:ext cx="3657600" cy="320040"/>
          </a:xfrm>
          <a:prstGeom prst="rect">
            <a:avLst/>
          </a:prstGeom>
        </p:spPr>
        <p:txBody>
          <a:bodyPr wrap="none" lIns="0" tIns="0" rIns="0" bIns="0" rtlCol="0" anchor="t">
            <a:spAutoFit/>
          </a:bodyPr>
          <a:lstStyle/>
          <a:p>
            <a:pPr algn="l">
              <a:lnSpc>
                <a:spcPts val="1960"/>
              </a:lnSpc>
              <a:spcBef>
                <a:spcPct val="0"/>
              </a:spcBef>
            </a:pPr>
            <a:r>
              <a:rPr lang="en-US" sz="1400">
                <a:solidFill>
                  <a:srgbClr val="B4BFC7"/>
                </a:solidFill>
                <a:latin typeface="Glacial Indifference"/>
                <a:ea typeface="Glacial Indifference"/>
                <a:cs typeface="Glacial Indifference"/>
                <a:sym typeface="Glacial Indifference"/>
              </a:rPr>
              <a:t>J0404241009</a:t>
            </a:r>
          </a:p>
        </p:txBody>
      </p:sp>
      <p:sp>
        <p:nvSpPr>
          <p:cNvPr id="16" name="TextBox 16"/>
          <p:cNvSpPr txBox="1"/>
          <p:nvPr/>
        </p:nvSpPr>
        <p:spPr>
          <a:xfrm>
            <a:off x="2340057" y="7907309"/>
            <a:ext cx="1260396" cy="415290"/>
          </a:xfrm>
          <a:prstGeom prst="rect">
            <a:avLst/>
          </a:prstGeom>
        </p:spPr>
        <p:txBody>
          <a:bodyPr lIns="0" tIns="0" rIns="0" bIns="0" rtlCol="0" anchor="t">
            <a:spAutoFit/>
          </a:bodyPr>
          <a:lstStyle/>
          <a:p>
            <a:pPr algn="ctr">
              <a:lnSpc>
                <a:spcPts val="3359"/>
              </a:lnSpc>
              <a:spcBef>
                <a:spcPct val="0"/>
              </a:spcBef>
            </a:pPr>
            <a:r>
              <a:rPr lang="en-US" sz="2400">
                <a:solidFill>
                  <a:srgbClr val="0BB1D3"/>
                </a:solidFill>
                <a:latin typeface="Glacial Indifference"/>
                <a:ea typeface="Glacial Indifference"/>
                <a:cs typeface="Glacial Indifference"/>
                <a:sym typeface="Glacial Indifference"/>
              </a:rPr>
              <a:t>Red Team</a:t>
            </a:r>
          </a:p>
        </p:txBody>
      </p:sp>
      <p:sp>
        <p:nvSpPr>
          <p:cNvPr id="17" name="TextBox 17"/>
          <p:cNvSpPr txBox="1"/>
          <p:nvPr/>
        </p:nvSpPr>
        <p:spPr>
          <a:xfrm>
            <a:off x="2340057" y="8398799"/>
            <a:ext cx="7955279" cy="393192"/>
          </a:xfrm>
          <a:prstGeom prst="rect">
            <a:avLst/>
          </a:prstGeom>
        </p:spPr>
        <p:txBody>
          <a:bodyPr wrap="none" lIns="0" tIns="0" rIns="0" bIns="0" rtlCol="0" anchor="t">
            <a:spAutoFit/>
          </a:bodyPr>
          <a:lstStyle/>
          <a:p>
            <a:pPr algn="l">
              <a:lnSpc>
                <a:spcPts val="3079"/>
              </a:lnSpc>
              <a:spcBef>
                <a:spcPct val="0"/>
              </a:spcBef>
            </a:pPr>
            <a:r>
              <a:rPr lang="en-US" sz="2300" b="1">
                <a:solidFill>
                  <a:srgbClr val="F7F5FA"/>
                </a:solidFill>
                <a:latin typeface="Glacial Indifference Bold"/>
                <a:ea typeface="Glacial Indifference Bold"/>
                <a:cs typeface="Glacial Indifference Bold"/>
                <a:sym typeface="Glacial Indifference Bold"/>
              </a:rPr>
              <a:t>Gregorius Gil Ovidio Sebayang</a:t>
            </a:r>
          </a:p>
        </p:txBody>
      </p:sp>
      <p:sp>
        <p:nvSpPr>
          <p:cNvPr id="18" name="TextBox 18"/>
          <p:cNvSpPr txBox="1"/>
          <p:nvPr/>
        </p:nvSpPr>
        <p:spPr>
          <a:xfrm>
            <a:off x="2340057" y="8923945"/>
            <a:ext cx="3657600" cy="320040"/>
          </a:xfrm>
          <a:prstGeom prst="rect">
            <a:avLst/>
          </a:prstGeom>
        </p:spPr>
        <p:txBody>
          <a:bodyPr wrap="none" lIns="0" tIns="0" rIns="0" bIns="0" rtlCol="0" anchor="t">
            <a:spAutoFit/>
          </a:bodyPr>
          <a:lstStyle/>
          <a:p>
            <a:pPr algn="l">
              <a:lnSpc>
                <a:spcPts val="1960"/>
              </a:lnSpc>
              <a:spcBef>
                <a:spcPct val="0"/>
              </a:spcBef>
            </a:pPr>
            <a:r>
              <a:rPr lang="en-US" sz="1400">
                <a:solidFill>
                  <a:srgbClr val="B4BFC7"/>
                </a:solidFill>
                <a:latin typeface="Glacial Indifference"/>
                <a:ea typeface="Glacial Indifference"/>
                <a:cs typeface="Glacial Indifference"/>
                <a:sym typeface="Glacial Indifference"/>
              </a:rPr>
              <a:t>J0404241088</a:t>
            </a:r>
          </a:p>
        </p:txBody>
      </p:sp>
      <p:sp>
        <p:nvSpPr>
          <p:cNvPr id="19" name="TextBox 19"/>
          <p:cNvSpPr txBox="1"/>
          <p:nvPr/>
        </p:nvSpPr>
        <p:spPr>
          <a:xfrm>
            <a:off x="1028700" y="2992411"/>
            <a:ext cx="10972800" cy="777240"/>
          </a:xfrm>
          <a:prstGeom prst="rect">
            <a:avLst/>
          </a:prstGeom>
        </p:spPr>
        <p:txBody>
          <a:bodyPr lIns="0" tIns="0" rIns="0" bIns="0" rtlCol="0" anchor="t">
            <a:spAutoFit/>
          </a:bodyPr>
          <a:lstStyle/>
          <a:p>
            <a:pPr algn="l">
              <a:lnSpc>
                <a:spcPts val="3919"/>
              </a:lnSpc>
              <a:spcBef>
                <a:spcPct val="0"/>
              </a:spcBef>
            </a:pPr>
            <a:r>
              <a:rPr lang="en-US" sz="2799">
                <a:solidFill>
                  <a:srgbClr val="B4BFC7"/>
                </a:solidFill>
                <a:latin typeface="Glacial Indifference"/>
                <a:ea typeface="Glacial Indifference"/>
                <a:cs typeface="Glacial Indifference"/>
                <a:sym typeface="Glacial Indifference"/>
              </a:rPr>
              <a:t>Smart Autodosing Nutrisi AB Mix pada Tanaman Melon</a:t>
            </a:r>
          </a:p>
        </p:txBody>
      </p:sp>
    </p:spTree>
  </p:cSld>
  <p:clrMapOvr>
    <a:masterClrMapping/>
  </p:clrMapOvr>
  <mc:AlternateContent xmlns:mc="http://schemas.openxmlformats.org/markup-compatibility/2006">
    <mc:Choice xmlns:p14="http://schemas.microsoft.com/office/powerpoint/2010/main" Requires="p14">
      <p:transition spd="med" p14:dur="650">
        <p:fade thruBlk="1"/>
      </p:transition>
    </mc:Choice>
    <mc:Fallback>
      <p:transition spd="med">
        <p:fade thruBlk="1"/>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593500" cy="593500"/>
          </a:xfrm>
          <a:custGeom>
            <a:avLst/>
            <a:gdLst/>
            <a:ahLst/>
            <a:cxnLst/>
            <a:rect l="l" t="t" r="r" b="b"/>
            <a:pathLst>
              <a:path w="593500" h="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219052" y="1656754"/>
            <a:ext cx="819053" cy="819053"/>
          </a:xfrm>
          <a:custGeom>
            <a:avLst/>
            <a:gdLst/>
            <a:ahLst/>
            <a:cxnLst/>
            <a:rect l="l" t="t" r="r" b="b"/>
            <a:pathLst>
              <a:path w="819053" h="819053">
                <a:moveTo>
                  <a:pt x="0" y="0"/>
                </a:moveTo>
                <a:lnTo>
                  <a:pt x="819053" y="0"/>
                </a:lnTo>
                <a:lnTo>
                  <a:pt x="819053" y="819053"/>
                </a:lnTo>
                <a:lnTo>
                  <a:pt x="0" y="8190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45587" y="6225103"/>
            <a:ext cx="1091175" cy="1091175"/>
          </a:xfrm>
          <a:custGeom>
            <a:avLst/>
            <a:gdLst/>
            <a:ahLst/>
            <a:cxnLst/>
            <a:rect l="l" t="t" r="r" b="b"/>
            <a:pathLst>
              <a:path w="1091175" h="1091175">
                <a:moveTo>
                  <a:pt x="0" y="0"/>
                </a:moveTo>
                <a:lnTo>
                  <a:pt x="1091174" y="0"/>
                </a:lnTo>
                <a:lnTo>
                  <a:pt x="1091174" y="1091175"/>
                </a:lnTo>
                <a:lnTo>
                  <a:pt x="0" y="10911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1946851"/>
            <a:ext cx="11006972" cy="953138"/>
          </a:xfrm>
          <a:prstGeom prst="rect">
            <a:avLst/>
          </a:prstGeom>
        </p:spPr>
        <p:txBody>
          <a:bodyPr lIns="0" tIns="0" rIns="0" bIns="0" rtlCol="0" anchor="t">
            <a:spAutoFit/>
          </a:bodyPr>
          <a:lstStyle/>
          <a:p>
            <a:pPr algn="l">
              <a:lnSpc>
                <a:spcPts val="7839"/>
              </a:lnSpc>
              <a:spcBef>
                <a:spcPct val="0"/>
              </a:spcBef>
            </a:pPr>
            <a:r>
              <a:rPr lang="en-US" sz="5599">
                <a:solidFill>
                  <a:srgbClr val="2D5986"/>
                </a:solidFill>
                <a:latin typeface="Anton"/>
                <a:ea typeface="Anton"/>
                <a:cs typeface="Anton"/>
                <a:sym typeface="Anton"/>
              </a:rPr>
              <a:t>Gambaran Singkat Project IOT</a:t>
            </a:r>
          </a:p>
        </p:txBody>
      </p:sp>
      <p:sp>
        <p:nvSpPr>
          <p:cNvPr id="6" name="TextBox 6"/>
          <p:cNvSpPr txBox="1"/>
          <p:nvPr/>
        </p:nvSpPr>
        <p:spPr>
          <a:xfrm>
            <a:off x="1095375" y="2906050"/>
            <a:ext cx="8571660" cy="341412"/>
          </a:xfrm>
          <a:prstGeom prst="rect">
            <a:avLst/>
          </a:prstGeom>
        </p:spPr>
        <p:txBody>
          <a:bodyPr lIns="0" tIns="0" rIns="0" bIns="0" rtlCol="0" anchor="t">
            <a:spAutoFit/>
          </a:bodyPr>
          <a:lstStyle/>
          <a:p>
            <a:pPr algn="just">
              <a:lnSpc>
                <a:spcPts val="2707"/>
              </a:lnSpc>
            </a:pPr>
            <a:r>
              <a:rPr lang="en-US" sz="1933" b="1">
                <a:solidFill>
                  <a:srgbClr val="2D557E"/>
                </a:solidFill>
                <a:latin typeface="Glacial Indifference Bold"/>
                <a:ea typeface="Glacial Indifference Bold"/>
                <a:cs typeface="Glacial Indifference Bold"/>
                <a:sym typeface="Glacial Indifference Bold"/>
              </a:rPr>
              <a:t>Penjelasan Singkat</a:t>
            </a:r>
          </a:p>
        </p:txBody>
      </p:sp>
      <p:sp>
        <p:nvSpPr>
          <p:cNvPr id="7" name="TextBox 7"/>
          <p:cNvSpPr txBox="1"/>
          <p:nvPr/>
        </p:nvSpPr>
        <p:spPr>
          <a:xfrm>
            <a:off x="1864248" y="1089788"/>
            <a:ext cx="7033915" cy="961838"/>
          </a:xfrm>
          <a:prstGeom prst="rect">
            <a:avLst/>
          </a:prstGeom>
        </p:spPr>
        <p:txBody>
          <a:bodyPr lIns="0" tIns="0" rIns="0" bIns="0" rtlCol="0" anchor="t">
            <a:spAutoFit/>
          </a:bodyPr>
          <a:lstStyle/>
          <a:p>
            <a:pPr algn="l">
              <a:lnSpc>
                <a:spcPts val="3816"/>
              </a:lnSpc>
            </a:pPr>
            <a:r>
              <a:rPr lang="en-US" sz="2725">
                <a:solidFill>
                  <a:srgbClr val="2D5986"/>
                </a:solidFill>
                <a:latin typeface="Glacial Indifference"/>
                <a:ea typeface="Glacial Indifference"/>
                <a:cs typeface="Glacial Indifference"/>
                <a:sym typeface="Glacial Indifference"/>
              </a:rPr>
              <a:t>KELOMPOK 10 KEAMANAN SIBER</a:t>
            </a:r>
          </a:p>
          <a:p>
            <a:pPr algn="l">
              <a:lnSpc>
                <a:spcPts val="3816"/>
              </a:lnSpc>
              <a:spcBef>
                <a:spcPct val="0"/>
              </a:spcBef>
            </a:pPr>
            <a:endParaRPr lang="en-US" sz="2725">
              <a:solidFill>
                <a:srgbClr val="2D5986"/>
              </a:solidFill>
              <a:latin typeface="Glacial Indifference"/>
              <a:ea typeface="Glacial Indifference"/>
              <a:cs typeface="Glacial Indifference"/>
              <a:sym typeface="Glacial Indifference"/>
            </a:endParaRPr>
          </a:p>
        </p:txBody>
      </p:sp>
      <p:sp>
        <p:nvSpPr>
          <p:cNvPr id="8" name="TextBox 8"/>
          <p:cNvSpPr txBox="1"/>
          <p:nvPr/>
        </p:nvSpPr>
        <p:spPr>
          <a:xfrm>
            <a:off x="1095375" y="3435353"/>
            <a:ext cx="14942730" cy="5020310"/>
          </a:xfrm>
          <a:prstGeom prst="rect">
            <a:avLst/>
          </a:prstGeom>
        </p:spPr>
        <p:txBody>
          <a:bodyPr lIns="0" tIns="0" rIns="0" bIns="0" rtlCol="0" anchor="t">
            <a:spAutoFit/>
          </a:bodyPr>
          <a:lstStyle/>
          <a:p>
            <a:pPr algn="just">
              <a:lnSpc>
                <a:spcPts val="3640"/>
              </a:lnSpc>
            </a:pPr>
            <a:r>
              <a:rPr lang="en-US" sz="2600">
                <a:solidFill>
                  <a:srgbClr val="2D5986"/>
                </a:solidFill>
                <a:latin typeface="Glacial Indifference"/>
                <a:ea typeface="Glacial Indifference"/>
                <a:cs typeface="Glacial Indifference"/>
                <a:sym typeface="Glacial Indifference"/>
              </a:rPr>
              <a:t>Sistem Smart Autodosing Nutrisi AB Mix adalah alat berbasis IoT yang dikembangkan oleh kelompok kami Tim Redstone bersama dengan Kalta Farm sebagai mtra untuk membantu petani mengelola nutrisi tanaman melon pada greenhouse Kalta Farm. Selama ini petani harus mengukur kadar nutrisi dan pH larutan secara manual, lalu menambahkan larutan sendiri, sehingga perubahan kondisi sering terlambat diketahui. Alat ini memakai mikrokontroler ESP32-S3 yang membaca sensor TDS (ppm), pH, suhu, dan level air, lalu membandingkan hasilnya dengan nilai target (setpoint). Jika ppm di bawah target, pompa peristaltik menambahkan nutrisi A dan B. Jika pH di bawah target, pompa pH Up dinyalakan. Setelah dosis diberikan, sistem menunggu larutan tercampur, mengukur ulang, dan membatasi kerja pompa agar tidak berlebihan. Data sensor dikirim lewat Wi-Fi, lalu disimpan di Firebase dan ditampilkan pada aplikasi mobile. Aplikasi ini punya dua peran: owner dapat memantau sekaligus mengubah setpoint, sedangkan petani hanya dapat memantau kondisi larutan dan riwayat aktivitas.</a:t>
            </a:r>
          </a:p>
        </p:txBody>
      </p:sp>
    </p:spTree>
  </p:cSld>
  <p:clrMapOvr>
    <a:masterClrMapping/>
  </p:clrMapOvr>
  <mc:AlternateContent xmlns:mc="http://schemas.openxmlformats.org/markup-compatibility/2006">
    <mc:Choice xmlns:p14="http://schemas.microsoft.com/office/powerpoint/2010/main" Requires="p14">
      <p:transition spd="med" p14:dur="650">
        <p:fade thruBlk="1"/>
      </p:transition>
    </mc:Choice>
    <mc:Fallback>
      <p:transition spd="med">
        <p:fade thruBlk="1"/>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593500" cy="593500"/>
          </a:xfrm>
          <a:custGeom>
            <a:avLst/>
            <a:gdLst/>
            <a:ahLst/>
            <a:cxnLst/>
            <a:rect l="l" t="t" r="r" b="b"/>
            <a:pathLst>
              <a:path w="593500" h="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3407625" y="2051626"/>
            <a:ext cx="819053" cy="819053"/>
          </a:xfrm>
          <a:custGeom>
            <a:avLst/>
            <a:gdLst/>
            <a:ahLst/>
            <a:cxnLst/>
            <a:rect l="l" t="t" r="r" b="b"/>
            <a:pathLst>
              <a:path w="819053" h="819053">
                <a:moveTo>
                  <a:pt x="0" y="0"/>
                </a:moveTo>
                <a:lnTo>
                  <a:pt x="819052" y="0"/>
                </a:lnTo>
                <a:lnTo>
                  <a:pt x="819052" y="819052"/>
                </a:lnTo>
                <a:lnTo>
                  <a:pt x="0" y="8190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45587" y="6225103"/>
            <a:ext cx="1091175" cy="1091175"/>
          </a:xfrm>
          <a:custGeom>
            <a:avLst/>
            <a:gdLst/>
            <a:ahLst/>
            <a:cxnLst/>
            <a:rect l="l" t="t" r="r" b="b"/>
            <a:pathLst>
              <a:path w="1091175" h="1091175">
                <a:moveTo>
                  <a:pt x="0" y="0"/>
                </a:moveTo>
                <a:lnTo>
                  <a:pt x="1091174" y="0"/>
                </a:lnTo>
                <a:lnTo>
                  <a:pt x="1091174" y="1091175"/>
                </a:lnTo>
                <a:lnTo>
                  <a:pt x="0" y="10911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3968323" y="5199269"/>
            <a:ext cx="4049348" cy="4228198"/>
          </a:xfrm>
          <a:custGeom>
            <a:avLst/>
            <a:gdLst/>
            <a:ahLst/>
            <a:cxnLst/>
            <a:rect l="l" t="t" r="r" b="b"/>
            <a:pathLst>
              <a:path w="4049348" h="4228198">
                <a:moveTo>
                  <a:pt x="0" y="0"/>
                </a:moveTo>
                <a:lnTo>
                  <a:pt x="4049348" y="0"/>
                </a:lnTo>
                <a:lnTo>
                  <a:pt x="4049348" y="4228197"/>
                </a:lnTo>
                <a:lnTo>
                  <a:pt x="0" y="42281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1028700" y="1946851"/>
            <a:ext cx="11006972" cy="1943738"/>
          </a:xfrm>
          <a:prstGeom prst="rect">
            <a:avLst/>
          </a:prstGeom>
        </p:spPr>
        <p:txBody>
          <a:bodyPr lIns="0" tIns="0" rIns="0" bIns="0" rtlCol="0" anchor="t">
            <a:spAutoFit/>
          </a:bodyPr>
          <a:lstStyle/>
          <a:p>
            <a:pPr algn="l">
              <a:lnSpc>
                <a:spcPts val="7839"/>
              </a:lnSpc>
              <a:spcBef>
                <a:spcPct val="0"/>
              </a:spcBef>
            </a:pPr>
            <a:r>
              <a:rPr lang="en-US" sz="5599">
                <a:solidFill>
                  <a:srgbClr val="2D5986"/>
                </a:solidFill>
                <a:latin typeface="Anton"/>
                <a:ea typeface="Anton"/>
                <a:cs typeface="Anton"/>
                <a:sym typeface="Anton"/>
              </a:rPr>
              <a:t>Deklarasi Tech Stack &amp; Replikasi</a:t>
            </a:r>
          </a:p>
          <a:p>
            <a:pPr algn="l">
              <a:lnSpc>
                <a:spcPts val="7839"/>
              </a:lnSpc>
              <a:spcBef>
                <a:spcPct val="0"/>
              </a:spcBef>
            </a:pPr>
            <a:endParaRPr lang="en-US" sz="5599">
              <a:solidFill>
                <a:srgbClr val="2D5986"/>
              </a:solidFill>
              <a:latin typeface="Anton"/>
              <a:ea typeface="Anton"/>
              <a:cs typeface="Anton"/>
              <a:sym typeface="Anton"/>
            </a:endParaRPr>
          </a:p>
        </p:txBody>
      </p:sp>
      <p:sp>
        <p:nvSpPr>
          <p:cNvPr id="8" name="TextBox 8"/>
          <p:cNvSpPr txBox="1"/>
          <p:nvPr/>
        </p:nvSpPr>
        <p:spPr>
          <a:xfrm>
            <a:off x="1095375" y="2969261"/>
            <a:ext cx="8571660" cy="607389"/>
          </a:xfrm>
          <a:prstGeom prst="rect">
            <a:avLst/>
          </a:prstGeom>
        </p:spPr>
        <p:txBody>
          <a:bodyPr lIns="0" tIns="0" rIns="0" bIns="0" rtlCol="0" anchor="t">
            <a:spAutoFit/>
          </a:bodyPr>
          <a:lstStyle/>
          <a:p>
            <a:pPr algn="just">
              <a:lnSpc>
                <a:spcPts val="2427"/>
              </a:lnSpc>
            </a:pPr>
            <a:r>
              <a:rPr lang="en-US" sz="1733">
                <a:solidFill>
                  <a:srgbClr val="2D557E"/>
                </a:solidFill>
                <a:latin typeface="Glacial Indifference"/>
                <a:ea typeface="Glacial Indifference"/>
                <a:cs typeface="Glacial Indifference"/>
                <a:sym typeface="Glacial Indifference"/>
              </a:rPr>
              <a:t>Backend autodosing nutrisi AB Mix melon — teknologi asli dipetakan ke replika lab.</a:t>
            </a:r>
          </a:p>
          <a:p>
            <a:pPr algn="just">
              <a:lnSpc>
                <a:spcPts val="2427"/>
              </a:lnSpc>
            </a:pPr>
            <a:endParaRPr lang="en-US" sz="1733">
              <a:solidFill>
                <a:srgbClr val="2D557E"/>
              </a:solidFill>
              <a:latin typeface="Glacial Indifference"/>
              <a:ea typeface="Glacial Indifference"/>
              <a:cs typeface="Glacial Indifference"/>
              <a:sym typeface="Glacial Indifference"/>
            </a:endParaRPr>
          </a:p>
        </p:txBody>
      </p:sp>
      <p:sp>
        <p:nvSpPr>
          <p:cNvPr id="9" name="TextBox 9"/>
          <p:cNvSpPr txBox="1"/>
          <p:nvPr/>
        </p:nvSpPr>
        <p:spPr>
          <a:xfrm>
            <a:off x="1864248" y="1089788"/>
            <a:ext cx="7033915" cy="961838"/>
          </a:xfrm>
          <a:prstGeom prst="rect">
            <a:avLst/>
          </a:prstGeom>
        </p:spPr>
        <p:txBody>
          <a:bodyPr lIns="0" tIns="0" rIns="0" bIns="0" rtlCol="0" anchor="t">
            <a:spAutoFit/>
          </a:bodyPr>
          <a:lstStyle/>
          <a:p>
            <a:pPr algn="l">
              <a:lnSpc>
                <a:spcPts val="3816"/>
              </a:lnSpc>
            </a:pPr>
            <a:r>
              <a:rPr lang="en-US" sz="2725">
                <a:solidFill>
                  <a:srgbClr val="2D5986"/>
                </a:solidFill>
                <a:latin typeface="Glacial Indifference"/>
                <a:ea typeface="Glacial Indifference"/>
                <a:cs typeface="Glacial Indifference"/>
                <a:sym typeface="Glacial Indifference"/>
              </a:rPr>
              <a:t>KELOMPOK 10 KEAMANAN SIBER</a:t>
            </a:r>
          </a:p>
          <a:p>
            <a:pPr algn="l">
              <a:lnSpc>
                <a:spcPts val="3816"/>
              </a:lnSpc>
              <a:spcBef>
                <a:spcPct val="0"/>
              </a:spcBef>
            </a:pPr>
            <a:endParaRPr lang="en-US" sz="2725">
              <a:solidFill>
                <a:srgbClr val="2D5986"/>
              </a:solidFill>
              <a:latin typeface="Glacial Indifference"/>
              <a:ea typeface="Glacial Indifference"/>
              <a:cs typeface="Glacial Indifference"/>
              <a:sym typeface="Glacial Indifference"/>
            </a:endParaRPr>
          </a:p>
        </p:txBody>
      </p:sp>
      <p:graphicFrame>
        <p:nvGraphicFramePr>
          <p:cNvPr id="10" name="Table 9"/>
          <p:cNvGraphicFramePr>
            <a:graphicFrameLocks noGrp="1"/>
          </p:cNvGraphicFramePr>
          <p:nvPr/>
        </p:nvGraphicFramePr>
        <p:xfrm>
          <a:off x="1097280" y="4114800"/>
          <a:ext cx="12344400" cy="425196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tblGrid>
              <a:tr h="850392">
                <a:tc>
                  <a:txBody>
                    <a:bodyPr/>
                    <a:lstStyle/>
                    <a:p>
                      <a:r>
                        <a:rPr sz="1900" b="1">
                          <a:solidFill>
                            <a:srgbClr val="FFFFFF"/>
                          </a:solidFill>
                          <a:latin typeface="Aptos"/>
                        </a:rPr>
                        <a:t>Komponen</a:t>
                      </a:r>
                    </a:p>
                  </a:txBody>
                  <a:tcPr marL="137160" marR="137160" anchor="ctr">
                    <a:solidFill>
                      <a:srgbClr val="2D5B87"/>
                    </a:solidFill>
                  </a:tcPr>
                </a:tc>
                <a:tc>
                  <a:txBody>
                    <a:bodyPr/>
                    <a:lstStyle/>
                    <a:p>
                      <a:r>
                        <a:rPr sz="1900" b="1">
                          <a:solidFill>
                            <a:srgbClr val="FFFFFF"/>
                          </a:solidFill>
                          <a:latin typeface="Aptos"/>
                        </a:rPr>
                        <a:t>Proyek IoT asli</a:t>
                      </a:r>
                    </a:p>
                  </a:txBody>
                  <a:tcPr marL="137160" marR="137160" anchor="ctr">
                    <a:solidFill>
                      <a:srgbClr val="2D5B87"/>
                    </a:solidFill>
                  </a:tcPr>
                </a:tc>
                <a:tc>
                  <a:txBody>
                    <a:bodyPr/>
                    <a:lstStyle/>
                    <a:p>
                      <a:r>
                        <a:rPr sz="1900" b="1">
                          <a:solidFill>
                            <a:srgbClr val="FFFFFF"/>
                          </a:solidFill>
                          <a:latin typeface="Aptos"/>
                        </a:rPr>
                        <a:t>Target Node replika</a:t>
                      </a:r>
                    </a:p>
                  </a:txBody>
                  <a:tcPr marL="137160" marR="137160" anchor="ctr">
                    <a:solidFill>
                      <a:srgbClr val="2D5B87"/>
                    </a:solidFill>
                  </a:tcPr>
                </a:tc>
                <a:extLst>
                  <a:ext uri="{0D108BD9-81ED-4DB2-BD59-A6C34878D82A}">
                    <a16:rowId xmlns:a16="http://schemas.microsoft.com/office/drawing/2014/main" val="10000"/>
                  </a:ext>
                </a:extLst>
              </a:tr>
              <a:tr h="850392">
                <a:tc>
                  <a:txBody>
                    <a:bodyPr/>
                    <a:lstStyle/>
                    <a:p>
                      <a:r>
                        <a:rPr sz="1900" b="0">
                          <a:solidFill>
                            <a:srgbClr val="254B6B"/>
                          </a:solidFill>
                          <a:latin typeface="Aptos"/>
                        </a:rPr>
                        <a:t>Sistem operasi</a:t>
                      </a:r>
                    </a:p>
                  </a:txBody>
                  <a:tcPr marL="137160" marR="137160" anchor="ctr">
                    <a:solidFill>
                      <a:srgbClr val="E7EEF4"/>
                    </a:solidFill>
                  </a:tcPr>
                </a:tc>
                <a:tc>
                  <a:txBody>
                    <a:bodyPr/>
                    <a:lstStyle/>
                    <a:p>
                      <a:r>
                        <a:rPr sz="1900" b="0">
                          <a:solidFill>
                            <a:srgbClr val="254B6B"/>
                          </a:solidFill>
                          <a:latin typeface="Aptos"/>
                        </a:rPr>
                        <a:t>Firebase cloud terkelola; OS tidak dikelola kelompok</a:t>
                      </a:r>
                    </a:p>
                  </a:txBody>
                  <a:tcPr marL="137160" marR="137160" anchor="ctr">
                    <a:solidFill>
                      <a:srgbClr val="E7EEF4"/>
                    </a:solidFill>
                  </a:tcPr>
                </a:tc>
                <a:tc>
                  <a:txBody>
                    <a:bodyPr/>
                    <a:lstStyle/>
                    <a:p>
                      <a:r>
                        <a:rPr sz="1900" b="0">
                          <a:solidFill>
                            <a:srgbClr val="254B6B"/>
                          </a:solidFill>
                          <a:latin typeface="Aptos"/>
                        </a:rPr>
                        <a:t>Ubuntu Server</a:t>
                      </a:r>
                    </a:p>
                  </a:txBody>
                  <a:tcPr marL="137160" marR="137160" anchor="ctr">
                    <a:solidFill>
                      <a:srgbClr val="E7EEF4"/>
                    </a:solidFill>
                  </a:tcPr>
                </a:tc>
                <a:extLst>
                  <a:ext uri="{0D108BD9-81ED-4DB2-BD59-A6C34878D82A}">
                    <a16:rowId xmlns:a16="http://schemas.microsoft.com/office/drawing/2014/main" val="10001"/>
                  </a:ext>
                </a:extLst>
              </a:tr>
              <a:tr h="850392">
                <a:tc>
                  <a:txBody>
                    <a:bodyPr/>
                    <a:lstStyle/>
                    <a:p>
                      <a:r>
                        <a:rPr sz="1900" b="0">
                          <a:solidFill>
                            <a:srgbClr val="254B6B"/>
                          </a:solidFill>
                          <a:latin typeface="Aptos"/>
                        </a:rPr>
                        <a:t>Database</a:t>
                      </a:r>
                    </a:p>
                  </a:txBody>
                  <a:tcPr marL="137160" marR="137160" anchor="ctr">
                    <a:solidFill>
                      <a:srgbClr val="F4F7FA"/>
                    </a:solidFill>
                  </a:tcPr>
                </a:tc>
                <a:tc>
                  <a:txBody>
                    <a:bodyPr/>
                    <a:lstStyle/>
                    <a:p>
                      <a:r>
                        <a:rPr sz="1900" b="0">
                          <a:solidFill>
                            <a:srgbClr val="254B6B"/>
                          </a:solidFill>
                          <a:latin typeface="Aptos"/>
                        </a:rPr>
                        <a:t>Firebase Realtime Database</a:t>
                      </a:r>
                    </a:p>
                  </a:txBody>
                  <a:tcPr marL="137160" marR="137160" anchor="ctr">
                    <a:solidFill>
                      <a:srgbClr val="F4F7FA"/>
                    </a:solidFill>
                  </a:tcPr>
                </a:tc>
                <a:tc>
                  <a:txBody>
                    <a:bodyPr/>
                    <a:lstStyle/>
                    <a:p>
                      <a:r>
                        <a:rPr sz="1900" b="0">
                          <a:solidFill>
                            <a:srgbClr val="254B6B"/>
                          </a:solidFill>
                          <a:latin typeface="Aptos"/>
                        </a:rPr>
                        <a:t>Firebase Realtime Database Emulator</a:t>
                      </a:r>
                    </a:p>
                  </a:txBody>
                  <a:tcPr marL="137160" marR="137160" anchor="ctr">
                    <a:solidFill>
                      <a:srgbClr val="F4F7FA"/>
                    </a:solidFill>
                  </a:tcPr>
                </a:tc>
                <a:extLst>
                  <a:ext uri="{0D108BD9-81ED-4DB2-BD59-A6C34878D82A}">
                    <a16:rowId xmlns:a16="http://schemas.microsoft.com/office/drawing/2014/main" val="10002"/>
                  </a:ext>
                </a:extLst>
              </a:tr>
              <a:tr h="850392">
                <a:tc>
                  <a:txBody>
                    <a:bodyPr/>
                    <a:lstStyle/>
                    <a:p>
                      <a:r>
                        <a:rPr sz="1900" b="0">
                          <a:solidFill>
                            <a:srgbClr val="254B6B"/>
                          </a:solidFill>
                          <a:latin typeface="Aptos"/>
                        </a:rPr>
                        <a:t>Komunikasi</a:t>
                      </a:r>
                    </a:p>
                  </a:txBody>
                  <a:tcPr marL="137160" marR="137160" anchor="ctr">
                    <a:solidFill>
                      <a:srgbClr val="E7EEF4"/>
                    </a:solidFill>
                  </a:tcPr>
                </a:tc>
                <a:tc>
                  <a:txBody>
                    <a:bodyPr/>
                    <a:lstStyle/>
                    <a:p>
                      <a:r>
                        <a:rPr sz="1900" b="0">
                          <a:solidFill>
                            <a:srgbClr val="254B6B"/>
                          </a:solidFill>
                          <a:latin typeface="Aptos"/>
                        </a:rPr>
                        <a:t>HTTPS REST API / JSON</a:t>
                      </a:r>
                    </a:p>
                  </a:txBody>
                  <a:tcPr marL="137160" marR="137160" anchor="ctr">
                    <a:solidFill>
                      <a:srgbClr val="E7EEF4"/>
                    </a:solidFill>
                  </a:tcPr>
                </a:tc>
                <a:tc>
                  <a:txBody>
                    <a:bodyPr/>
                    <a:lstStyle/>
                    <a:p>
                      <a:r>
                        <a:rPr sz="1900" b="0">
                          <a:solidFill>
                            <a:srgbClr val="254B6B"/>
                          </a:solidFill>
                          <a:latin typeface="Aptos"/>
                        </a:rPr>
                        <a:t>HTTP REST API / JSON (belum TLS)</a:t>
                      </a:r>
                    </a:p>
                  </a:txBody>
                  <a:tcPr marL="137160" marR="137160" anchor="ctr">
                    <a:solidFill>
                      <a:srgbClr val="E7EEF4"/>
                    </a:solidFill>
                  </a:tcPr>
                </a:tc>
                <a:extLst>
                  <a:ext uri="{0D108BD9-81ED-4DB2-BD59-A6C34878D82A}">
                    <a16:rowId xmlns:a16="http://schemas.microsoft.com/office/drawing/2014/main" val="10003"/>
                  </a:ext>
                </a:extLst>
              </a:tr>
              <a:tr h="850392">
                <a:tc>
                  <a:txBody>
                    <a:bodyPr/>
                    <a:lstStyle/>
                    <a:p>
                      <a:r>
                        <a:rPr sz="1900" b="0">
                          <a:solidFill>
                            <a:srgbClr val="254B6B"/>
                          </a:solidFill>
                          <a:latin typeface="Aptos"/>
                        </a:rPr>
                        <a:t>Dashboard</a:t>
                      </a:r>
                    </a:p>
                  </a:txBody>
                  <a:tcPr marL="137160" marR="137160" anchor="ctr">
                    <a:solidFill>
                      <a:srgbClr val="F4F7FA"/>
                    </a:solidFill>
                  </a:tcPr>
                </a:tc>
                <a:tc>
                  <a:txBody>
                    <a:bodyPr/>
                    <a:lstStyle/>
                    <a:p>
                      <a:r>
                        <a:rPr sz="1900" b="0">
                          <a:solidFill>
                            <a:srgbClr val="254B6B"/>
                          </a:solidFill>
                          <a:latin typeface="Aptos"/>
                        </a:rPr>
                        <a:t>Aplikasi mobile Flutter</a:t>
                      </a:r>
                    </a:p>
                  </a:txBody>
                  <a:tcPr marL="137160" marR="137160" anchor="ctr">
                    <a:solidFill>
                      <a:srgbClr val="F4F7FA"/>
                    </a:solidFill>
                  </a:tcPr>
                </a:tc>
                <a:tc>
                  <a:txBody>
                    <a:bodyPr/>
                    <a:lstStyle/>
                    <a:p>
                      <a:r>
                        <a:rPr sz="1900" b="0">
                          <a:solidFill>
                            <a:srgbClr val="254B6B"/>
                          </a:solidFill>
                          <a:latin typeface="Aptos"/>
                        </a:rPr>
                        <a:t>HTML/JavaScript melalui Nginx</a:t>
                      </a:r>
                    </a:p>
                  </a:txBody>
                  <a:tcPr marL="137160" marR="137160" anchor="ctr">
                    <a:solidFill>
                      <a:srgbClr val="F4F7FA"/>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50">
        <p:fade thruBlk="1"/>
      </p:transition>
    </mc:Choice>
    <mc:Fallback>
      <p:transition spd="med">
        <p:fade thruBlk="1"/>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Freeform 2"/>
          <p:cNvSpPr/>
          <p:nvPr/>
        </p:nvSpPr>
        <p:spPr>
          <a:xfrm>
            <a:off x="-759631" y="9004658"/>
            <a:ext cx="7315200" cy="1157132"/>
          </a:xfrm>
          <a:custGeom>
            <a:avLst/>
            <a:gdLst/>
            <a:ahLst/>
            <a:cxnLst/>
            <a:rect l="l" t="t" r="r" b="b"/>
            <a:pathLst>
              <a:path w="7315200" h="1157132">
                <a:moveTo>
                  <a:pt x="0" y="0"/>
                </a:moveTo>
                <a:lnTo>
                  <a:pt x="7315200" y="0"/>
                </a:lnTo>
                <a:lnTo>
                  <a:pt x="7315200" y="1157131"/>
                </a:lnTo>
                <a:lnTo>
                  <a:pt x="0" y="1157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1028700"/>
            <a:ext cx="593500" cy="593500"/>
          </a:xfrm>
          <a:custGeom>
            <a:avLst/>
            <a:gdLst/>
            <a:ahLst/>
            <a:cxnLst/>
            <a:rect l="l" t="t" r="r" b="b"/>
            <a:pathLst>
              <a:path w="593500" h="593500">
                <a:moveTo>
                  <a:pt x="0" y="0"/>
                </a:moveTo>
                <a:lnTo>
                  <a:pt x="593500" y="0"/>
                </a:lnTo>
                <a:lnTo>
                  <a:pt x="593500" y="593500"/>
                </a:lnTo>
                <a:lnTo>
                  <a:pt x="0" y="5935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701755" y="2986144"/>
            <a:ext cx="10884490" cy="6597080"/>
          </a:xfrm>
          <a:custGeom>
            <a:avLst/>
            <a:gdLst/>
            <a:ahLst/>
            <a:cxnLst/>
            <a:rect l="l" t="t" r="r" b="b"/>
            <a:pathLst>
              <a:path w="10884490" h="6597080">
                <a:moveTo>
                  <a:pt x="0" y="0"/>
                </a:moveTo>
                <a:lnTo>
                  <a:pt x="10884490" y="0"/>
                </a:lnTo>
                <a:lnTo>
                  <a:pt x="10884490" y="6597080"/>
                </a:lnTo>
                <a:lnTo>
                  <a:pt x="0" y="6597080"/>
                </a:lnTo>
                <a:lnTo>
                  <a:pt x="0" y="0"/>
                </a:lnTo>
                <a:close/>
              </a:path>
            </a:pathLst>
          </a:custGeom>
          <a:blipFill>
            <a:blip r:embed="rId6"/>
            <a:stretch>
              <a:fillRect/>
            </a:stretch>
          </a:blipFill>
          <a:ln w="28575" cap="sq">
            <a:solidFill>
              <a:srgbClr val="000000"/>
            </a:solidFill>
            <a:prstDash val="solid"/>
            <a:miter/>
          </a:ln>
        </p:spPr>
      </p:sp>
      <p:sp>
        <p:nvSpPr>
          <p:cNvPr id="5" name="TextBox 5"/>
          <p:cNvSpPr txBox="1"/>
          <p:nvPr/>
        </p:nvSpPr>
        <p:spPr>
          <a:xfrm>
            <a:off x="1028700" y="1787350"/>
            <a:ext cx="10517651" cy="1943735"/>
          </a:xfrm>
          <a:prstGeom prst="rect">
            <a:avLst/>
          </a:prstGeom>
        </p:spPr>
        <p:txBody>
          <a:bodyPr lIns="0" tIns="0" rIns="0" bIns="0" rtlCol="0" anchor="t">
            <a:spAutoFit/>
          </a:bodyPr>
          <a:lstStyle/>
          <a:p>
            <a:pPr algn="l">
              <a:lnSpc>
                <a:spcPts val="7840"/>
              </a:lnSpc>
              <a:spcBef>
                <a:spcPct val="0"/>
              </a:spcBef>
            </a:pPr>
            <a:r>
              <a:rPr lang="en-US" sz="5600">
                <a:solidFill>
                  <a:srgbClr val="2D5986"/>
                </a:solidFill>
                <a:latin typeface="Anton"/>
                <a:ea typeface="Anton"/>
                <a:cs typeface="Anton"/>
                <a:sym typeface="Anton"/>
              </a:rPr>
              <a:t>Arsitektur Simulasi &amp; Skema IP</a:t>
            </a:r>
          </a:p>
          <a:p>
            <a:pPr algn="l">
              <a:lnSpc>
                <a:spcPts val="7840"/>
              </a:lnSpc>
              <a:spcBef>
                <a:spcPct val="0"/>
              </a:spcBef>
            </a:pPr>
            <a:endParaRPr lang="en-US" sz="5600">
              <a:solidFill>
                <a:srgbClr val="2D5986"/>
              </a:solidFill>
              <a:latin typeface="Anton"/>
              <a:ea typeface="Anton"/>
              <a:cs typeface="Anton"/>
              <a:sym typeface="Anton"/>
            </a:endParaRPr>
          </a:p>
        </p:txBody>
      </p:sp>
      <p:sp>
        <p:nvSpPr>
          <p:cNvPr id="6" name="TextBox 6"/>
          <p:cNvSpPr txBox="1"/>
          <p:nvPr/>
        </p:nvSpPr>
        <p:spPr>
          <a:xfrm>
            <a:off x="1864248" y="1089788"/>
            <a:ext cx="7033915" cy="961838"/>
          </a:xfrm>
          <a:prstGeom prst="rect">
            <a:avLst/>
          </a:prstGeom>
        </p:spPr>
        <p:txBody>
          <a:bodyPr lIns="0" tIns="0" rIns="0" bIns="0" rtlCol="0" anchor="t">
            <a:spAutoFit/>
          </a:bodyPr>
          <a:lstStyle/>
          <a:p>
            <a:pPr algn="l">
              <a:lnSpc>
                <a:spcPts val="3816"/>
              </a:lnSpc>
            </a:pPr>
            <a:r>
              <a:rPr lang="en-US" sz="2725">
                <a:solidFill>
                  <a:srgbClr val="2D5986"/>
                </a:solidFill>
                <a:latin typeface="Glacial Indifference"/>
                <a:ea typeface="Glacial Indifference"/>
                <a:cs typeface="Glacial Indifference"/>
                <a:sym typeface="Glacial Indifference"/>
              </a:rPr>
              <a:t>KELOMPOK 10 KEAMANAN SIBER</a:t>
            </a:r>
          </a:p>
          <a:p>
            <a:pPr algn="l">
              <a:lnSpc>
                <a:spcPts val="3816"/>
              </a:lnSpc>
              <a:spcBef>
                <a:spcPct val="0"/>
              </a:spcBef>
            </a:pPr>
            <a:endParaRPr lang="en-US" sz="2725">
              <a:solidFill>
                <a:srgbClr val="2D5986"/>
              </a:solidFill>
              <a:latin typeface="Glacial Indifference"/>
              <a:ea typeface="Glacial Indifference"/>
              <a:cs typeface="Glacial Indifference"/>
              <a:sym typeface="Glacial Indifference"/>
            </a:endParaRPr>
          </a:p>
        </p:txBody>
      </p:sp>
    </p:spTree>
  </p:cSld>
  <p:clrMapOvr>
    <a:masterClrMapping/>
  </p:clrMapOvr>
  <mc:AlternateContent xmlns:mc="http://schemas.openxmlformats.org/markup-compatibility/2006">
    <mc:Choice xmlns:p14="http://schemas.microsoft.com/office/powerpoint/2010/main" Requires="p14">
      <p:transition spd="med" p14:dur="650">
        <p:fade thruBlk="1"/>
      </p:transition>
    </mc:Choice>
    <mc:Fallback>
      <p:transition spd="med">
        <p:fade thruBlk="1"/>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593500" cy="593500"/>
          </a:xfrm>
          <a:custGeom>
            <a:avLst/>
            <a:gdLst/>
            <a:ahLst/>
            <a:cxnLst/>
            <a:rect l="l" t="t" r="r" b="b"/>
            <a:pathLst>
              <a:path w="593500" h="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p/>
        </p:txBody>
      </p:sp>
      <p:sp>
        <p:nvSpPr>
          <p:cNvPr id="3" name="Freeform 3"/>
          <p:cNvSpPr/>
          <p:nvPr/>
        </p:nvSpPr>
        <p:spPr>
          <a:xfrm>
            <a:off x="1024128" y="3182112"/>
            <a:ext cx="10561320" cy="658368"/>
          </a:xfrm>
          <a:custGeom>
            <a:avLst/>
            <a:gdLst/>
            <a:ahLst/>
            <a:cxnLst/>
            <a:rect l="l" t="t" r="r" b="b"/>
            <a:pathLst>
              <a:path w="8115300" h="933752">
                <a:moveTo>
                  <a:pt x="0" y="0"/>
                </a:moveTo>
                <a:lnTo>
                  <a:pt x="8115300" y="0"/>
                </a:lnTo>
                <a:lnTo>
                  <a:pt x="8115300" y="933752"/>
                </a:lnTo>
                <a:lnTo>
                  <a:pt x="0" y="933752"/>
                </a:lnTo>
                <a:lnTo>
                  <a:pt x="0" y="0"/>
                </a:lnTo>
                <a:close/>
              </a:path>
            </a:pathLst>
          </a:custGeom>
          <a:blipFill>
            <a:blip r:embed="rId4"/>
            <a:stretch>
              <a:fillRect t="-7125" b="-7125"/>
            </a:stretch>
          </a:blipFill>
          <a:ln w="28575" cap="sq">
            <a:solidFill>
              <a:srgbClr val="000000"/>
            </a:solidFill>
            <a:prstDash val="solid"/>
            <a:miter/>
          </a:ln>
        </p:spPr>
        <p:txBody>
          <a:bodyPr/>
          <a:p/>
        </p:txBody>
      </p:sp>
      <p:sp>
        <p:nvSpPr>
          <p:cNvPr id="6" name="Freeform 6"/>
          <p:cNvSpPr/>
          <p:nvPr/>
        </p:nvSpPr>
        <p:spPr>
          <a:xfrm>
            <a:off x="11887200" y="3182112"/>
            <a:ext cx="5376672" cy="658368"/>
          </a:xfrm>
          <a:custGeom>
            <a:avLst/>
            <a:gdLst/>
            <a:ahLst/>
            <a:cxnLst/>
            <a:rect l="l" t="t" r="r" b="b"/>
            <a:pathLst>
              <a:path w="8115300" h="933752">
                <a:moveTo>
                  <a:pt x="0" y="0"/>
                </a:moveTo>
                <a:lnTo>
                  <a:pt x="8115300" y="0"/>
                </a:lnTo>
                <a:lnTo>
                  <a:pt x="8115300" y="933752"/>
                </a:lnTo>
                <a:lnTo>
                  <a:pt x="0" y="933752"/>
                </a:lnTo>
                <a:lnTo>
                  <a:pt x="0" y="0"/>
                </a:lnTo>
                <a:close/>
              </a:path>
            </a:pathLst>
          </a:custGeom>
          <a:blipFill>
            <a:blip r:embed="rId5"/>
            <a:stretch>
              <a:fillRect l="-3839" t="-9229" b="-9229"/>
            </a:stretch>
          </a:blipFill>
          <a:ln w="28575" cap="sq">
            <a:solidFill>
              <a:srgbClr val="000000"/>
            </a:solidFill>
            <a:prstDash val="solid"/>
            <a:miter/>
          </a:ln>
        </p:spPr>
        <p:txBody>
          <a:bodyPr/>
          <a:p/>
        </p:txBody>
      </p:sp>
      <p:sp>
        <p:nvSpPr>
          <p:cNvPr id="7" name="TextBox 7"/>
          <p:cNvSpPr txBox="1"/>
          <p:nvPr/>
        </p:nvSpPr>
        <p:spPr>
          <a:xfrm>
            <a:off x="1028700" y="2139290"/>
            <a:ext cx="16184880" cy="1005840"/>
          </a:xfrm>
          <a:prstGeom prst="rect">
            <a:avLst/>
          </a:prstGeom>
        </p:spPr>
        <p:txBody>
          <a:bodyPr lIns="0" tIns="0" rIns="0" bIns="0" rtlCol="0" anchor="t">
            <a:spAutoFit/>
          </a:bodyPr>
          <a:lstStyle/>
          <a:p>
            <a:pPr algn="l">
              <a:lnSpc>
                <a:spcPts val="5377"/>
              </a:lnSpc>
            </a:pPr>
            <a:r>
              <a:rPr lang="en-US" sz="4979">
                <a:solidFill>
                  <a:srgbClr val="2D5986"/>
                </a:solidFill>
                <a:latin typeface="Anton"/>
                <a:ea typeface="Anton"/>
                <a:cs typeface="Anton"/>
                <a:sym typeface="Anton"/>
              </a:rPr>
              <a:t>Progres Hardening: Selesai &amp; Belum</a:t>
            </a:r>
          </a:p>
          <a:p>
            <a:pPr algn="l">
              <a:lnSpc>
                <a:spcPts val="5377"/>
              </a:lnSpc>
            </a:pPr>
            <a:endParaRPr lang="en-US" sz="4979">
              <a:solidFill>
                <a:srgbClr val="2D5986"/>
              </a:solidFill>
              <a:latin typeface="Anton"/>
              <a:ea typeface="Anton"/>
              <a:cs typeface="Anton"/>
              <a:sym typeface="Anton"/>
            </a:endParaRPr>
          </a:p>
        </p:txBody>
      </p:sp>
      <p:sp>
        <p:nvSpPr>
          <p:cNvPr id="8" name="TextBox 8"/>
          <p:cNvSpPr txBox="1"/>
          <p:nvPr/>
        </p:nvSpPr>
        <p:spPr>
          <a:xfrm>
            <a:off x="1143000" y="3300984"/>
            <a:ext cx="10287000" cy="438912"/>
          </a:xfrm>
          <a:prstGeom prst="rect">
            <a:avLst/>
          </a:prstGeom>
        </p:spPr>
        <p:txBody>
          <a:bodyPr wrap="none" lIns="0" tIns="0" rIns="0" bIns="0" rtlCol="0" anchor="t">
            <a:spAutoFit/>
          </a:bodyPr>
          <a:lstStyle/>
          <a:p>
            <a:pPr algn="ctr">
              <a:lnSpc>
                <a:spcPts val="3919"/>
              </a:lnSpc>
              <a:spcBef>
                <a:spcPct val="0"/>
              </a:spcBef>
            </a:pPr>
            <a:r>
              <a:rPr sz="2200">
                <a:solidFill>
                  <a:srgbClr val="2D5B87"/>
                </a:solidFill>
                <a:latin typeface="Aptos"/>
              </a:rPr>
              <a:t>SUDAH SELESAI · 8 KONTROL</a:t>
            </a:r>
          </a:p>
        </p:txBody>
      </p:sp>
      <p:sp>
        <p:nvSpPr>
          <p:cNvPr id="9" name="TextBox 9"/>
          <p:cNvSpPr txBox="1"/>
          <p:nvPr/>
        </p:nvSpPr>
        <p:spPr>
          <a:xfrm>
            <a:off x="11978640" y="3300984"/>
            <a:ext cx="5166360" cy="438912"/>
          </a:xfrm>
          <a:prstGeom prst="rect">
            <a:avLst/>
          </a:prstGeom>
        </p:spPr>
        <p:txBody>
          <a:bodyPr wrap="none" lIns="0" tIns="0" rIns="0" bIns="0" rtlCol="0" anchor="t">
            <a:spAutoFit/>
          </a:bodyPr>
          <a:lstStyle/>
          <a:p>
            <a:pPr algn="ctr">
              <a:lnSpc>
                <a:spcPts val="3919"/>
              </a:lnSpc>
              <a:spcBef>
                <a:spcPct val="0"/>
              </a:spcBef>
            </a:pPr>
            <a:r>
              <a:rPr sz="2200">
                <a:solidFill>
                  <a:srgbClr val="2D5B87"/>
                </a:solidFill>
                <a:latin typeface="Aptos"/>
              </a:rPr>
              <a:t>RENCANA · 4 KONTROL</a:t>
            </a:r>
          </a:p>
        </p:txBody>
      </p:sp>
      <p:sp>
        <p:nvSpPr>
          <p:cNvPr id="10" name="TextBox 10"/>
          <p:cNvSpPr txBox="1"/>
          <p:nvPr/>
        </p:nvSpPr>
        <p:spPr>
          <a:xfrm>
            <a:off x="1864248" y="1089788"/>
            <a:ext cx="7033915" cy="961838"/>
          </a:xfrm>
          <a:prstGeom prst="rect">
            <a:avLst/>
          </a:prstGeom>
        </p:spPr>
        <p:txBody>
          <a:bodyPr lIns="0" tIns="0" rIns="0" bIns="0" rtlCol="0" anchor="t">
            <a:spAutoFit/>
          </a:bodyPr>
          <a:lstStyle/>
          <a:p>
            <a:pPr algn="l">
              <a:lnSpc>
                <a:spcPts val="3816"/>
              </a:lnSpc>
            </a:pPr>
            <a:r>
              <a:rPr lang="en-US" sz="2725">
                <a:solidFill>
                  <a:srgbClr val="2D5986"/>
                </a:solidFill>
                <a:latin typeface="Glacial Indifference"/>
                <a:ea typeface="Glacial Indifference"/>
                <a:cs typeface="Glacial Indifference"/>
                <a:sym typeface="Glacial Indifference"/>
              </a:rPr>
              <a:t>KELOMPOK 10 KEAMANAN SIBER</a:t>
            </a:r>
          </a:p>
          <a:p>
            <a:pPr algn="l">
              <a:lnSpc>
                <a:spcPts val="3816"/>
              </a:lnSpc>
              <a:spcBef>
                <a:spcPct val="0"/>
              </a:spcBef>
            </a:pPr>
            <a:endParaRPr lang="en-US" sz="2725">
              <a:solidFill>
                <a:srgbClr val="2D5986"/>
              </a:solidFill>
              <a:latin typeface="Glacial Indifference"/>
              <a:ea typeface="Glacial Indifference"/>
              <a:cs typeface="Glacial Indifference"/>
              <a:sym typeface="Glacial Indifference"/>
            </a:endParaRPr>
          </a:p>
        </p:txBody>
      </p:sp>
      <p:graphicFrame>
        <p:nvGraphicFramePr>
          <p:cNvPr id="11" name="Table 10"/>
          <p:cNvGraphicFramePr>
            <a:graphicFrameLocks noGrp="1"/>
          </p:cNvGraphicFramePr>
          <p:nvPr/>
        </p:nvGraphicFramePr>
        <p:xfrm>
          <a:off x="1024128" y="4050791"/>
          <a:ext cx="10561320" cy="5010912"/>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2670048">
                  <a:extLst>
                    <a:ext uri="{9D8B030D-6E8A-4147-A177-3AD203B41FA5}">
                      <a16:colId xmlns:a16="http://schemas.microsoft.com/office/drawing/2014/main" val="20001"/>
                    </a:ext>
                  </a:extLst>
                </a:gridCol>
                <a:gridCol w="7360920">
                  <a:extLst>
                    <a:ext uri="{9D8B030D-6E8A-4147-A177-3AD203B41FA5}">
                      <a16:colId xmlns:a16="http://schemas.microsoft.com/office/drawing/2014/main" val="20002"/>
                    </a:ext>
                  </a:extLst>
                </a:gridCol>
              </a:tblGrid>
              <a:tr h="457200">
                <a:tc>
                  <a:txBody>
                    <a:bodyPr/>
                    <a:lstStyle/>
                    <a:p>
                      <a:pPr>
                        <a:lnSpc>
                          <a:spcPct val="103000"/>
                        </a:lnSpc>
                        <a:spcBef>
                          <a:spcPts val="0"/>
                        </a:spcBef>
                        <a:spcAft>
                          <a:spcPts val="0"/>
                        </a:spcAft>
                      </a:pPr>
                      <a:r>
                        <a:rPr sz="1400" b="1">
                          <a:solidFill>
                            <a:srgbClr val="FFFFFF"/>
                          </a:solidFill>
                          <a:latin typeface="Aptos"/>
                        </a:rPr>
                        <a:t>ID</a:t>
                      </a:r>
                    </a:p>
                  </a:txBody>
                  <a:tcPr marL="118872" marR="109728" marT="64008" marB="64008" anchor="ctr">
                    <a:solidFill>
                      <a:srgbClr val="246B56"/>
                    </a:solidFill>
                  </a:tcPr>
                </a:tc>
                <a:tc>
                  <a:txBody>
                    <a:bodyPr/>
                    <a:lstStyle/>
                    <a:p>
                      <a:pPr>
                        <a:lnSpc>
                          <a:spcPct val="103000"/>
                        </a:lnSpc>
                        <a:spcBef>
                          <a:spcPts val="0"/>
                        </a:spcBef>
                        <a:spcAft>
                          <a:spcPts val="0"/>
                        </a:spcAft>
                      </a:pPr>
                      <a:r>
                        <a:rPr sz="1400" b="1">
                          <a:solidFill>
                            <a:srgbClr val="FFFFFF"/>
                          </a:solidFill>
                          <a:latin typeface="Aptos"/>
                        </a:rPr>
                        <a:t>Kontrol selesai</a:t>
                      </a:r>
                    </a:p>
                  </a:txBody>
                  <a:tcPr marL="118872" marR="109728" marT="64008" marB="64008" anchor="ctr">
                    <a:solidFill>
                      <a:srgbClr val="246B56"/>
                    </a:solidFill>
                  </a:tcPr>
                </a:tc>
                <a:tc>
                  <a:txBody>
                    <a:bodyPr/>
                    <a:lstStyle/>
                    <a:p>
                      <a:pPr>
                        <a:lnSpc>
                          <a:spcPct val="103000"/>
                        </a:lnSpc>
                        <a:spcBef>
                          <a:spcPts val="0"/>
                        </a:spcBef>
                        <a:spcAft>
                          <a:spcPts val="0"/>
                        </a:spcAft>
                      </a:pPr>
                      <a:r>
                        <a:rPr sz="1400" b="1">
                          <a:solidFill>
                            <a:srgbClr val="FFFFFF"/>
                          </a:solidFill>
                          <a:latin typeface="Aptos"/>
                        </a:rPr>
                        <a:t>Cara penerapan singkat</a:t>
                      </a:r>
                    </a:p>
                  </a:txBody>
                  <a:tcPr marL="118872" marR="109728" marT="64008" marB="64008" anchor="ctr">
                    <a:solidFill>
                      <a:srgbClr val="246B56"/>
                    </a:solidFill>
                  </a:tcPr>
                </a:tc>
                <a:extLst>
                  <a:ext uri="{0D108BD9-81ED-4DB2-BD59-A6C34878D82A}">
                    <a16:rowId xmlns:a16="http://schemas.microsoft.com/office/drawing/2014/main" val="10000"/>
                  </a:ext>
                </a:extLst>
              </a:tr>
              <a:tr h="569214">
                <a:tc>
                  <a:txBody>
                    <a:bodyPr/>
                    <a:lstStyle/>
                    <a:p>
                      <a:pPr>
                        <a:lnSpc>
                          <a:spcPct val="103000"/>
                        </a:lnSpc>
                        <a:spcBef>
                          <a:spcPts val="0"/>
                        </a:spcBef>
                        <a:spcAft>
                          <a:spcPts val="0"/>
                        </a:spcAft>
                      </a:pPr>
                      <a:r>
                        <a:rPr sz="1500" b="1">
                          <a:solidFill>
                            <a:srgbClr val="254B6B"/>
                          </a:solidFill>
                          <a:latin typeface="Aptos"/>
                        </a:rPr>
                        <a:t>A1</a:t>
                      </a:r>
                    </a:p>
                  </a:txBody>
                  <a:tcPr marL="118872" marR="109728" marT="64008" marB="64008" anchor="ctr">
                    <a:solidFill>
                      <a:srgbClr val="F8FAFC"/>
                    </a:solidFill>
                  </a:tcPr>
                </a:tc>
                <a:tc>
                  <a:txBody>
                    <a:bodyPr/>
                    <a:lstStyle/>
                    <a:p>
                      <a:pPr>
                        <a:lnSpc>
                          <a:spcPct val="103000"/>
                        </a:lnSpc>
                        <a:spcBef>
                          <a:spcPts val="0"/>
                        </a:spcBef>
                        <a:spcAft>
                          <a:spcPts val="0"/>
                        </a:spcAft>
                      </a:pPr>
                      <a:r>
                        <a:rPr sz="1500" b="0">
                          <a:solidFill>
                            <a:srgbClr val="254B6B"/>
                          </a:solidFill>
                          <a:latin typeface="Aptos"/>
                        </a:rPr>
                        <a:t>Menolak login SSH root</a:t>
                      </a:r>
                    </a:p>
                  </a:txBody>
                  <a:tcPr marL="118872" marR="109728" marT="64008" marB="64008" anchor="ctr">
                    <a:solidFill>
                      <a:srgbClr val="F8FAFC"/>
                    </a:solidFill>
                  </a:tcPr>
                </a:tc>
                <a:tc>
                  <a:txBody>
                    <a:bodyPr/>
                    <a:lstStyle/>
                    <a:p>
                      <a:pPr>
                        <a:lnSpc>
                          <a:spcPct val="103000"/>
                        </a:lnSpc>
                        <a:spcBef>
                          <a:spcPts val="0"/>
                        </a:spcBef>
                        <a:spcAft>
                          <a:spcPts val="0"/>
                        </a:spcAft>
                      </a:pPr>
                      <a:r>
                        <a:rPr sz="1500" b="0">
                          <a:solidFill>
                            <a:srgbClr val="254B6B"/>
                          </a:solidFill>
                          <a:latin typeface="Aptos"/>
                        </a:rPr>
                        <a:t>Atur PermitRootLogin no, validasi konfigurasi, lalu reload SSH. Uji login root: ditolak.</a:t>
                      </a:r>
                    </a:p>
                  </a:txBody>
                  <a:tcPr marL="118872" marR="109728" marT="64008" marB="64008" anchor="ctr">
                    <a:solidFill>
                      <a:srgbClr val="F8FAFC"/>
                    </a:solidFill>
                  </a:tcPr>
                </a:tc>
                <a:extLst>
                  <a:ext uri="{0D108BD9-81ED-4DB2-BD59-A6C34878D82A}">
                    <a16:rowId xmlns:a16="http://schemas.microsoft.com/office/drawing/2014/main" val="10001"/>
                  </a:ext>
                </a:extLst>
              </a:tr>
              <a:tr h="569214">
                <a:tc>
                  <a:txBody>
                    <a:bodyPr/>
                    <a:lstStyle/>
                    <a:p>
                      <a:pPr>
                        <a:lnSpc>
                          <a:spcPct val="103000"/>
                        </a:lnSpc>
                        <a:spcBef>
                          <a:spcPts val="0"/>
                        </a:spcBef>
                        <a:spcAft>
                          <a:spcPts val="0"/>
                        </a:spcAft>
                      </a:pPr>
                      <a:r>
                        <a:rPr sz="1500" b="1">
                          <a:solidFill>
                            <a:srgbClr val="254B6B"/>
                          </a:solidFill>
                          <a:latin typeface="Aptos"/>
                        </a:rPr>
                        <a:t>A2</a:t>
                      </a:r>
                    </a:p>
                  </a:txBody>
                  <a:tcPr marL="118872" marR="109728" marT="64008" marB="64008" anchor="ctr">
                    <a:solidFill>
                      <a:srgbClr val="E7EEF4"/>
                    </a:solidFill>
                  </a:tcPr>
                </a:tc>
                <a:tc>
                  <a:txBody>
                    <a:bodyPr/>
                    <a:lstStyle/>
                    <a:p>
                      <a:pPr>
                        <a:lnSpc>
                          <a:spcPct val="103000"/>
                        </a:lnSpc>
                        <a:spcBef>
                          <a:spcPts val="0"/>
                        </a:spcBef>
                        <a:spcAft>
                          <a:spcPts val="0"/>
                        </a:spcAft>
                      </a:pPr>
                      <a:r>
                        <a:rPr sz="1500" b="0">
                          <a:solidFill>
                            <a:srgbClr val="254B6B"/>
                          </a:solidFill>
                          <a:latin typeface="Aptos"/>
                        </a:rPr>
                        <a:t>Fail2ban pada SSH</a:t>
                      </a:r>
                    </a:p>
                  </a:txBody>
                  <a:tcPr marL="118872" marR="109728" marT="64008" marB="64008" anchor="ctr">
                    <a:solidFill>
                      <a:srgbClr val="E7EEF4"/>
                    </a:solidFill>
                  </a:tcPr>
                </a:tc>
                <a:tc>
                  <a:txBody>
                    <a:bodyPr/>
                    <a:lstStyle/>
                    <a:p>
                      <a:pPr>
                        <a:lnSpc>
                          <a:spcPct val="103000"/>
                        </a:lnSpc>
                        <a:spcBef>
                          <a:spcPts val="0"/>
                        </a:spcBef>
                        <a:spcAft>
                          <a:spcPts val="0"/>
                        </a:spcAft>
                      </a:pPr>
                      <a:r>
                        <a:rPr sz="1500" b="0">
                          <a:solidFill>
                            <a:srgbClr val="254B6B"/>
                          </a:solidFill>
                          <a:latin typeface="Aptos"/>
                        </a:rPr>
                        <a:t>Aktifkan jail sshd: 5 kegagalan/600 detik, blokir 120 detik. Periksa IP penguji pada daftar ban.</a:t>
                      </a:r>
                    </a:p>
                  </a:txBody>
                  <a:tcPr marL="118872" marR="109728" marT="64008" marB="64008" anchor="ctr">
                    <a:solidFill>
                      <a:srgbClr val="E7EEF4"/>
                    </a:solidFill>
                  </a:tcPr>
                </a:tc>
                <a:extLst>
                  <a:ext uri="{0D108BD9-81ED-4DB2-BD59-A6C34878D82A}">
                    <a16:rowId xmlns:a16="http://schemas.microsoft.com/office/drawing/2014/main" val="10002"/>
                  </a:ext>
                </a:extLst>
              </a:tr>
              <a:tr h="569214">
                <a:tc>
                  <a:txBody>
                    <a:bodyPr/>
                    <a:lstStyle/>
                    <a:p>
                      <a:pPr>
                        <a:lnSpc>
                          <a:spcPct val="103000"/>
                        </a:lnSpc>
                        <a:spcBef>
                          <a:spcPts val="0"/>
                        </a:spcBef>
                        <a:spcAft>
                          <a:spcPts val="0"/>
                        </a:spcAft>
                      </a:pPr>
                      <a:r>
                        <a:rPr sz="1500" b="1">
                          <a:solidFill>
                            <a:srgbClr val="254B6B"/>
                          </a:solidFill>
                          <a:latin typeface="Aptos"/>
                        </a:rPr>
                        <a:t>B1</a:t>
                      </a:r>
                    </a:p>
                  </a:txBody>
                  <a:tcPr marL="118872" marR="109728" marT="64008" marB="64008" anchor="ctr">
                    <a:solidFill>
                      <a:srgbClr val="F8FAFC"/>
                    </a:solidFill>
                  </a:tcPr>
                </a:tc>
                <a:tc>
                  <a:txBody>
                    <a:bodyPr/>
                    <a:lstStyle/>
                    <a:p>
                      <a:pPr>
                        <a:lnSpc>
                          <a:spcPct val="103000"/>
                        </a:lnSpc>
                        <a:spcBef>
                          <a:spcPts val="0"/>
                        </a:spcBef>
                        <a:spcAft>
                          <a:spcPts val="0"/>
                        </a:spcAft>
                      </a:pPr>
                      <a:r>
                        <a:rPr sz="1500" b="0">
                          <a:solidFill>
                            <a:srgbClr val="254B6B"/>
                          </a:solidFill>
                          <a:latin typeface="Aptos"/>
                        </a:rPr>
                        <a:t>UFW: IP dan port</a:t>
                      </a:r>
                    </a:p>
                  </a:txBody>
                  <a:tcPr marL="118872" marR="109728" marT="64008" marB="64008" anchor="ctr">
                    <a:solidFill>
                      <a:srgbClr val="F8FAFC"/>
                    </a:solidFill>
                  </a:tcPr>
                </a:tc>
                <a:tc>
                  <a:txBody>
                    <a:bodyPr/>
                    <a:lstStyle/>
                    <a:p>
                      <a:pPr>
                        <a:lnSpc>
                          <a:spcPct val="103000"/>
                        </a:lnSpc>
                        <a:spcBef>
                          <a:spcPts val="0"/>
                        </a:spcBef>
                        <a:spcAft>
                          <a:spcPts val="0"/>
                        </a:spcAft>
                      </a:pPr>
                      <a:r>
                        <a:rPr sz="1500" b="0">
                          <a:solidFill>
                            <a:srgbClr val="254B6B"/>
                          </a:solidFill>
                          <a:latin typeface="Aptos"/>
                        </a:rPr>
                        <a:t>Izinkan TCP 22/80 hanya dari .100 dan .1; hapus izin umum serta akses 9000. Bandingkan hasil scan.</a:t>
                      </a:r>
                    </a:p>
                  </a:txBody>
                  <a:tcPr marL="118872" marR="109728" marT="64008" marB="64008" anchor="ctr">
                    <a:solidFill>
                      <a:srgbClr val="F8FAFC"/>
                    </a:solidFill>
                  </a:tcPr>
                </a:tc>
                <a:extLst>
                  <a:ext uri="{0D108BD9-81ED-4DB2-BD59-A6C34878D82A}">
                    <a16:rowId xmlns:a16="http://schemas.microsoft.com/office/drawing/2014/main" val="10003"/>
                  </a:ext>
                </a:extLst>
              </a:tr>
              <a:tr h="569214">
                <a:tc>
                  <a:txBody>
                    <a:bodyPr/>
                    <a:lstStyle/>
                    <a:p>
                      <a:pPr>
                        <a:lnSpc>
                          <a:spcPct val="103000"/>
                        </a:lnSpc>
                        <a:spcBef>
                          <a:spcPts val="0"/>
                        </a:spcBef>
                        <a:spcAft>
                          <a:spcPts val="0"/>
                        </a:spcAft>
                      </a:pPr>
                      <a:r>
                        <a:rPr sz="1500" b="1">
                          <a:solidFill>
                            <a:srgbClr val="254B6B"/>
                          </a:solidFill>
                          <a:latin typeface="Aptos"/>
                        </a:rPr>
                        <a:t>B2</a:t>
                      </a:r>
                    </a:p>
                  </a:txBody>
                  <a:tcPr marL="118872" marR="109728" marT="64008" marB="64008" anchor="ctr">
                    <a:solidFill>
                      <a:srgbClr val="E7EEF4"/>
                    </a:solidFill>
                  </a:tcPr>
                </a:tc>
                <a:tc>
                  <a:txBody>
                    <a:bodyPr/>
                    <a:lstStyle/>
                    <a:p>
                      <a:pPr>
                        <a:lnSpc>
                          <a:spcPct val="103000"/>
                        </a:lnSpc>
                        <a:spcBef>
                          <a:spcPts val="0"/>
                        </a:spcBef>
                        <a:spcAft>
                          <a:spcPts val="0"/>
                        </a:spcAft>
                      </a:pPr>
                      <a:r>
                        <a:rPr sz="1500" b="0">
                          <a:solidFill>
                            <a:srgbClr val="254B6B"/>
                          </a:solidFill>
                          <a:latin typeface="Aptos"/>
                        </a:rPr>
                        <a:t>Database localhost</a:t>
                      </a:r>
                    </a:p>
                  </a:txBody>
                  <a:tcPr marL="118872" marR="109728" marT="64008" marB="64008" anchor="ctr">
                    <a:solidFill>
                      <a:srgbClr val="E7EEF4"/>
                    </a:solidFill>
                  </a:tcPr>
                </a:tc>
                <a:tc>
                  <a:txBody>
                    <a:bodyPr/>
                    <a:lstStyle/>
                    <a:p>
                      <a:pPr>
                        <a:lnSpc>
                          <a:spcPct val="103000"/>
                        </a:lnSpc>
                        <a:spcBef>
                          <a:spcPts val="0"/>
                        </a:spcBef>
                        <a:spcAft>
                          <a:spcPts val="0"/>
                        </a:spcAft>
                      </a:pPr>
                      <a:r>
                        <a:rPr sz="1500" b="0">
                          <a:solidFill>
                            <a:srgbClr val="254B6B"/>
                          </a:solidFill>
                          <a:latin typeface="Aptos"/>
                        </a:rPr>
                        <a:t>Atur host emulator ke 127.0.0.1 pada firebase.json; restart emulator dan cek listener port 9000.</a:t>
                      </a:r>
                    </a:p>
                  </a:txBody>
                  <a:tcPr marL="118872" marR="109728" marT="64008" marB="64008" anchor="ctr">
                    <a:solidFill>
                      <a:srgbClr val="E7EEF4"/>
                    </a:solidFill>
                  </a:tcPr>
                </a:tc>
                <a:extLst>
                  <a:ext uri="{0D108BD9-81ED-4DB2-BD59-A6C34878D82A}">
                    <a16:rowId xmlns:a16="http://schemas.microsoft.com/office/drawing/2014/main" val="10004"/>
                  </a:ext>
                </a:extLst>
              </a:tr>
              <a:tr h="569214">
                <a:tc>
                  <a:txBody>
                    <a:bodyPr/>
                    <a:lstStyle/>
                    <a:p>
                      <a:pPr>
                        <a:lnSpc>
                          <a:spcPct val="103000"/>
                        </a:lnSpc>
                        <a:spcBef>
                          <a:spcPts val="0"/>
                        </a:spcBef>
                        <a:spcAft>
                          <a:spcPts val="0"/>
                        </a:spcAft>
                      </a:pPr>
                      <a:r>
                        <a:rPr sz="1500" b="1">
                          <a:solidFill>
                            <a:srgbClr val="254B6B"/>
                          </a:solidFill>
                          <a:latin typeface="Aptos"/>
                        </a:rPr>
                        <a:t>B3</a:t>
                      </a:r>
                    </a:p>
                  </a:txBody>
                  <a:tcPr marL="118872" marR="109728" marT="64008" marB="64008" anchor="ctr">
                    <a:solidFill>
                      <a:srgbClr val="F8FAFC"/>
                    </a:solidFill>
                  </a:tcPr>
                </a:tc>
                <a:tc>
                  <a:txBody>
                    <a:bodyPr/>
                    <a:lstStyle/>
                    <a:p>
                      <a:pPr>
                        <a:lnSpc>
                          <a:spcPct val="103000"/>
                        </a:lnSpc>
                        <a:spcBef>
                          <a:spcPts val="0"/>
                        </a:spcBef>
                        <a:spcAft>
                          <a:spcPts val="0"/>
                        </a:spcAft>
                      </a:pPr>
                      <a:r>
                        <a:rPr sz="1500" b="0">
                          <a:solidFill>
                            <a:srgbClr val="254B6B"/>
                          </a:solidFill>
                          <a:latin typeface="Aptos"/>
                        </a:rPr>
                        <a:t>Sembunyikan versi Nginx</a:t>
                      </a:r>
                    </a:p>
                  </a:txBody>
                  <a:tcPr marL="118872" marR="109728" marT="64008" marB="64008" anchor="ctr">
                    <a:solidFill>
                      <a:srgbClr val="F8FAFC"/>
                    </a:solidFill>
                  </a:tcPr>
                </a:tc>
                <a:tc>
                  <a:txBody>
                    <a:bodyPr/>
                    <a:lstStyle/>
                    <a:p>
                      <a:pPr>
                        <a:lnSpc>
                          <a:spcPct val="103000"/>
                        </a:lnSpc>
                        <a:spcBef>
                          <a:spcPts val="0"/>
                        </a:spcBef>
                        <a:spcAft>
                          <a:spcPts val="0"/>
                        </a:spcAft>
                      </a:pPr>
                      <a:r>
                        <a:rPr sz="1500" b="0">
                          <a:solidFill>
                            <a:srgbClr val="254B6B"/>
                          </a:solidFill>
                          <a:latin typeface="Aptos"/>
                        </a:rPr>
                        <a:t>Aktifkan server_tokens off; uji nginx -t, reload, lalu cek header dengan curl -I.</a:t>
                      </a:r>
                    </a:p>
                  </a:txBody>
                  <a:tcPr marL="118872" marR="109728" marT="64008" marB="64008" anchor="ctr">
                    <a:solidFill>
                      <a:srgbClr val="F8FAFC"/>
                    </a:solidFill>
                  </a:tcPr>
                </a:tc>
                <a:extLst>
                  <a:ext uri="{0D108BD9-81ED-4DB2-BD59-A6C34878D82A}">
                    <a16:rowId xmlns:a16="http://schemas.microsoft.com/office/drawing/2014/main" val="10005"/>
                  </a:ext>
                </a:extLst>
              </a:tr>
              <a:tr h="569214">
                <a:tc>
                  <a:txBody>
                    <a:bodyPr/>
                    <a:lstStyle/>
                    <a:p>
                      <a:pPr>
                        <a:lnSpc>
                          <a:spcPct val="103000"/>
                        </a:lnSpc>
                        <a:spcBef>
                          <a:spcPts val="0"/>
                        </a:spcBef>
                        <a:spcAft>
                          <a:spcPts val="0"/>
                        </a:spcAft>
                      </a:pPr>
                      <a:r>
                        <a:rPr sz="1500" b="1">
                          <a:solidFill>
                            <a:srgbClr val="254B6B"/>
                          </a:solidFill>
                          <a:latin typeface="Aptos"/>
                        </a:rPr>
                        <a:t>C1</a:t>
                      </a:r>
                    </a:p>
                  </a:txBody>
                  <a:tcPr marL="118872" marR="109728" marT="64008" marB="64008" anchor="ctr">
                    <a:solidFill>
                      <a:srgbClr val="E7EEF4"/>
                    </a:solidFill>
                  </a:tcPr>
                </a:tc>
                <a:tc>
                  <a:txBody>
                    <a:bodyPr/>
                    <a:lstStyle/>
                    <a:p>
                      <a:pPr>
                        <a:lnSpc>
                          <a:spcPct val="103000"/>
                        </a:lnSpc>
                        <a:spcBef>
                          <a:spcPts val="0"/>
                        </a:spcBef>
                        <a:spcAft>
                          <a:spcPts val="0"/>
                        </a:spcAft>
                      </a:pPr>
                      <a:r>
                        <a:rPr sz="1500" b="0">
                          <a:solidFill>
                            <a:srgbClr val="254B6B"/>
                          </a:solidFill>
                          <a:latin typeface="Aptos"/>
                        </a:rPr>
                        <a:t>Rules dan validasi data</a:t>
                      </a:r>
                    </a:p>
                  </a:txBody>
                  <a:tcPr marL="118872" marR="109728" marT="64008" marB="64008" anchor="ctr">
                    <a:solidFill>
                      <a:srgbClr val="E7EEF4"/>
                    </a:solidFill>
                  </a:tcPr>
                </a:tc>
                <a:tc>
                  <a:txBody>
                    <a:bodyPr/>
                    <a:lstStyle/>
                    <a:p>
                      <a:pPr>
                        <a:lnSpc>
                          <a:spcPct val="103000"/>
                        </a:lnSpc>
                        <a:spcBef>
                          <a:spcPts val="0"/>
                        </a:spcBef>
                        <a:spcAft>
                          <a:spcPts val="0"/>
                        </a:spcAft>
                      </a:pPr>
                      <a:r>
                        <a:rPr sz="1500" b="0">
                          <a:solidFill>
                            <a:srgbClr val="254B6B"/>
                          </a:solidFill>
                          <a:latin typeface="Aptos"/>
                        </a:rPr>
                        <a:t>Terapkan rules pada instance demo-melon-lab. Uji data valid diterima dan humidity 150 ditolak.</a:t>
                      </a:r>
                    </a:p>
                  </a:txBody>
                  <a:tcPr marL="118872" marR="109728" marT="64008" marB="64008" anchor="ctr">
                    <a:solidFill>
                      <a:srgbClr val="E7EEF4"/>
                    </a:solidFill>
                  </a:tcPr>
                </a:tc>
                <a:extLst>
                  <a:ext uri="{0D108BD9-81ED-4DB2-BD59-A6C34878D82A}">
                    <a16:rowId xmlns:a16="http://schemas.microsoft.com/office/drawing/2014/main" val="10006"/>
                  </a:ext>
                </a:extLst>
              </a:tr>
              <a:tr h="569214">
                <a:tc>
                  <a:txBody>
                    <a:bodyPr/>
                    <a:lstStyle/>
                    <a:p>
                      <a:pPr>
                        <a:lnSpc>
                          <a:spcPct val="103000"/>
                        </a:lnSpc>
                        <a:spcBef>
                          <a:spcPts val="0"/>
                        </a:spcBef>
                        <a:spcAft>
                          <a:spcPts val="0"/>
                        </a:spcAft>
                      </a:pPr>
                      <a:r>
                        <a:rPr sz="1500" b="1">
                          <a:solidFill>
                            <a:srgbClr val="254B6B"/>
                          </a:solidFill>
                          <a:latin typeface="Aptos"/>
                        </a:rPr>
                        <a:t>C2</a:t>
                      </a:r>
                    </a:p>
                  </a:txBody>
                  <a:tcPr marL="118872" marR="109728" marT="64008" marB="64008" anchor="ctr">
                    <a:solidFill>
                      <a:srgbClr val="F8FAFC"/>
                    </a:solidFill>
                  </a:tcPr>
                </a:tc>
                <a:tc>
                  <a:txBody>
                    <a:bodyPr/>
                    <a:lstStyle/>
                    <a:p>
                      <a:pPr>
                        <a:lnSpc>
                          <a:spcPct val="103000"/>
                        </a:lnSpc>
                        <a:spcBef>
                          <a:spcPts val="0"/>
                        </a:spcBef>
                        <a:spcAft>
                          <a:spcPts val="0"/>
                        </a:spcAft>
                      </a:pPr>
                      <a:r>
                        <a:rPr sz="1500" b="0">
                          <a:solidFill>
                            <a:srgbClr val="254B6B"/>
                          </a:solidFill>
                          <a:latin typeface="Aptos"/>
                        </a:rPr>
                        <a:t>Backup dan uji restore</a:t>
                      </a:r>
                    </a:p>
                  </a:txBody>
                  <a:tcPr marL="118872" marR="109728" marT="64008" marB="64008" anchor="ctr">
                    <a:solidFill>
                      <a:srgbClr val="F8FAFC"/>
                    </a:solidFill>
                  </a:tcPr>
                </a:tc>
                <a:tc>
                  <a:txBody>
                    <a:bodyPr/>
                    <a:lstStyle/>
                    <a:p>
                      <a:pPr>
                        <a:lnSpc>
                          <a:spcPct val="103000"/>
                        </a:lnSpc>
                        <a:spcBef>
                          <a:spcPts val="0"/>
                        </a:spcBef>
                        <a:spcAft>
                          <a:spcPts val="0"/>
                        </a:spcAft>
                      </a:pPr>
                      <a:r>
                        <a:rPr sz="1500" b="0">
                          <a:solidFill>
                            <a:srgbClr val="254B6B"/>
                          </a:solidFill>
                          <a:latin typeface="Aptos"/>
                        </a:rPr>
                        <a:t>Ekspor data saat humidity 72; ubah ke 80, lalu pulihkan dengan impor. Pembacaan akhir kembali 72.</a:t>
                      </a:r>
                    </a:p>
                  </a:txBody>
                  <a:tcPr marL="118872" marR="109728" marT="64008" marB="64008" anchor="ctr">
                    <a:solidFill>
                      <a:srgbClr val="F8FAFC"/>
                    </a:solidFill>
                  </a:tcPr>
                </a:tc>
                <a:extLst>
                  <a:ext uri="{0D108BD9-81ED-4DB2-BD59-A6C34878D82A}">
                    <a16:rowId xmlns:a16="http://schemas.microsoft.com/office/drawing/2014/main" val="10007"/>
                  </a:ext>
                </a:extLst>
              </a:tr>
              <a:tr h="569214">
                <a:tc>
                  <a:txBody>
                    <a:bodyPr/>
                    <a:lstStyle/>
                    <a:p>
                      <a:pPr>
                        <a:lnSpc>
                          <a:spcPct val="103000"/>
                        </a:lnSpc>
                        <a:spcBef>
                          <a:spcPts val="0"/>
                        </a:spcBef>
                        <a:spcAft>
                          <a:spcPts val="0"/>
                        </a:spcAft>
                      </a:pPr>
                      <a:r>
                        <a:rPr sz="1500" b="1">
                          <a:solidFill>
                            <a:srgbClr val="254B6B"/>
                          </a:solidFill>
                          <a:latin typeface="Aptos"/>
                        </a:rPr>
                        <a:t>C3</a:t>
                      </a:r>
                    </a:p>
                  </a:txBody>
                  <a:tcPr marL="118872" marR="109728" marT="64008" marB="64008" anchor="ctr">
                    <a:solidFill>
                      <a:srgbClr val="E7EEF4"/>
                    </a:solidFill>
                  </a:tcPr>
                </a:tc>
                <a:tc>
                  <a:txBody>
                    <a:bodyPr/>
                    <a:lstStyle/>
                    <a:p>
                      <a:pPr>
                        <a:lnSpc>
                          <a:spcPct val="103000"/>
                        </a:lnSpc>
                        <a:spcBef>
                          <a:spcPts val="0"/>
                        </a:spcBef>
                        <a:spcAft>
                          <a:spcPts val="0"/>
                        </a:spcAft>
                      </a:pPr>
                      <a:r>
                        <a:rPr sz="1500" b="0">
                          <a:solidFill>
                            <a:srgbClr val="254B6B"/>
                          </a:solidFill>
                          <a:latin typeface="Aptos"/>
                        </a:rPr>
                        <a:t>Permission aplikasi</a:t>
                      </a:r>
                    </a:p>
                  </a:txBody>
                  <a:tcPr marL="118872" marR="109728" marT="64008" marB="64008" anchor="ctr">
                    <a:solidFill>
                      <a:srgbClr val="E7EEF4"/>
                    </a:solidFill>
                  </a:tcPr>
                </a:tc>
                <a:tc>
                  <a:txBody>
                    <a:bodyPr/>
                    <a:lstStyle/>
                    <a:p>
                      <a:pPr>
                        <a:lnSpc>
                          <a:spcPct val="103000"/>
                        </a:lnSpc>
                        <a:spcBef>
                          <a:spcPts val="0"/>
                        </a:spcBef>
                        <a:spcAft>
                          <a:spcPts val="0"/>
                        </a:spcAft>
                      </a:pPr>
                      <a:r>
                        <a:rPr sz="1500" b="0">
                          <a:solidFill>
                            <a:srgbClr val="254B6B"/>
                          </a:solidFill>
                          <a:latin typeface="Aptos"/>
                        </a:rPr>
                        <a:t>Gunakan chmod: direktori aplikasi 700, tiga file utama 600. Uji pemilik dapat membaca; nobody ditolak.</a:t>
                      </a:r>
                    </a:p>
                  </a:txBody>
                  <a:tcPr marL="118872" marR="109728" marT="64008" marB="64008" anchor="ctr">
                    <a:solidFill>
                      <a:srgbClr val="E7EEF4"/>
                    </a:solidFill>
                  </a:tcPr>
                </a:tc>
                <a:extLst>
                  <a:ext uri="{0D108BD9-81ED-4DB2-BD59-A6C34878D82A}">
                    <a16:rowId xmlns:a16="http://schemas.microsoft.com/office/drawing/2014/main" val="10008"/>
                  </a:ext>
                </a:extLst>
              </a:tr>
            </a:tbl>
          </a:graphicData>
        </a:graphic>
      </p:graphicFrame>
      <p:graphicFrame>
        <p:nvGraphicFramePr>
          <p:cNvPr id="12" name="Table 11"/>
          <p:cNvGraphicFramePr>
            <a:graphicFrameLocks noGrp="1"/>
          </p:cNvGraphicFramePr>
          <p:nvPr/>
        </p:nvGraphicFramePr>
        <p:xfrm>
          <a:off x="11887200" y="4050791"/>
          <a:ext cx="5376672" cy="4526280"/>
        </p:xfrm>
        <a:graphic>
          <a:graphicData uri="http://schemas.openxmlformats.org/drawingml/2006/table">
            <a:tbl>
              <a:tblPr firstRow="1" bandRow="1">
                <a:tableStyleId>{5C22544A-7EE6-4342-B048-85BDC9FD1C3A}</a:tableStyleId>
              </a:tblPr>
              <a:tblGrid>
                <a:gridCol w="530352">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457200">
                <a:tc>
                  <a:txBody>
                    <a:bodyPr/>
                    <a:lstStyle/>
                    <a:p>
                      <a:pPr>
                        <a:lnSpc>
                          <a:spcPct val="103000"/>
                        </a:lnSpc>
                        <a:spcBef>
                          <a:spcPts val="0"/>
                        </a:spcBef>
                        <a:spcAft>
                          <a:spcPts val="0"/>
                        </a:spcAft>
                      </a:pPr>
                      <a:r>
                        <a:rPr sz="1500" b="1">
                          <a:solidFill>
                            <a:srgbClr val="FFFFFF"/>
                          </a:solidFill>
                          <a:latin typeface="Aptos"/>
                        </a:rPr>
                        <a:t>ID</a:t>
                      </a:r>
                    </a:p>
                  </a:txBody>
                  <a:tcPr marL="118872" marR="109728" marT="64008" marB="64008" anchor="ctr">
                    <a:solidFill>
                      <a:srgbClr val="95621D"/>
                    </a:solidFill>
                  </a:tcPr>
                </a:tc>
                <a:tc>
                  <a:txBody>
                    <a:bodyPr/>
                    <a:lstStyle/>
                    <a:p>
                      <a:pPr>
                        <a:lnSpc>
                          <a:spcPct val="103000"/>
                        </a:lnSpc>
                        <a:spcBef>
                          <a:spcPts val="0"/>
                        </a:spcBef>
                        <a:spcAft>
                          <a:spcPts val="0"/>
                        </a:spcAft>
                      </a:pPr>
                      <a:r>
                        <a:rPr sz="1500" b="1">
                          <a:solidFill>
                            <a:srgbClr val="FFFFFF"/>
                          </a:solidFill>
                          <a:latin typeface="Aptos"/>
                        </a:rPr>
                        <a:t>Rencana — belum terverifikasi</a:t>
                      </a:r>
                    </a:p>
                  </a:txBody>
                  <a:tcPr marL="118872" marR="109728" marT="64008" marB="64008" anchor="ctr">
                    <a:solidFill>
                      <a:srgbClr val="95621D"/>
                    </a:solidFill>
                  </a:tcPr>
                </a:tc>
                <a:extLst>
                  <a:ext uri="{0D108BD9-81ED-4DB2-BD59-A6C34878D82A}">
                    <a16:rowId xmlns:a16="http://schemas.microsoft.com/office/drawing/2014/main" val="10000"/>
                  </a:ext>
                </a:extLst>
              </a:tr>
              <a:tr h="1017270">
                <a:tc>
                  <a:txBody>
                    <a:bodyPr/>
                    <a:lstStyle/>
                    <a:p>
                      <a:pPr>
                        <a:lnSpc>
                          <a:spcPct val="103000"/>
                        </a:lnSpc>
                        <a:spcBef>
                          <a:spcPts val="0"/>
                        </a:spcBef>
                        <a:spcAft>
                          <a:spcPts val="0"/>
                        </a:spcAft>
                      </a:pPr>
                      <a:r>
                        <a:rPr sz="1600" b="1">
                          <a:solidFill>
                            <a:srgbClr val="254B6B"/>
                          </a:solidFill>
                          <a:latin typeface="Aptos"/>
                        </a:rPr>
                        <a:t>B4</a:t>
                      </a:r>
                    </a:p>
                  </a:txBody>
                  <a:tcPr marL="118872" marR="109728" marT="64008" marB="64008" anchor="ctr">
                    <a:solidFill>
                      <a:srgbClr val="F8FAFC"/>
                    </a:solidFill>
                  </a:tcPr>
                </a:tc>
                <a:tc>
                  <a:txBody>
                    <a:bodyPr/>
                    <a:lstStyle/>
                    <a:p>
                      <a:pPr>
                        <a:lnSpc>
                          <a:spcPct val="103000"/>
                        </a:lnSpc>
                        <a:spcBef>
                          <a:spcPts val="0"/>
                        </a:spcBef>
                        <a:spcAft>
                          <a:spcPts val="0"/>
                        </a:spcAft>
                      </a:pPr>
                      <a:r>
                        <a:rPr sz="1600" b="0">
                          <a:solidFill>
                            <a:srgbClr val="254B6B"/>
                          </a:solidFill>
                          <a:latin typeface="Aptos"/>
                        </a:rPr>
                        <a:t>Nonaktifkan daftar direktori web:</a:t>
                      </a:r>
                    </a:p>
                    <a:p>
                      <a:pPr>
                        <a:lnSpc>
                          <a:spcPct val="103000"/>
                        </a:lnSpc>
                        <a:spcBef>
                          <a:spcPts val="0"/>
                        </a:spcBef>
                        <a:spcAft>
                          <a:spcPts val="0"/>
                        </a:spcAft>
                      </a:pPr>
                      <a:r>
                        <a:rPr sz="1600" b="0">
                          <a:solidFill>
                            <a:srgbClr val="254B6B"/>
                          </a:solidFill>
                          <a:latin typeface="Aptos"/>
                        </a:rPr>
                        <a:t>autoindex off</a:t>
                      </a:r>
                    </a:p>
                  </a:txBody>
                  <a:tcPr marL="118872" marR="109728" marT="64008" marB="64008" anchor="ctr">
                    <a:solidFill>
                      <a:srgbClr val="F8FAFC"/>
                    </a:solidFill>
                  </a:tcPr>
                </a:tc>
                <a:extLst>
                  <a:ext uri="{0D108BD9-81ED-4DB2-BD59-A6C34878D82A}">
                    <a16:rowId xmlns:a16="http://schemas.microsoft.com/office/drawing/2014/main" val="10001"/>
                  </a:ext>
                </a:extLst>
              </a:tr>
              <a:tr h="1017270">
                <a:tc>
                  <a:txBody>
                    <a:bodyPr/>
                    <a:lstStyle/>
                    <a:p>
                      <a:pPr>
                        <a:lnSpc>
                          <a:spcPct val="103000"/>
                        </a:lnSpc>
                        <a:spcBef>
                          <a:spcPts val="0"/>
                        </a:spcBef>
                        <a:spcAft>
                          <a:spcPts val="0"/>
                        </a:spcAft>
                      </a:pPr>
                      <a:r>
                        <a:rPr sz="1600" b="1">
                          <a:solidFill>
                            <a:srgbClr val="254B6B"/>
                          </a:solidFill>
                          <a:latin typeface="Aptos"/>
                        </a:rPr>
                        <a:t>A3</a:t>
                      </a:r>
                    </a:p>
                  </a:txBody>
                  <a:tcPr marL="118872" marR="109728" marT="64008" marB="64008" anchor="ctr">
                    <a:solidFill>
                      <a:srgbClr val="E7EEF4"/>
                    </a:solidFill>
                  </a:tcPr>
                </a:tc>
                <a:tc>
                  <a:txBody>
                    <a:bodyPr/>
                    <a:lstStyle/>
                    <a:p>
                      <a:pPr>
                        <a:lnSpc>
                          <a:spcPct val="103000"/>
                        </a:lnSpc>
                        <a:spcBef>
                          <a:spcPts val="0"/>
                        </a:spcBef>
                        <a:spcAft>
                          <a:spcPts val="0"/>
                        </a:spcAft>
                      </a:pPr>
                      <a:r>
                        <a:rPr sz="1600" b="0">
                          <a:solidFill>
                            <a:srgbClr val="254B6B"/>
                          </a:solidFill>
                          <a:latin typeface="Aptos"/>
                        </a:rPr>
                        <a:t>Batasi waktu autentikasi SSH:</a:t>
                      </a:r>
                    </a:p>
                    <a:p>
                      <a:pPr>
                        <a:lnSpc>
                          <a:spcPct val="103000"/>
                        </a:lnSpc>
                        <a:spcBef>
                          <a:spcPts val="0"/>
                        </a:spcBef>
                        <a:spcAft>
                          <a:spcPts val="0"/>
                        </a:spcAft>
                      </a:pPr>
                      <a:r>
                        <a:rPr sz="1600" b="0">
                          <a:solidFill>
                            <a:srgbClr val="254B6B"/>
                          </a:solidFill>
                          <a:latin typeface="Aptos"/>
                        </a:rPr>
                        <a:t>LoginGraceTime 30</a:t>
                      </a:r>
                    </a:p>
                  </a:txBody>
                  <a:tcPr marL="118872" marR="109728" marT="64008" marB="64008" anchor="ctr">
                    <a:solidFill>
                      <a:srgbClr val="E7EEF4"/>
                    </a:solidFill>
                  </a:tcPr>
                </a:tc>
                <a:extLst>
                  <a:ext uri="{0D108BD9-81ED-4DB2-BD59-A6C34878D82A}">
                    <a16:rowId xmlns:a16="http://schemas.microsoft.com/office/drawing/2014/main" val="10002"/>
                  </a:ext>
                </a:extLst>
              </a:tr>
              <a:tr h="1017270">
                <a:tc>
                  <a:txBody>
                    <a:bodyPr/>
                    <a:lstStyle/>
                    <a:p>
                      <a:pPr>
                        <a:lnSpc>
                          <a:spcPct val="103000"/>
                        </a:lnSpc>
                        <a:spcBef>
                          <a:spcPts val="0"/>
                        </a:spcBef>
                        <a:spcAft>
                          <a:spcPts val="0"/>
                        </a:spcAft>
                      </a:pPr>
                      <a:r>
                        <a:rPr sz="1600" b="1">
                          <a:solidFill>
                            <a:srgbClr val="254B6B"/>
                          </a:solidFill>
                          <a:latin typeface="Aptos"/>
                        </a:rPr>
                        <a:t>B5</a:t>
                      </a:r>
                    </a:p>
                  </a:txBody>
                  <a:tcPr marL="118872" marR="109728" marT="64008" marB="64008" anchor="ctr">
                    <a:solidFill>
                      <a:srgbClr val="F8FAFC"/>
                    </a:solidFill>
                  </a:tcPr>
                </a:tc>
                <a:tc>
                  <a:txBody>
                    <a:bodyPr/>
                    <a:lstStyle/>
                    <a:p>
                      <a:pPr>
                        <a:lnSpc>
                          <a:spcPct val="103000"/>
                        </a:lnSpc>
                        <a:spcBef>
                          <a:spcPts val="0"/>
                        </a:spcBef>
                        <a:spcAft>
                          <a:spcPts val="0"/>
                        </a:spcAft>
                      </a:pPr>
                      <a:r>
                        <a:rPr sz="1600" b="0">
                          <a:solidFill>
                            <a:srgbClr val="254B6B"/>
                          </a:solidFill>
                          <a:latin typeface="Aptos"/>
                        </a:rPr>
                        <a:t>Cegah dashboard dalam iframe:</a:t>
                      </a:r>
                    </a:p>
                    <a:p>
                      <a:pPr>
                        <a:lnSpc>
                          <a:spcPct val="103000"/>
                        </a:lnSpc>
                        <a:spcBef>
                          <a:spcPts val="0"/>
                        </a:spcBef>
                        <a:spcAft>
                          <a:spcPts val="0"/>
                        </a:spcAft>
                      </a:pPr>
                      <a:r>
                        <a:rPr sz="1600" b="0">
                          <a:solidFill>
                            <a:srgbClr val="254B6B"/>
                          </a:solidFill>
                          <a:latin typeface="Aptos"/>
                        </a:rPr>
                        <a:t>X-Frame-Options: DENY</a:t>
                      </a:r>
                    </a:p>
                  </a:txBody>
                  <a:tcPr marL="118872" marR="109728" marT="64008" marB="64008" anchor="ctr">
                    <a:solidFill>
                      <a:srgbClr val="F8FAFC"/>
                    </a:solidFill>
                  </a:tcPr>
                </a:tc>
                <a:extLst>
                  <a:ext uri="{0D108BD9-81ED-4DB2-BD59-A6C34878D82A}">
                    <a16:rowId xmlns:a16="http://schemas.microsoft.com/office/drawing/2014/main" val="10003"/>
                  </a:ext>
                </a:extLst>
              </a:tr>
              <a:tr h="1017270">
                <a:tc>
                  <a:txBody>
                    <a:bodyPr/>
                    <a:lstStyle/>
                    <a:p>
                      <a:pPr>
                        <a:lnSpc>
                          <a:spcPct val="103000"/>
                        </a:lnSpc>
                        <a:spcBef>
                          <a:spcPts val="0"/>
                        </a:spcBef>
                        <a:spcAft>
                          <a:spcPts val="0"/>
                        </a:spcAft>
                      </a:pPr>
                      <a:r>
                        <a:rPr sz="1600" b="1">
                          <a:solidFill>
                            <a:srgbClr val="254B6B"/>
                          </a:solidFill>
                          <a:latin typeface="Aptos"/>
                        </a:rPr>
                        <a:t>C5</a:t>
                      </a:r>
                    </a:p>
                  </a:txBody>
                  <a:tcPr marL="118872" marR="109728" marT="64008" marB="64008" anchor="ctr">
                    <a:solidFill>
                      <a:srgbClr val="E7EEF4"/>
                    </a:solidFill>
                  </a:tcPr>
                </a:tc>
                <a:tc>
                  <a:txBody>
                    <a:bodyPr/>
                    <a:lstStyle/>
                    <a:p>
                      <a:pPr>
                        <a:lnSpc>
                          <a:spcPct val="103000"/>
                        </a:lnSpc>
                        <a:spcBef>
                          <a:spcPts val="0"/>
                        </a:spcBef>
                        <a:spcAft>
                          <a:spcPts val="0"/>
                        </a:spcAft>
                      </a:pPr>
                      <a:r>
                        <a:rPr sz="1600" b="0">
                          <a:solidFill>
                            <a:srgbClr val="254B6B"/>
                          </a:solidFill>
                          <a:latin typeface="Aptos"/>
                        </a:rPr>
                        <a:t>Blokir akses HTTP ke file tersembunyi:</a:t>
                      </a:r>
                    </a:p>
                    <a:p>
                      <a:pPr>
                        <a:lnSpc>
                          <a:spcPct val="103000"/>
                        </a:lnSpc>
                        <a:spcBef>
                          <a:spcPts val="0"/>
                        </a:spcBef>
                        <a:spcAft>
                          <a:spcPts val="0"/>
                        </a:spcAft>
                      </a:pPr>
                      <a:r>
                        <a:rPr sz="1600" b="0">
                          <a:solidFill>
                            <a:srgbClr val="254B6B"/>
                          </a:solidFill>
                          <a:latin typeface="Aptos"/>
                        </a:rPr>
                        <a:t>.env dan .git</a:t>
                      </a:r>
                    </a:p>
                  </a:txBody>
                  <a:tcPr marL="118872" marR="109728" marT="64008" marB="64008" anchor="ctr">
                    <a:solidFill>
                      <a:srgbClr val="E7EEF4"/>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50">
        <p:fade thruBlk="1"/>
      </p:transition>
    </mc:Choice>
    <mc:Fallback>
      <p:transition spd="med">
        <p:fade thruBlk="1"/>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593500" cy="593500"/>
          </a:xfrm>
          <a:custGeom>
            <a:avLst/>
            <a:gdLst/>
            <a:ahLst/>
            <a:cxnLst/>
            <a:rect l="l" t="t" r="r" b="b"/>
            <a:pathLst>
              <a:path w="593500" h="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685884" y="8334076"/>
            <a:ext cx="4407982" cy="1407455"/>
          </a:xfrm>
          <a:custGeom>
            <a:avLst/>
            <a:gdLst/>
            <a:ahLst/>
            <a:cxnLst/>
            <a:rect l="l" t="t" r="r" b="b"/>
            <a:pathLst>
              <a:path w="4407982" h="1407455">
                <a:moveTo>
                  <a:pt x="0" y="0"/>
                </a:moveTo>
                <a:lnTo>
                  <a:pt x="4407981" y="0"/>
                </a:lnTo>
                <a:lnTo>
                  <a:pt x="4407981" y="1407455"/>
                </a:lnTo>
                <a:lnTo>
                  <a:pt x="0" y="14074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11713" y="4028284"/>
            <a:ext cx="6461652" cy="2194159"/>
          </a:xfrm>
          <a:custGeom>
            <a:avLst/>
            <a:gdLst/>
            <a:ahLst/>
            <a:cxnLst/>
            <a:rect l="l" t="t" r="r" b="b"/>
            <a:pathLst>
              <a:path w="6461652" h="2194159">
                <a:moveTo>
                  <a:pt x="0" y="0"/>
                </a:moveTo>
                <a:lnTo>
                  <a:pt x="6461652" y="0"/>
                </a:lnTo>
                <a:lnTo>
                  <a:pt x="6461652" y="2194159"/>
                </a:lnTo>
                <a:lnTo>
                  <a:pt x="0" y="2194159"/>
                </a:lnTo>
                <a:lnTo>
                  <a:pt x="0" y="0"/>
                </a:lnTo>
                <a:close/>
              </a:path>
            </a:pathLst>
          </a:custGeom>
          <a:blipFill>
            <a:blip r:embed="rId6"/>
            <a:stretch>
              <a:fillRect r="-40539"/>
            </a:stretch>
          </a:blipFill>
          <a:ln w="28575" cap="sq">
            <a:solidFill>
              <a:srgbClr val="000000"/>
            </a:solidFill>
            <a:prstDash val="solid"/>
            <a:miter/>
          </a:ln>
        </p:spPr>
      </p:sp>
      <p:sp>
        <p:nvSpPr>
          <p:cNvPr id="5" name="Freeform 5"/>
          <p:cNvSpPr/>
          <p:nvPr/>
        </p:nvSpPr>
        <p:spPr>
          <a:xfrm>
            <a:off x="9854420" y="4046421"/>
            <a:ext cx="6461652" cy="2194159"/>
          </a:xfrm>
          <a:custGeom>
            <a:avLst/>
            <a:gdLst/>
            <a:ahLst/>
            <a:cxnLst/>
            <a:rect l="l" t="t" r="r" b="b"/>
            <a:pathLst>
              <a:path w="6461652" h="2194159">
                <a:moveTo>
                  <a:pt x="0" y="0"/>
                </a:moveTo>
                <a:lnTo>
                  <a:pt x="6461651" y="0"/>
                </a:lnTo>
                <a:lnTo>
                  <a:pt x="6461651" y="2194158"/>
                </a:lnTo>
                <a:lnTo>
                  <a:pt x="0" y="2194158"/>
                </a:lnTo>
                <a:lnTo>
                  <a:pt x="0" y="0"/>
                </a:lnTo>
                <a:close/>
              </a:path>
            </a:pathLst>
          </a:custGeom>
          <a:blipFill>
            <a:blip r:embed="rId6"/>
            <a:stretch>
              <a:fillRect r="-40539"/>
            </a:stretch>
          </a:blipFill>
          <a:ln w="28575" cap="sq">
            <a:solidFill>
              <a:srgbClr val="000000"/>
            </a:solidFill>
            <a:prstDash val="solid"/>
            <a:miter/>
          </a:ln>
        </p:spPr>
      </p:sp>
      <p:sp>
        <p:nvSpPr>
          <p:cNvPr id="6" name="Freeform 6"/>
          <p:cNvSpPr/>
          <p:nvPr/>
        </p:nvSpPr>
        <p:spPr>
          <a:xfrm>
            <a:off x="411604" y="6660593"/>
            <a:ext cx="8612888" cy="1539438"/>
          </a:xfrm>
          <a:custGeom>
            <a:avLst/>
            <a:gdLst/>
            <a:ahLst/>
            <a:cxnLst/>
            <a:rect l="l" t="t" r="r" b="b"/>
            <a:pathLst>
              <a:path w="8612888" h="1539438">
                <a:moveTo>
                  <a:pt x="0" y="0"/>
                </a:moveTo>
                <a:lnTo>
                  <a:pt x="8612888" y="0"/>
                </a:lnTo>
                <a:lnTo>
                  <a:pt x="8612888" y="1539438"/>
                </a:lnTo>
                <a:lnTo>
                  <a:pt x="0" y="1539438"/>
                </a:lnTo>
                <a:lnTo>
                  <a:pt x="0" y="0"/>
                </a:lnTo>
                <a:close/>
              </a:path>
            </a:pathLst>
          </a:custGeom>
          <a:blipFill>
            <a:blip r:embed="rId7"/>
            <a:stretch>
              <a:fillRect/>
            </a:stretch>
          </a:blipFill>
        </p:spPr>
      </p:sp>
      <p:sp>
        <p:nvSpPr>
          <p:cNvPr id="7" name="Freeform 7"/>
          <p:cNvSpPr/>
          <p:nvPr/>
        </p:nvSpPr>
        <p:spPr>
          <a:xfrm>
            <a:off x="9738774" y="6660593"/>
            <a:ext cx="6931958" cy="1908554"/>
          </a:xfrm>
          <a:custGeom>
            <a:avLst/>
            <a:gdLst/>
            <a:ahLst/>
            <a:cxnLst/>
            <a:rect l="l" t="t" r="r" b="b"/>
            <a:pathLst>
              <a:path w="6931958" h="1908554">
                <a:moveTo>
                  <a:pt x="0" y="0"/>
                </a:moveTo>
                <a:lnTo>
                  <a:pt x="6931959" y="0"/>
                </a:lnTo>
                <a:lnTo>
                  <a:pt x="6931959" y="1908554"/>
                </a:lnTo>
                <a:lnTo>
                  <a:pt x="0" y="1908554"/>
                </a:lnTo>
                <a:lnTo>
                  <a:pt x="0" y="0"/>
                </a:lnTo>
                <a:close/>
              </a:path>
            </a:pathLst>
          </a:custGeom>
          <a:blipFill>
            <a:blip r:embed="rId8"/>
            <a:stretch>
              <a:fillRect/>
            </a:stretch>
          </a:blipFill>
        </p:spPr>
      </p:sp>
      <p:sp>
        <p:nvSpPr>
          <p:cNvPr id="8" name="TextBox 8"/>
          <p:cNvSpPr txBox="1"/>
          <p:nvPr/>
        </p:nvSpPr>
        <p:spPr>
          <a:xfrm>
            <a:off x="1028700" y="1867571"/>
            <a:ext cx="12862141" cy="1111523"/>
          </a:xfrm>
          <a:prstGeom prst="rect">
            <a:avLst/>
          </a:prstGeom>
        </p:spPr>
        <p:txBody>
          <a:bodyPr lIns="0" tIns="0" rIns="0" bIns="0" rtlCol="0" anchor="t">
            <a:spAutoFit/>
          </a:bodyPr>
          <a:lstStyle/>
          <a:p>
            <a:pPr algn="l">
              <a:lnSpc>
                <a:spcPts val="7637"/>
              </a:lnSpc>
              <a:spcBef>
                <a:spcPct val="0"/>
              </a:spcBef>
            </a:pPr>
            <a:r>
              <a:rPr lang="en-US" sz="5455">
                <a:solidFill>
                  <a:srgbClr val="2D5986"/>
                </a:solidFill>
                <a:latin typeface="Anton"/>
                <a:ea typeface="Anton"/>
                <a:cs typeface="Anton"/>
                <a:sym typeface="Anton"/>
              </a:rPr>
              <a:t>Baseline Trafik Normal &amp; Bukti Monitoring</a:t>
            </a:r>
          </a:p>
          <a:p>
            <a:pPr algn="l">
              <a:lnSpc>
                <a:spcPts val="954"/>
              </a:lnSpc>
              <a:spcBef>
                <a:spcPct val="0"/>
              </a:spcBef>
            </a:pPr>
            <a:endParaRPr lang="en-US" sz="5455">
              <a:solidFill>
                <a:srgbClr val="2D5986"/>
              </a:solidFill>
              <a:latin typeface="Anton"/>
              <a:ea typeface="Anton"/>
              <a:cs typeface="Anton"/>
              <a:sym typeface="Anton"/>
            </a:endParaRPr>
          </a:p>
        </p:txBody>
      </p:sp>
      <p:sp>
        <p:nvSpPr>
          <p:cNvPr id="9" name="TextBox 9"/>
          <p:cNvSpPr txBox="1"/>
          <p:nvPr/>
        </p:nvSpPr>
        <p:spPr>
          <a:xfrm>
            <a:off x="1131221" y="2865791"/>
            <a:ext cx="12073533" cy="398780"/>
          </a:xfrm>
          <a:prstGeom prst="rect">
            <a:avLst/>
          </a:prstGeom>
        </p:spPr>
        <p:txBody>
          <a:bodyPr lIns="0" tIns="0" rIns="0" bIns="0" rtlCol="0" anchor="t">
            <a:spAutoFit/>
          </a:bodyPr>
          <a:lstStyle/>
          <a:p>
            <a:pPr algn="l">
              <a:lnSpc>
                <a:spcPts val="3219"/>
              </a:lnSpc>
              <a:spcBef>
                <a:spcPct val="0"/>
              </a:spcBef>
            </a:pPr>
            <a:r>
              <a:rPr lang="en-US" sz="2299">
                <a:solidFill>
                  <a:srgbClr val="2D5986"/>
                </a:solidFill>
                <a:latin typeface="Glacial Indifference"/>
                <a:ea typeface="Glacial Indifference"/>
                <a:cs typeface="Glacial Indifference"/>
                <a:sym typeface="Glacial Indifference"/>
              </a:rPr>
              <a:t>CyberOps 192.168.10.100 → Ubuntu 192.168.10.5 · data dummy · pengamatan Sguil dan tcpdump.</a:t>
            </a:r>
          </a:p>
        </p:txBody>
      </p:sp>
      <p:sp>
        <p:nvSpPr>
          <p:cNvPr id="10" name="TextBox 10"/>
          <p:cNvSpPr txBox="1"/>
          <p:nvPr/>
        </p:nvSpPr>
        <p:spPr>
          <a:xfrm>
            <a:off x="2249738" y="4314998"/>
            <a:ext cx="3794522" cy="490855"/>
          </a:xfrm>
          <a:prstGeom prst="rect">
            <a:avLst/>
          </a:prstGeom>
        </p:spPr>
        <p:txBody>
          <a:bodyPr lIns="0" tIns="0" rIns="0" bIns="0" rtlCol="0" anchor="t">
            <a:spAutoFit/>
          </a:bodyPr>
          <a:lstStyle/>
          <a:p>
            <a:pPr algn="ctr">
              <a:lnSpc>
                <a:spcPts val="3919"/>
              </a:lnSpc>
              <a:spcBef>
                <a:spcPct val="0"/>
              </a:spcBef>
            </a:pPr>
            <a:r>
              <a:rPr lang="en-US" sz="2799">
                <a:solidFill>
                  <a:srgbClr val="2D5986"/>
                </a:solidFill>
                <a:latin typeface="Glacial Indifference"/>
                <a:ea typeface="Glacial Indifference"/>
                <a:cs typeface="Glacial Indifference"/>
                <a:sym typeface="Glacial Indifference"/>
              </a:rPr>
              <a:t>ICMP / UJI KONEKTIVITAS</a:t>
            </a:r>
          </a:p>
        </p:txBody>
      </p:sp>
      <p:sp>
        <p:nvSpPr>
          <p:cNvPr id="11" name="TextBox 11"/>
          <p:cNvSpPr txBox="1"/>
          <p:nvPr/>
        </p:nvSpPr>
        <p:spPr>
          <a:xfrm>
            <a:off x="1619290" y="5068214"/>
            <a:ext cx="5256531" cy="809094"/>
          </a:xfrm>
          <a:prstGeom prst="rect">
            <a:avLst/>
          </a:prstGeom>
        </p:spPr>
        <p:txBody>
          <a:bodyPr lIns="0" tIns="0" rIns="0" bIns="0" rtlCol="0" anchor="t">
            <a:spAutoFit/>
          </a:bodyPr>
          <a:lstStyle/>
          <a:p>
            <a:pPr algn="ctr">
              <a:lnSpc>
                <a:spcPts val="3205"/>
              </a:lnSpc>
              <a:spcBef>
                <a:spcPct val="0"/>
              </a:spcBef>
            </a:pPr>
            <a:r>
              <a:rPr lang="en-US" sz="2289">
                <a:solidFill>
                  <a:srgbClr val="2D5986"/>
                </a:solidFill>
                <a:latin typeface="Glacial Indifference"/>
                <a:ea typeface="Glacial Indifference"/>
                <a:cs typeface="Glacial Indifference"/>
                <a:sym typeface="Glacial Indifference"/>
              </a:rPr>
              <a:t>Ping mendapat balasan; Sguil mencatat</a:t>
            </a:r>
          </a:p>
          <a:p>
            <a:pPr algn="ctr">
              <a:lnSpc>
                <a:spcPts val="3205"/>
              </a:lnSpc>
              <a:spcBef>
                <a:spcPct val="0"/>
              </a:spcBef>
            </a:pPr>
            <a:r>
              <a:rPr lang="en-US" sz="2289">
                <a:solidFill>
                  <a:srgbClr val="2D5986"/>
                </a:solidFill>
                <a:latin typeface="Glacial Indifference"/>
                <a:ea typeface="Glacial Indifference"/>
                <a:cs typeface="Glacial Indifference"/>
                <a:sym typeface="Glacial Indifference"/>
              </a:rPr>
              <a:t>GPL ICMP_INFO PING *NIX dari .100 ke .5.</a:t>
            </a:r>
          </a:p>
        </p:txBody>
      </p:sp>
      <p:sp>
        <p:nvSpPr>
          <p:cNvPr id="12" name="TextBox 12"/>
          <p:cNvSpPr txBox="1"/>
          <p:nvPr/>
        </p:nvSpPr>
        <p:spPr>
          <a:xfrm>
            <a:off x="10687733" y="4314998"/>
            <a:ext cx="4211836" cy="490855"/>
          </a:xfrm>
          <a:prstGeom prst="rect">
            <a:avLst/>
          </a:prstGeom>
        </p:spPr>
        <p:txBody>
          <a:bodyPr lIns="0" tIns="0" rIns="0" bIns="0" rtlCol="0" anchor="t">
            <a:spAutoFit/>
          </a:bodyPr>
          <a:lstStyle/>
          <a:p>
            <a:pPr algn="ctr">
              <a:lnSpc>
                <a:spcPts val="3919"/>
              </a:lnSpc>
              <a:spcBef>
                <a:spcPct val="0"/>
              </a:spcBef>
            </a:pPr>
            <a:r>
              <a:rPr lang="en-US" sz="2799">
                <a:solidFill>
                  <a:srgbClr val="2D5986"/>
                </a:solidFill>
                <a:latin typeface="Glacial Indifference"/>
                <a:ea typeface="Glacial Indifference"/>
                <a:cs typeface="Glacial Indifference"/>
                <a:sym typeface="Glacial Indifference"/>
              </a:rPr>
              <a:t>HTTP :80 / PEMBACAAN API</a:t>
            </a:r>
          </a:p>
        </p:txBody>
      </p:sp>
      <p:sp>
        <p:nvSpPr>
          <p:cNvPr id="13" name="TextBox 13"/>
          <p:cNvSpPr txBox="1"/>
          <p:nvPr/>
        </p:nvSpPr>
        <p:spPr>
          <a:xfrm>
            <a:off x="10331031" y="5077739"/>
            <a:ext cx="4925239" cy="694727"/>
          </a:xfrm>
          <a:prstGeom prst="rect">
            <a:avLst/>
          </a:prstGeom>
        </p:spPr>
        <p:txBody>
          <a:bodyPr lIns="0" tIns="0" rIns="0" bIns="0" rtlCol="0" anchor="t">
            <a:spAutoFit/>
          </a:bodyPr>
          <a:lstStyle/>
          <a:p>
            <a:pPr algn="ctr">
              <a:lnSpc>
                <a:spcPts val="2758"/>
              </a:lnSpc>
              <a:spcBef>
                <a:spcPct val="0"/>
              </a:spcBef>
            </a:pPr>
            <a:r>
              <a:rPr lang="en-US" sz="1970">
                <a:solidFill>
                  <a:srgbClr val="2D5986"/>
                </a:solidFill>
                <a:latin typeface="Glacial Indifference"/>
                <a:ea typeface="Glacial Indifference"/>
                <a:cs typeface="Glacial Indifference"/>
                <a:sym typeface="Glacial Indifference"/>
              </a:rPr>
              <a:t>GET /api/sensor dan /api/history → 200 OK.</a:t>
            </a:r>
          </a:p>
          <a:p>
            <a:pPr algn="ctr">
              <a:lnSpc>
                <a:spcPts val="2758"/>
              </a:lnSpc>
              <a:spcBef>
                <a:spcPct val="0"/>
              </a:spcBef>
            </a:pPr>
            <a:r>
              <a:rPr lang="en-US" sz="1970">
                <a:solidFill>
                  <a:srgbClr val="2D5986"/>
                </a:solidFill>
                <a:latin typeface="Glacial Indifference"/>
                <a:ea typeface="Glacial Indifference"/>
                <a:cs typeface="Glacial Indifference"/>
                <a:sym typeface="Glacial Indifference"/>
              </a:rPr>
              <a:t>Event kebijakan curl terlihat pada Sguil.</a:t>
            </a:r>
          </a:p>
        </p:txBody>
      </p:sp>
      <p:sp>
        <p:nvSpPr>
          <p:cNvPr id="14" name="TextBox 14"/>
          <p:cNvSpPr txBox="1"/>
          <p:nvPr/>
        </p:nvSpPr>
        <p:spPr>
          <a:xfrm>
            <a:off x="1864248" y="1089788"/>
            <a:ext cx="7033915" cy="961838"/>
          </a:xfrm>
          <a:prstGeom prst="rect">
            <a:avLst/>
          </a:prstGeom>
        </p:spPr>
        <p:txBody>
          <a:bodyPr lIns="0" tIns="0" rIns="0" bIns="0" rtlCol="0" anchor="t">
            <a:spAutoFit/>
          </a:bodyPr>
          <a:lstStyle/>
          <a:p>
            <a:pPr algn="l">
              <a:lnSpc>
                <a:spcPts val="3816"/>
              </a:lnSpc>
            </a:pPr>
            <a:r>
              <a:rPr lang="en-US" sz="2725">
                <a:solidFill>
                  <a:srgbClr val="2D5986"/>
                </a:solidFill>
                <a:latin typeface="Glacial Indifference"/>
                <a:ea typeface="Glacial Indifference"/>
                <a:cs typeface="Glacial Indifference"/>
                <a:sym typeface="Glacial Indifference"/>
              </a:rPr>
              <a:t>KELOMPOK 10 KEAMANAN SIBER</a:t>
            </a:r>
          </a:p>
          <a:p>
            <a:pPr algn="l">
              <a:lnSpc>
                <a:spcPts val="3816"/>
              </a:lnSpc>
              <a:spcBef>
                <a:spcPct val="0"/>
              </a:spcBef>
            </a:pPr>
            <a:endParaRPr lang="en-US" sz="2725">
              <a:solidFill>
                <a:srgbClr val="2D5986"/>
              </a:solidFill>
              <a:latin typeface="Glacial Indifference"/>
              <a:ea typeface="Glacial Indifference"/>
              <a:cs typeface="Glacial Indifference"/>
              <a:sym typeface="Glacial Indifference"/>
            </a:endParaRPr>
          </a:p>
        </p:txBody>
      </p:sp>
    </p:spTree>
  </p:cSld>
  <p:clrMapOvr>
    <a:masterClrMapping/>
  </p:clrMapOvr>
  <mc:AlternateContent xmlns:mc="http://schemas.openxmlformats.org/markup-compatibility/2006">
    <mc:Choice xmlns:p14="http://schemas.microsoft.com/office/powerpoint/2010/main" Requires="p14">
      <p:transition spd="med" p14:dur="650">
        <p:fade thruBlk="1"/>
      </p:transition>
    </mc:Choice>
    <mc:Fallback>
      <p:transition spd="med">
        <p:fade thruBlk="1"/>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593500" cy="593500"/>
          </a:xfrm>
          <a:custGeom>
            <a:avLst/>
            <a:gdLst/>
            <a:ahLst/>
            <a:cxnLst/>
            <a:rect l="l" t="t" r="r" b="b"/>
            <a:pathLst>
              <a:path w="593500" h="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862981" y="2888219"/>
            <a:ext cx="5053762" cy="5053762"/>
          </a:xfrm>
          <a:custGeom>
            <a:avLst/>
            <a:gdLst/>
            <a:ahLst/>
            <a:cxnLst/>
            <a:rect l="l" t="t" r="r" b="b"/>
            <a:pathLst>
              <a:path w="5053762" h="5053762">
                <a:moveTo>
                  <a:pt x="0" y="0"/>
                </a:moveTo>
                <a:lnTo>
                  <a:pt x="5053761" y="0"/>
                </a:lnTo>
                <a:lnTo>
                  <a:pt x="5053761" y="5053762"/>
                </a:lnTo>
                <a:lnTo>
                  <a:pt x="0" y="50537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3716057"/>
            <a:ext cx="10649923" cy="4714881"/>
          </a:xfrm>
          <a:prstGeom prst="rect">
            <a:avLst/>
          </a:prstGeom>
        </p:spPr>
        <p:txBody>
          <a:bodyPr lIns="0" tIns="0" rIns="0" bIns="0" rtlCol="0" anchor="t">
            <a:spAutoFit/>
          </a:bodyPr>
          <a:lstStyle/>
          <a:p>
            <a:pPr algn="l">
              <a:lnSpc>
                <a:spcPts val="12599"/>
              </a:lnSpc>
              <a:spcBef>
                <a:spcPct val="0"/>
              </a:spcBef>
            </a:pPr>
            <a:r>
              <a:rPr lang="en-US" sz="8999">
                <a:solidFill>
                  <a:srgbClr val="2D5986"/>
                </a:solidFill>
                <a:latin typeface="Anton"/>
                <a:ea typeface="Anton"/>
                <a:cs typeface="Anton"/>
                <a:sym typeface="Anton"/>
              </a:rPr>
              <a:t>Live Demo Singkat: Security Onion</a:t>
            </a:r>
          </a:p>
          <a:p>
            <a:pPr algn="l">
              <a:lnSpc>
                <a:spcPts val="12599"/>
              </a:lnSpc>
              <a:spcBef>
                <a:spcPct val="0"/>
              </a:spcBef>
            </a:pPr>
            <a:endParaRPr lang="en-US" sz="8999">
              <a:solidFill>
                <a:srgbClr val="2D5986"/>
              </a:solidFill>
              <a:latin typeface="Anton"/>
              <a:ea typeface="Anton"/>
              <a:cs typeface="Anton"/>
              <a:sym typeface="Anton"/>
            </a:endParaRPr>
          </a:p>
        </p:txBody>
      </p:sp>
      <p:sp>
        <p:nvSpPr>
          <p:cNvPr id="5" name="TextBox 5"/>
          <p:cNvSpPr txBox="1"/>
          <p:nvPr/>
        </p:nvSpPr>
        <p:spPr>
          <a:xfrm>
            <a:off x="1864248" y="1089788"/>
            <a:ext cx="7033915" cy="961838"/>
          </a:xfrm>
          <a:prstGeom prst="rect">
            <a:avLst/>
          </a:prstGeom>
        </p:spPr>
        <p:txBody>
          <a:bodyPr lIns="0" tIns="0" rIns="0" bIns="0" rtlCol="0" anchor="t">
            <a:spAutoFit/>
          </a:bodyPr>
          <a:lstStyle/>
          <a:p>
            <a:pPr algn="l">
              <a:lnSpc>
                <a:spcPts val="3816"/>
              </a:lnSpc>
            </a:pPr>
            <a:r>
              <a:rPr lang="en-US" sz="2725">
                <a:solidFill>
                  <a:srgbClr val="2D5986"/>
                </a:solidFill>
                <a:latin typeface="Glacial Indifference"/>
                <a:ea typeface="Glacial Indifference"/>
                <a:cs typeface="Glacial Indifference"/>
                <a:sym typeface="Glacial Indifference"/>
              </a:rPr>
              <a:t>KELOMPOK 10 KEAMANAN SIBER</a:t>
            </a:r>
          </a:p>
          <a:p>
            <a:pPr algn="l">
              <a:lnSpc>
                <a:spcPts val="3816"/>
              </a:lnSpc>
              <a:spcBef>
                <a:spcPct val="0"/>
              </a:spcBef>
            </a:pPr>
            <a:endParaRPr lang="en-US" sz="2725">
              <a:solidFill>
                <a:srgbClr val="2D5986"/>
              </a:solidFill>
              <a:latin typeface="Glacial Indifference"/>
              <a:ea typeface="Glacial Indifference"/>
              <a:cs typeface="Glacial Indifference"/>
              <a:sym typeface="Glacial Indifference"/>
            </a:endParaRPr>
          </a:p>
        </p:txBody>
      </p:sp>
    </p:spTree>
  </p:cSld>
  <p:clrMapOvr>
    <a:masterClrMapping/>
  </p:clrMapOvr>
  <mc:AlternateContent xmlns:mc="http://schemas.openxmlformats.org/markup-compatibility/2006">
    <mc:Choice xmlns:p14="http://schemas.microsoft.com/office/powerpoint/2010/main" Requires="p14">
      <p:transition spd="med" p14:dur="650">
        <p:fade thruBlk="1"/>
      </p:transition>
    </mc:Choice>
    <mc:Fallback>
      <p:transition spd="med">
        <p:fade thruBlk="1"/>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593500" cy="593500"/>
          </a:xfrm>
          <a:custGeom>
            <a:avLst/>
            <a:gdLst/>
            <a:ahLst/>
            <a:cxnLst/>
            <a:rect l="l" t="t" r="r" b="b"/>
            <a:pathLst>
              <a:path w="593500" h="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graphicFrame>
        <p:nvGraphicFramePr>
          <p:cNvPr id="3" name="Table 3"/>
          <p:cNvGraphicFramePr>
            <a:graphicFrameLocks noGrp="1"/>
          </p:cNvGraphicFramePr>
          <p:nvPr/>
        </p:nvGraphicFramePr>
        <p:xfrm>
          <a:off x="1028700" y="3337560"/>
          <a:ext cx="15781611" cy="5257800"/>
        </p:xfrm>
        <a:graphic>
          <a:graphicData uri="http://schemas.openxmlformats.org/drawingml/2006/table">
            <a:tbl>
              <a:tblPr/>
              <a:tblGrid>
                <a:gridCol w="1153727">
                  <a:extLst>
                    <a:ext uri="{9D8B030D-6E8A-4147-A177-3AD203B41FA5}">
                      <a16:colId xmlns:a16="http://schemas.microsoft.com/office/drawing/2014/main" val="20000"/>
                    </a:ext>
                  </a:extLst>
                </a:gridCol>
                <a:gridCol w="2570797">
                  <a:extLst>
                    <a:ext uri="{9D8B030D-6E8A-4147-A177-3AD203B41FA5}">
                      <a16:colId xmlns:a16="http://schemas.microsoft.com/office/drawing/2014/main" val="20001"/>
                    </a:ext>
                  </a:extLst>
                </a:gridCol>
                <a:gridCol w="4166281">
                  <a:extLst>
                    <a:ext uri="{9D8B030D-6E8A-4147-A177-3AD203B41FA5}">
                      <a16:colId xmlns:a16="http://schemas.microsoft.com/office/drawing/2014/main" val="20002"/>
                    </a:ext>
                  </a:extLst>
                </a:gridCol>
                <a:gridCol w="3068218">
                  <a:extLst>
                    <a:ext uri="{9D8B030D-6E8A-4147-A177-3AD203B41FA5}">
                      <a16:colId xmlns:a16="http://schemas.microsoft.com/office/drawing/2014/main" val="20003"/>
                    </a:ext>
                  </a:extLst>
                </a:gridCol>
                <a:gridCol w="4822588">
                  <a:extLst>
                    <a:ext uri="{9D8B030D-6E8A-4147-A177-3AD203B41FA5}">
                      <a16:colId xmlns:a16="http://schemas.microsoft.com/office/drawing/2014/main" val="20004"/>
                    </a:ext>
                  </a:extLst>
                </a:gridCol>
              </a:tblGrid>
              <a:tr h="594360">
                <a:tc>
                  <a:txBody>
                    <a:bodyPr/>
                    <a:lstStyle/>
                    <a:p>
                      <a:pPr algn="l">
                        <a:lnSpc>
                          <a:spcPts val="2758"/>
                        </a:lnSpc>
                        <a:spcBef>
                          <a:spcPts val="0"/>
                        </a:spcBef>
                        <a:spcAft>
                          <a:spcPts val="0"/>
                        </a:spcAft>
                        <a:defRPr/>
                      </a:pPr>
                      <a:r>
                        <a:rPr lang="en-US" sz="1700" b="1">
                          <a:solidFill>
                            <a:srgbClr val="FFFFFF"/>
                          </a:solidFill>
                          <a:latin typeface="Glacial Indifference Bold"/>
                          <a:ea typeface="Glacial Indifference Bold"/>
                          <a:cs typeface="Glacial Indifference Bold"/>
                          <a:sym typeface="Glacial Indifference Bold"/>
                        </a:rPr>
                        <a:t>ID</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B5745"/>
                    </a:solidFill>
                  </a:tcPr>
                </a:tc>
                <a:tc>
                  <a:txBody>
                    <a:bodyPr/>
                    <a:lstStyle/>
                    <a:p>
                      <a:pPr algn="l">
                        <a:lnSpc>
                          <a:spcPts val="2758"/>
                        </a:lnSpc>
                        <a:spcBef>
                          <a:spcPts val="0"/>
                        </a:spcBef>
                        <a:spcAft>
                          <a:spcPts val="0"/>
                        </a:spcAft>
                        <a:defRPr/>
                      </a:pPr>
                      <a:r>
                        <a:rPr lang="en-US" sz="1700" b="1">
                          <a:solidFill>
                            <a:srgbClr val="FFFFFF"/>
                          </a:solidFill>
                          <a:latin typeface="Glacial Indifference Bold"/>
                          <a:ea typeface="Glacial Indifference Bold"/>
                          <a:cs typeface="Glacial Indifference Bold"/>
                          <a:sym typeface="Glacial Indifference Bold"/>
                        </a:rPr>
                        <a:t>Kategori</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B5745"/>
                    </a:solidFill>
                  </a:tcPr>
                </a:tc>
                <a:tc>
                  <a:txBody>
                    <a:bodyPr/>
                    <a:lstStyle/>
                    <a:p>
                      <a:pPr algn="l">
                        <a:lnSpc>
                          <a:spcPts val="2758"/>
                        </a:lnSpc>
                        <a:spcBef>
                          <a:spcPts val="0"/>
                        </a:spcBef>
                        <a:spcAft>
                          <a:spcPts val="0"/>
                        </a:spcAft>
                        <a:defRPr/>
                      </a:pPr>
                      <a:r>
                        <a:rPr lang="en-US" sz="1700" b="1">
                          <a:solidFill>
                            <a:srgbClr val="FFFFFF"/>
                          </a:solidFill>
                          <a:latin typeface="Glacial Indifference Bold"/>
                          <a:ea typeface="Glacial Indifference Bold"/>
                          <a:cs typeface="Glacial Indifference Bold"/>
                          <a:sym typeface="Glacial Indifference Bold"/>
                        </a:rPr>
                        <a:t>Teknik &amp; Tools</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B5745"/>
                    </a:solidFill>
                  </a:tcPr>
                </a:tc>
                <a:tc>
                  <a:txBody>
                    <a:bodyPr/>
                    <a:lstStyle/>
                    <a:p>
                      <a:pPr algn="l">
                        <a:lnSpc>
                          <a:spcPts val="2758"/>
                        </a:lnSpc>
                        <a:spcBef>
                          <a:spcPts val="0"/>
                        </a:spcBef>
                        <a:spcAft>
                          <a:spcPts val="0"/>
                        </a:spcAft>
                        <a:defRPr/>
                      </a:pPr>
                      <a:r>
                        <a:rPr lang="en-US" sz="1700" b="1">
                          <a:solidFill>
                            <a:srgbClr val="FFFFFF"/>
                          </a:solidFill>
                          <a:latin typeface="Glacial Indifference Bold"/>
                          <a:ea typeface="Glacial Indifference Bold"/>
                          <a:cs typeface="Glacial Indifference Bold"/>
                          <a:sym typeface="Glacial Indifference Bold"/>
                        </a:rPr>
                        <a:t>Hasil Yang Diharapkan</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B5745"/>
                    </a:solidFill>
                  </a:tcPr>
                </a:tc>
                <a:tc>
                  <a:txBody>
                    <a:bodyPr/>
                    <a:lstStyle/>
                    <a:p>
                      <a:pPr algn="l">
                        <a:lnSpc>
                          <a:spcPts val="2758"/>
                        </a:lnSpc>
                        <a:spcBef>
                          <a:spcPts val="0"/>
                        </a:spcBef>
                        <a:spcAft>
                          <a:spcPts val="0"/>
                        </a:spcAft>
                        <a:defRPr/>
                      </a:pPr>
                      <a:r>
                        <a:rPr lang="en-US" sz="1700" b="1">
                          <a:solidFill>
                            <a:srgbClr val="FFFFFF"/>
                          </a:solidFill>
                          <a:latin typeface="Glacial Indifference Bold"/>
                          <a:ea typeface="Glacial Indifference Bold"/>
                          <a:cs typeface="Glacial Indifference Bold"/>
                          <a:sym typeface="Glacial Indifference Bold"/>
                        </a:rPr>
                        <a:t>Target</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B5745"/>
                    </a:solidFill>
                  </a:tcPr>
                </a:tc>
                <a:extLst>
                  <a:ext uri="{0D108BD9-81ED-4DB2-BD59-A6C34878D82A}">
                    <a16:rowId xmlns:a16="http://schemas.microsoft.com/office/drawing/2014/main" val="10000"/>
                  </a:ext>
                </a:extLst>
              </a:tr>
              <a:tr h="1554480">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RT-01</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Reconnaissance</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Pemindaian port &amp; layanan (Nmap); cek header HTTP (curl)</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SSH/HTTP tetap akses sesuai izin; DB tak terjangkau jaringan; versi Nginx tersembunyi</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TCP 22, 80, dan 9000 pada 192.168.10.5</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54480">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RT-02</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Exploitation/Akses</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Percobaan autentikasi SSH gagal terbatas (OpenSSH client)</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Fail2ban blokir IP setelah ambang gagal tercapai; koneksi baru ditolak</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Akun uji iotuser pada SSH port 22</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54480">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RT-03</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Web/API/Protokol IoT</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Percobaan manipulasi data via metode PATCH (curl)</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GET 200; PATCH ditolak Nginx 403; data sensor tidak berubah</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58"/>
                        </a:lnSpc>
                        <a:spcBef>
                          <a:spcPts val="0"/>
                        </a:spcBef>
                        <a:spcAft>
                          <a:spcPts val="0"/>
                        </a:spcAft>
                        <a:defRPr/>
                      </a:pPr>
                      <a:r>
                        <a:rPr lang="en-US" sz="1700">
                          <a:solidFill>
                            <a:srgbClr val="000000"/>
                          </a:solidFill>
                          <a:latin typeface="Glacial Indifference"/>
                          <a:ea typeface="Glacial Indifference"/>
                          <a:cs typeface="Glacial Indifference"/>
                          <a:sym typeface="Glacial Indifference"/>
                        </a:rPr>
                        <a:t>Endpoint http://192.168.10.5/api/sensor</a:t>
                      </a:r>
                      <a:endParaRPr lang="en-US" sz="1100"/>
                    </a:p>
                  </a:txBody>
                  <a:tcPr marL="109728" marR="109728" marT="91440" marB="914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Box 4"/>
          <p:cNvSpPr txBox="1"/>
          <p:nvPr/>
        </p:nvSpPr>
        <p:spPr>
          <a:xfrm>
            <a:off x="1738798" y="1046685"/>
            <a:ext cx="5181020" cy="490855"/>
          </a:xfrm>
          <a:prstGeom prst="rect">
            <a:avLst/>
          </a:prstGeom>
        </p:spPr>
        <p:txBody>
          <a:bodyPr lIns="0" tIns="0" rIns="0" bIns="0" rtlCol="0" anchor="t">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KELOMPOK 10 KEAMANAN SIBER</a:t>
            </a:r>
          </a:p>
        </p:txBody>
      </p:sp>
      <p:sp>
        <p:nvSpPr>
          <p:cNvPr id="5" name="TextBox 5"/>
          <p:cNvSpPr txBox="1"/>
          <p:nvPr/>
        </p:nvSpPr>
        <p:spPr>
          <a:xfrm>
            <a:off x="1024128" y="1806328"/>
            <a:ext cx="14630400" cy="1193796"/>
          </a:xfrm>
          <a:prstGeom prst="rect">
            <a:avLst/>
          </a:prstGeom>
        </p:spPr>
        <p:txBody>
          <a:bodyPr lIns="0" tIns="0" rIns="0" bIns="0" rtlCol="0" anchor="t">
            <a:spAutoFit/>
          </a:bodyPr>
          <a:lstStyle/>
          <a:p>
            <a:pPr algn="l">
              <a:lnSpc>
                <a:spcPts val="9800"/>
              </a:lnSpc>
              <a:spcBef>
                <a:spcPct val="0"/>
              </a:spcBef>
            </a:pPr>
            <a:r>
              <a:rPr lang="en-US" sz="7000">
                <a:solidFill>
                  <a:srgbClr val="2D5986"/>
                </a:solidFill>
                <a:latin typeface="Anton"/>
                <a:ea typeface="Anton"/>
                <a:cs typeface="Anton"/>
                <a:sym typeface="Anton"/>
              </a:rPr>
              <a:t>Attack Plan Fase 2</a:t>
            </a:r>
          </a:p>
        </p:txBody>
      </p:sp>
      <p:sp>
        <p:nvSpPr>
          <p:cNvPr id="6" name="TextBox 6"/>
          <p:cNvSpPr txBox="1"/>
          <p:nvPr/>
        </p:nvSpPr>
        <p:spPr>
          <a:xfrm>
            <a:off x="1028700" y="9006840"/>
            <a:ext cx="15781611" cy="731520"/>
          </a:xfrm>
          <a:prstGeom prst="rect">
            <a:avLst/>
          </a:prstGeom>
        </p:spPr>
        <p:txBody>
          <a:bodyPr lIns="0" tIns="0" rIns="0" bIns="0" rtlCol="0" anchor="t">
            <a:spAutoFit/>
          </a:bodyPr>
          <a:lstStyle/>
          <a:p>
            <a:pPr algn="l">
              <a:lnSpc>
                <a:spcPts val="3919"/>
              </a:lnSpc>
              <a:spcBef>
                <a:spcPct val="0"/>
              </a:spcBef>
            </a:pPr>
            <a:r>
              <a:rPr lang="en-US" sz="1600">
                <a:solidFill>
                  <a:srgbClr val="2D5986"/>
                </a:solidFill>
                <a:latin typeface="Glacial Indifference"/>
                <a:ea typeface="Glacial Indifference"/>
                <a:cs typeface="Glacial Indifference"/>
                <a:sym typeface="Glacial Indifference"/>
              </a:rPr>
              <a:t>Purple Team Loop: serang → deteksi → analisis → mitigasi → verifikasi ulang · Host-Only, data dummy, tanpa produksi</a:t>
            </a:r>
          </a:p>
        </p:txBody>
      </p:sp>
    </p:spTree>
  </p:cSld>
  <p:clrMapOvr>
    <a:masterClrMapping/>
  </p:clrMapOvr>
  <mc:AlternateContent xmlns:mc="http://schemas.openxmlformats.org/markup-compatibility/2006">
    <mc:Choice xmlns:p14="http://schemas.microsoft.com/office/powerpoint/2010/main" Requires="p14">
      <p:transition spd="med" p14:dur="650">
        <p:fade thruBlk="1"/>
      </p:transition>
    </mc:Choice>
    <mc:Fallback>
      <p:transition spd="med">
        <p:fade thruBlk="1"/>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593500" cy="593500"/>
          </a:xfrm>
          <a:custGeom>
            <a:avLst/>
            <a:gdLst/>
            <a:ahLst/>
            <a:cxnLst/>
            <a:rect l="l" t="t" r="r" b="b"/>
            <a:pathLst>
              <a:path w="593500" h="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aphicFrame>
        <p:nvGraphicFramePr>
          <p:cNvPr id="3" name="Table 3"/>
          <p:cNvGraphicFramePr>
            <a:graphicFrameLocks noGrp="1"/>
          </p:cNvGraphicFramePr>
          <p:nvPr/>
        </p:nvGraphicFramePr>
        <p:xfrm>
          <a:off x="1028700" y="3414427"/>
          <a:ext cx="16230600" cy="5825337"/>
        </p:xfrm>
        <a:graphic>
          <a:graphicData uri="http://schemas.openxmlformats.org/drawingml/2006/table">
            <a:tbl>
              <a:tblPr/>
              <a:tblGrid>
                <a:gridCol w="7633480">
                  <a:extLst>
                    <a:ext uri="{9D8B030D-6E8A-4147-A177-3AD203B41FA5}">
                      <a16:colId xmlns:a16="http://schemas.microsoft.com/office/drawing/2014/main" val="20000"/>
                    </a:ext>
                  </a:extLst>
                </a:gridCol>
                <a:gridCol w="8597120">
                  <a:extLst>
                    <a:ext uri="{9D8B030D-6E8A-4147-A177-3AD203B41FA5}">
                      <a16:colId xmlns:a16="http://schemas.microsoft.com/office/drawing/2014/main" val="20001"/>
                    </a:ext>
                  </a:extLst>
                </a:gridCol>
              </a:tblGrid>
              <a:tr h="1031483">
                <a:tc>
                  <a:txBody>
                    <a:bodyPr/>
                    <a:lstStyle/>
                    <a:p>
                      <a:pPr algn="ctr">
                        <a:lnSpc>
                          <a:spcPts val="3127"/>
                        </a:lnSpc>
                        <a:defRPr/>
                      </a:pPr>
                      <a:r>
                        <a:rPr lang="en-US" sz="2233" b="1">
                          <a:solidFill>
                            <a:srgbClr val="FFFFFF"/>
                          </a:solidFill>
                          <a:latin typeface="Glacial Indifference Bold"/>
                          <a:ea typeface="Glacial Indifference Bold"/>
                          <a:cs typeface="Glacial Indifference Bold"/>
                          <a:sym typeface="Glacial Indifference Bold"/>
                        </a:rPr>
                        <a:t>KENDALA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25F6D"/>
                    </a:solidFill>
                  </a:tcPr>
                </a:tc>
                <a:tc>
                  <a:txBody>
                    <a:bodyPr/>
                    <a:lstStyle/>
                    <a:p>
                      <a:pPr algn="ctr">
                        <a:lnSpc>
                          <a:spcPts val="3127"/>
                        </a:lnSpc>
                        <a:defRPr/>
                      </a:pPr>
                      <a:r>
                        <a:rPr lang="en-US" sz="2233" b="1">
                          <a:solidFill>
                            <a:srgbClr val="FFFFFF"/>
                          </a:solidFill>
                          <a:latin typeface="Glacial Indifference Bold"/>
                          <a:ea typeface="Glacial Indifference Bold"/>
                          <a:cs typeface="Glacial Indifference Bold"/>
                          <a:sym typeface="Glacial Indifference Bold"/>
                        </a:rPr>
                        <a:t>SOLUSI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25F6D"/>
                    </a:solidFill>
                  </a:tcPr>
                </a:tc>
                <a:extLst>
                  <a:ext uri="{0D108BD9-81ED-4DB2-BD59-A6C34878D82A}">
                    <a16:rowId xmlns:a16="http://schemas.microsoft.com/office/drawing/2014/main" val="10000"/>
                  </a:ext>
                </a:extLst>
              </a:tr>
              <a:tr h="2396927">
                <a:tc>
                  <a:txBody>
                    <a:bodyPr/>
                    <a:lstStyle/>
                    <a:p>
                      <a:pPr algn="just">
                        <a:lnSpc>
                          <a:spcPts val="3127"/>
                        </a:lnSpc>
                        <a:defRPr/>
                      </a:pPr>
                      <a:r>
                        <a:rPr lang="en-US" sz="2233" b="1">
                          <a:solidFill>
                            <a:srgbClr val="000000"/>
                          </a:solidFill>
                          <a:latin typeface="Glacial Indifference Bold"/>
                          <a:ea typeface="Glacial Indifference Bold"/>
                          <a:cs typeface="Glacial Indifference Bold"/>
                          <a:sym typeface="Glacial Indifference Bold"/>
                        </a:rPr>
                        <a:t>Minimnya Referensi Teknis</a:t>
                      </a:r>
                      <a:endParaRPr lang="en-US" sz="1100"/>
                    </a:p>
                    <a:p>
                      <a:pPr algn="just">
                        <a:lnSpc>
                          <a:spcPts val="3127"/>
                        </a:lnSpc>
                      </a:pPr>
                      <a:r>
                        <a:rPr lang="en-US" sz="2233">
                          <a:solidFill>
                            <a:srgbClr val="000000"/>
                          </a:solidFill>
                          <a:latin typeface="Glacial Indifference"/>
                          <a:ea typeface="Glacial Indifference"/>
                          <a:cs typeface="Glacial Indifference"/>
                          <a:sym typeface="Glacial Indifference"/>
                        </a:rPr>
                        <a:t>Informasi praktis tentang cara hardening (konfigurasi Fail2ban, UFW, pembatasan akses database) maupun teknik Red Team yang relevan dengan stack IoT replika masih terbatas dan tersebar di banyak sumber.</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3127"/>
                        </a:lnSpc>
                        <a:defRPr/>
                      </a:pPr>
                      <a:r>
                        <a:rPr lang="en-US" sz="2233">
                          <a:solidFill>
                            <a:srgbClr val="000000"/>
                          </a:solidFill>
                          <a:latin typeface="Glacial Indifference"/>
                          <a:ea typeface="Glacial Indifference"/>
                          <a:cs typeface="Glacial Indifference"/>
                          <a:sym typeface="Glacial Indifference"/>
                        </a:rPr>
                        <a:t>Merujuk dokumentasi resmi tiap tool (Nmap, OpenSSH, Fail2ban, Nginx) serta referensi best-practice (CIS Benchmark, OWASP IoT Top 10), lalu diuji coba bertahap di replika sebelum didokumentasikan ke checklist hardening.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96927">
                <a:tc>
                  <a:txBody>
                    <a:bodyPr/>
                    <a:lstStyle/>
                    <a:p>
                      <a:pPr algn="just">
                        <a:lnSpc>
                          <a:spcPts val="3127"/>
                        </a:lnSpc>
                        <a:defRPr/>
                      </a:pPr>
                      <a:r>
                        <a:rPr lang="en-US" sz="2233" b="1">
                          <a:solidFill>
                            <a:srgbClr val="000000"/>
                          </a:solidFill>
                          <a:latin typeface="Glacial Indifference Bold"/>
                          <a:ea typeface="Glacial Indifference Bold"/>
                          <a:cs typeface="Glacial Indifference Bold"/>
                          <a:sym typeface="Glacial Indifference Bold"/>
                        </a:rPr>
                        <a:t>Keterbatasan VM Lokal</a:t>
                      </a:r>
                      <a:endParaRPr lang="en-US" sz="1100"/>
                    </a:p>
                    <a:p>
                      <a:pPr algn="just">
                        <a:lnSpc>
                          <a:spcPts val="3127"/>
                        </a:lnSpc>
                      </a:pPr>
                      <a:r>
                        <a:rPr lang="en-US" sz="2233">
                          <a:solidFill>
                            <a:srgbClr val="000000"/>
                          </a:solidFill>
                          <a:latin typeface="Glacial Indifference"/>
                          <a:ea typeface="Glacial Indifference"/>
                          <a:cs typeface="Glacial Indifference"/>
                          <a:sym typeface="Glacial Indifference"/>
                        </a:rPr>
                        <a:t>Seluruh node (Attacker, Target, Monitoring) dijalankan sebagai VM lokal pada satu laptop, sehingga RAM/CPU terbatas dan Security Onion terasa berat saat dijalankan bersamaan dengan node lain.</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3127"/>
                        </a:lnSpc>
                        <a:defRPr/>
                      </a:pPr>
                      <a:r>
                        <a:rPr lang="en-US" sz="2233">
                          <a:solidFill>
                            <a:srgbClr val="000000"/>
                          </a:solidFill>
                          <a:latin typeface="Glacial Indifference"/>
                          <a:ea typeface="Glacial Indifference"/>
                          <a:cs typeface="Glacial Indifference"/>
                          <a:sym typeface="Glacial Indifference"/>
                        </a:rPr>
                        <a:t>Menjalankan VM secara bergantian sesuai kebutuhan pengujian, menonaktifkan modul Security Onion yang tidak krusial, dan membatasi durasi/jumlah percobaan tiap skenario agar lab tetap stabil.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Box 4"/>
          <p:cNvSpPr txBox="1"/>
          <p:nvPr/>
        </p:nvSpPr>
        <p:spPr>
          <a:xfrm>
            <a:off x="1028700" y="1972423"/>
            <a:ext cx="8331154" cy="1127756"/>
          </a:xfrm>
          <a:prstGeom prst="rect">
            <a:avLst/>
          </a:prstGeom>
        </p:spPr>
        <p:txBody>
          <a:bodyPr lIns="0" tIns="0" rIns="0" bIns="0" rtlCol="0" anchor="t">
            <a:spAutoFit/>
          </a:bodyPr>
          <a:lstStyle/>
          <a:p>
            <a:pPr algn="l">
              <a:lnSpc>
                <a:spcPts val="9240"/>
              </a:lnSpc>
              <a:spcBef>
                <a:spcPct val="0"/>
              </a:spcBef>
            </a:pPr>
            <a:r>
              <a:rPr lang="en-US" sz="6600">
                <a:solidFill>
                  <a:srgbClr val="2D5986"/>
                </a:solidFill>
                <a:latin typeface="Anton"/>
                <a:ea typeface="Anton"/>
                <a:cs typeface="Anton"/>
                <a:sym typeface="Anton"/>
              </a:rPr>
              <a:t>Kendala &amp; Pembelajaran</a:t>
            </a:r>
          </a:p>
        </p:txBody>
      </p:sp>
      <p:sp>
        <p:nvSpPr>
          <p:cNvPr id="5" name="TextBox 5"/>
          <p:cNvSpPr txBox="1"/>
          <p:nvPr/>
        </p:nvSpPr>
        <p:spPr>
          <a:xfrm>
            <a:off x="1738798" y="1046685"/>
            <a:ext cx="5179050" cy="490855"/>
          </a:xfrm>
          <a:prstGeom prst="rect">
            <a:avLst/>
          </a:prstGeom>
        </p:spPr>
        <p:txBody>
          <a:bodyPr lIns="0" tIns="0" rIns="0" bIns="0" rtlCol="0" anchor="t">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KELOMPOK 10 KEAMANAN SIBER</a:t>
            </a:r>
          </a:p>
        </p:txBody>
      </p:sp>
    </p:spTree>
  </p:cSld>
  <p:clrMapOvr>
    <a:masterClrMapping/>
  </p:clrMapOvr>
  <mc:AlternateContent xmlns:mc="http://schemas.openxmlformats.org/markup-compatibility/2006">
    <mc:Choice xmlns:p14="http://schemas.microsoft.com/office/powerpoint/2010/main" Requires="p14">
      <p:transition spd="med" p14:dur="650">
        <p:fade thruBlk="1"/>
      </p:transition>
    </mc:Choice>
    <mc:Fallback>
      <p:transition spd="med">
        <p:fade thruBlk="1"/>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966</Words>
  <Application>Microsoft Office PowerPoint</Application>
  <PresentationFormat>Custom</PresentationFormat>
  <Paragraphs>126</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Glacial Indifference</vt:lpstr>
      <vt:lpstr>Calibri</vt:lpstr>
      <vt:lpstr>Aptos</vt:lpstr>
      <vt:lpstr>Anton</vt:lpstr>
      <vt:lpstr>Glacial Indifference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 MINGGU 9 PBL SIBER</dc:title>
  <cp:lastModifiedBy>Binggie Rashel</cp:lastModifiedBy>
  <cp:revision>2</cp:revision>
  <dcterms:created xsi:type="dcterms:W3CDTF">2006-08-16T00:00:00Z</dcterms:created>
  <dcterms:modified xsi:type="dcterms:W3CDTF">2026-10-26T02:22:55Z</dcterms:modified>
  <dc:identifier>DAHY0bdNVeA</dc:identifier>
</cp:coreProperties>
</file>